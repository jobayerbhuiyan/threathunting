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72" d="100"/>
          <a:sy n="172" d="100"/>
        </p:scale>
        <p:origin x="464"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iyan, Jobayer A" userId="c537c22d-720c-4cfb-817c-9edc3ac16a57" providerId="ADAL" clId="{4CA3B4E3-BB4D-556B-9674-56AC0DAB1221}"/>
    <pc:docChg chg="undo custSel modSld">
      <pc:chgData name="Bhuiyan, Jobayer A" userId="c537c22d-720c-4cfb-817c-9edc3ac16a57" providerId="ADAL" clId="{4CA3B4E3-BB4D-556B-9674-56AC0DAB1221}" dt="2026-04-10T04:48:13.714" v="9" actId="478"/>
      <pc:docMkLst>
        <pc:docMk/>
      </pc:docMkLst>
      <pc:sldChg chg="delSp modSp mod">
        <pc:chgData name="Bhuiyan, Jobayer A" userId="c537c22d-720c-4cfb-817c-9edc3ac16a57" providerId="ADAL" clId="{4CA3B4E3-BB4D-556B-9674-56AC0DAB1221}" dt="2026-04-10T04:48:13.714" v="9" actId="478"/>
        <pc:sldMkLst>
          <pc:docMk/>
          <pc:sldMk cId="0" sldId="274"/>
        </pc:sldMkLst>
        <pc:spChg chg="del">
          <ac:chgData name="Bhuiyan, Jobayer A" userId="c537c22d-720c-4cfb-817c-9edc3ac16a57" providerId="ADAL" clId="{4CA3B4E3-BB4D-556B-9674-56AC0DAB1221}" dt="2026-04-10T04:47:45.109" v="0" actId="478"/>
          <ac:spMkLst>
            <pc:docMk/>
            <pc:sldMk cId="0" sldId="274"/>
            <ac:spMk id="7" creationId="{00000000-0000-0000-0000-000000000000}"/>
          </ac:spMkLst>
        </pc:spChg>
        <pc:spChg chg="del">
          <ac:chgData name="Bhuiyan, Jobayer A" userId="c537c22d-720c-4cfb-817c-9edc3ac16a57" providerId="ADAL" clId="{4CA3B4E3-BB4D-556B-9674-56AC0DAB1221}" dt="2026-04-10T04:48:02.118" v="3" actId="478"/>
          <ac:spMkLst>
            <pc:docMk/>
            <pc:sldMk cId="0" sldId="274"/>
            <ac:spMk id="10" creationId="{00000000-0000-0000-0000-000000000000}"/>
          </ac:spMkLst>
        </pc:spChg>
        <pc:spChg chg="mod">
          <ac:chgData name="Bhuiyan, Jobayer A" userId="c537c22d-720c-4cfb-817c-9edc3ac16a57" providerId="ADAL" clId="{4CA3B4E3-BB4D-556B-9674-56AC0DAB1221}" dt="2026-04-10T04:47:50.017" v="2" actId="20577"/>
          <ac:spMkLst>
            <pc:docMk/>
            <pc:sldMk cId="0" sldId="274"/>
            <ac:spMk id="11" creationId="{00000000-0000-0000-0000-000000000000}"/>
          </ac:spMkLst>
        </pc:spChg>
        <pc:spChg chg="del">
          <ac:chgData name="Bhuiyan, Jobayer A" userId="c537c22d-720c-4cfb-817c-9edc3ac16a57" providerId="ADAL" clId="{4CA3B4E3-BB4D-556B-9674-56AC0DAB1221}" dt="2026-04-10T04:48:04.770" v="4" actId="478"/>
          <ac:spMkLst>
            <pc:docMk/>
            <pc:sldMk cId="0" sldId="274"/>
            <ac:spMk id="13" creationId="{00000000-0000-0000-0000-000000000000}"/>
          </ac:spMkLst>
        </pc:spChg>
        <pc:spChg chg="del">
          <ac:chgData name="Bhuiyan, Jobayer A" userId="c537c22d-720c-4cfb-817c-9edc3ac16a57" providerId="ADAL" clId="{4CA3B4E3-BB4D-556B-9674-56AC0DAB1221}" dt="2026-04-10T04:48:06.274" v="5" actId="478"/>
          <ac:spMkLst>
            <pc:docMk/>
            <pc:sldMk cId="0" sldId="274"/>
            <ac:spMk id="16" creationId="{00000000-0000-0000-0000-000000000000}"/>
          </ac:spMkLst>
        </pc:spChg>
        <pc:spChg chg="del">
          <ac:chgData name="Bhuiyan, Jobayer A" userId="c537c22d-720c-4cfb-817c-9edc3ac16a57" providerId="ADAL" clId="{4CA3B4E3-BB4D-556B-9674-56AC0DAB1221}" dt="2026-04-10T04:48:07.804" v="6" actId="478"/>
          <ac:spMkLst>
            <pc:docMk/>
            <pc:sldMk cId="0" sldId="274"/>
            <ac:spMk id="19" creationId="{00000000-0000-0000-0000-000000000000}"/>
          </ac:spMkLst>
        </pc:spChg>
        <pc:spChg chg="del">
          <ac:chgData name="Bhuiyan, Jobayer A" userId="c537c22d-720c-4cfb-817c-9edc3ac16a57" providerId="ADAL" clId="{4CA3B4E3-BB4D-556B-9674-56AC0DAB1221}" dt="2026-04-10T04:48:13.714" v="9" actId="478"/>
          <ac:spMkLst>
            <pc:docMk/>
            <pc:sldMk cId="0" sldId="274"/>
            <ac:spMk id="22" creationId="{00000000-0000-0000-0000-000000000000}"/>
          </ac:spMkLst>
        </pc:spChg>
        <pc:spChg chg="mod">
          <ac:chgData name="Bhuiyan, Jobayer A" userId="c537c22d-720c-4cfb-817c-9edc3ac16a57" providerId="ADAL" clId="{4CA3B4E3-BB4D-556B-9674-56AC0DAB1221}" dt="2026-04-10T04:48:10.706" v="8" actId="20577"/>
          <ac:spMkLst>
            <pc:docMk/>
            <pc:sldMk cId="0" sldId="274"/>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277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5042"/>
          </a:solidFill>
          <a:ln/>
        </p:spPr>
        <p:txBody>
          <a:bodyPr/>
          <a:lstStyle/>
          <a:p>
            <a:endParaRPr lang="en-US"/>
          </a:p>
        </p:txBody>
      </p:sp>
      <p:sp>
        <p:nvSpPr>
          <p:cNvPr id="3" name="Shape 1"/>
          <p:cNvSpPr/>
          <p:nvPr/>
        </p:nvSpPr>
        <p:spPr>
          <a:xfrm>
            <a:off x="0" y="4846320"/>
            <a:ext cx="9144000" cy="301752"/>
          </a:xfrm>
          <a:prstGeom prst="rect">
            <a:avLst/>
          </a:prstGeom>
          <a:solidFill>
            <a:srgbClr val="0F172A"/>
          </a:solidFill>
          <a:ln/>
        </p:spPr>
        <p:txBody>
          <a:bodyPr/>
          <a:lstStyle/>
          <a:p>
            <a:endParaRPr lang="en-US"/>
          </a:p>
        </p:txBody>
      </p:sp>
      <p:sp>
        <p:nvSpPr>
          <p:cNvPr id="4" name="Text 2"/>
          <p:cNvSpPr/>
          <p:nvPr/>
        </p:nvSpPr>
        <p:spPr>
          <a:xfrm>
            <a:off x="548640" y="914400"/>
            <a:ext cx="8046720" cy="457200"/>
          </a:xfrm>
          <a:prstGeom prst="rect">
            <a:avLst/>
          </a:prstGeom>
          <a:noFill/>
          <a:ln/>
        </p:spPr>
        <p:txBody>
          <a:bodyPr wrap="square" lIns="0" tIns="0" rIns="0" bIns="0" rtlCol="0" anchor="ctr"/>
          <a:lstStyle/>
          <a:p>
            <a:pPr marL="0" indent="0">
              <a:buNone/>
            </a:pPr>
            <a:r>
              <a:rPr lang="en-US" sz="1600" kern="0" spc="600" dirty="0">
                <a:solidFill>
                  <a:srgbClr val="0891B2"/>
                </a:solidFill>
                <a:latin typeface="Calibri" pitchFamily="34" charset="0"/>
                <a:ea typeface="Calibri" pitchFamily="34" charset="-122"/>
                <a:cs typeface="Calibri" pitchFamily="34" charset="-120"/>
              </a:rPr>
              <a:t>WEEK 11 INVESTIGATION</a:t>
            </a:r>
            <a:endParaRPr lang="en-US" sz="1600" dirty="0"/>
          </a:p>
        </p:txBody>
      </p:sp>
      <p:sp>
        <p:nvSpPr>
          <p:cNvPr id="5" name="Text 3"/>
          <p:cNvSpPr/>
          <p:nvPr/>
        </p:nvSpPr>
        <p:spPr>
          <a:xfrm>
            <a:off x="548640" y="1371600"/>
            <a:ext cx="8046720" cy="128016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TrickBot Trojan Infection</a:t>
            </a:r>
            <a:endParaRPr lang="en-US" sz="3600" dirty="0"/>
          </a:p>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via Disguised PDF Delivery</a:t>
            </a:r>
            <a:endParaRPr lang="en-US" sz="3600" dirty="0"/>
          </a:p>
        </p:txBody>
      </p:sp>
      <p:sp>
        <p:nvSpPr>
          <p:cNvPr id="6" name="Text 4"/>
          <p:cNvSpPr/>
          <p:nvPr/>
        </p:nvSpPr>
        <p:spPr>
          <a:xfrm>
            <a:off x="548640" y="2926080"/>
            <a:ext cx="8046720" cy="914400"/>
          </a:xfrm>
          <a:prstGeom prst="rect">
            <a:avLst/>
          </a:prstGeom>
          <a:noFill/>
          <a:ln/>
        </p:spPr>
        <p:txBody>
          <a:bodyPr wrap="square" lIns="0" tIns="0" rIns="0" bIns="0" rtlCol="0" anchor="ctr"/>
          <a:lstStyle/>
          <a:p>
            <a:pPr marL="0" indent="0">
              <a:lnSpc>
                <a:spcPct val="150000"/>
              </a:lnSpc>
              <a:buNone/>
            </a:pPr>
            <a:r>
              <a:rPr lang="en-US" sz="1300" dirty="0">
                <a:solidFill>
                  <a:srgbClr val="8899AA"/>
                </a:solidFill>
                <a:latin typeface="Calibri" pitchFamily="34" charset="0"/>
                <a:ea typeface="Calibri" pitchFamily="34" charset="-122"/>
                <a:cs typeface="Calibri" pitchFamily="34" charset="-120"/>
              </a:rPr>
              <a:t>Team Members: </a:t>
            </a:r>
            <a:r>
              <a:rPr lang="en-US" sz="1300" b="1" dirty="0">
                <a:solidFill>
                  <a:srgbClr val="FFFFFF"/>
                </a:solidFill>
                <a:latin typeface="Calibri" pitchFamily="34" charset="0"/>
                <a:ea typeface="Calibri" pitchFamily="34" charset="-122"/>
                <a:cs typeface="Calibri" pitchFamily="34" charset="-120"/>
              </a:rPr>
              <a:t>Jobayer &amp; Ari</a:t>
            </a:r>
            <a:endParaRPr lang="en-US" sz="1300" dirty="0"/>
          </a:p>
          <a:p>
            <a:pPr marL="0" indent="0">
              <a:lnSpc>
                <a:spcPct val="150000"/>
              </a:lnSpc>
              <a:buNone/>
            </a:pPr>
            <a:r>
              <a:rPr lang="en-US" sz="1300" dirty="0">
                <a:solidFill>
                  <a:srgbClr val="8899AA"/>
                </a:solidFill>
                <a:latin typeface="Calibri" pitchFamily="34" charset="0"/>
                <a:ea typeface="Calibri" pitchFamily="34" charset="-122"/>
                <a:cs typeface="Calibri" pitchFamily="34" charset="-120"/>
              </a:rPr>
              <a:t>Date: </a:t>
            </a:r>
            <a:endParaRPr lang="en-US" sz="1300" dirty="0"/>
          </a:p>
          <a:p>
            <a:pPr marL="0" indent="0">
              <a:lnSpc>
                <a:spcPct val="150000"/>
              </a:lnSpc>
              <a:buNone/>
            </a:pPr>
            <a:r>
              <a:rPr lang="en-US" sz="1300" b="1" dirty="0">
                <a:solidFill>
                  <a:srgbClr val="FFFFFF"/>
                </a:solidFill>
                <a:latin typeface="Calibri" pitchFamily="34" charset="0"/>
                <a:ea typeface="Calibri" pitchFamily="34" charset="-122"/>
                <a:cs typeface="Calibri" pitchFamily="34" charset="-120"/>
              </a:rPr>
              <a:t>04/09/2026</a:t>
            </a:r>
            <a:r>
              <a:rPr lang="en-US" sz="1300" dirty="0">
                <a:solidFill>
                  <a:srgbClr val="8899AA"/>
                </a:solidFill>
                <a:latin typeface="Calibri" pitchFamily="34" charset="0"/>
                <a:ea typeface="Calibri" pitchFamily="34" charset="-122"/>
                <a:cs typeface="Calibri" pitchFamily="34" charset="-120"/>
              </a:rPr>
              <a:t>  |  Course: </a:t>
            </a:r>
            <a:r>
              <a:rPr lang="en-US" sz="1300" b="1" dirty="0">
                <a:solidFill>
                  <a:srgbClr val="FFFFFF"/>
                </a:solidFill>
                <a:latin typeface="Calibri" pitchFamily="34" charset="0"/>
                <a:ea typeface="Calibri" pitchFamily="34" charset="-122"/>
                <a:cs typeface="Calibri" pitchFamily="34" charset="-120"/>
              </a:rPr>
              <a:t>Network Forensics</a:t>
            </a:r>
            <a:endParaRPr lang="en-US" sz="1300" dirty="0"/>
          </a:p>
          <a:p>
            <a:pPr marL="0" indent="0">
              <a:lnSpc>
                <a:spcPct val="150000"/>
              </a:lnSpc>
              <a:buNone/>
            </a:pPr>
            <a:r>
              <a:rPr lang="en-US" sz="1300" dirty="0">
                <a:solidFill>
                  <a:srgbClr val="8899AA"/>
                </a:solidFill>
                <a:latin typeface="Calibri" pitchFamily="34" charset="0"/>
                <a:ea typeface="Calibri" pitchFamily="34" charset="-122"/>
                <a:cs typeface="Calibri" pitchFamily="34" charset="-120"/>
              </a:rPr>
              <a:t>Assignment: </a:t>
            </a:r>
            <a:endParaRPr lang="en-US" sz="1300" dirty="0"/>
          </a:p>
          <a:p>
            <a:pPr marL="0" indent="0">
              <a:lnSpc>
                <a:spcPct val="150000"/>
              </a:lnSpc>
              <a:buNone/>
            </a:pPr>
            <a:r>
              <a:rPr lang="en-US" sz="1300" b="1" dirty="0">
                <a:solidFill>
                  <a:srgbClr val="FFFFFF"/>
                </a:solidFill>
                <a:latin typeface="Calibri" pitchFamily="34" charset="0"/>
                <a:ea typeface="Calibri" pitchFamily="34" charset="-122"/>
                <a:cs typeface="Calibri" pitchFamily="34" charset="-120"/>
              </a:rPr>
              <a:t>Team PCAP Analysis, Week 11</a:t>
            </a:r>
            <a:endParaRPr lang="en-US" sz="1300" dirty="0"/>
          </a:p>
        </p:txBody>
      </p:sp>
      <p:sp>
        <p:nvSpPr>
          <p:cNvPr id="7" name="Shape 5"/>
          <p:cNvSpPr/>
          <p:nvPr/>
        </p:nvSpPr>
        <p:spPr>
          <a:xfrm>
            <a:off x="548640" y="4114800"/>
            <a:ext cx="1828800" cy="640080"/>
          </a:xfrm>
          <a:prstGeom prst="rect">
            <a:avLst/>
          </a:prstGeom>
          <a:solidFill>
            <a:srgbClr val="1A2536"/>
          </a:solidFill>
          <a:ln/>
        </p:spPr>
        <p:txBody>
          <a:bodyPr/>
          <a:lstStyle/>
          <a:p>
            <a:endParaRPr lang="en-US"/>
          </a:p>
        </p:txBody>
      </p:sp>
      <p:sp>
        <p:nvSpPr>
          <p:cNvPr id="8" name="Text 6"/>
          <p:cNvSpPr/>
          <p:nvPr/>
        </p:nvSpPr>
        <p:spPr>
          <a:xfrm>
            <a:off x="548640" y="4114800"/>
            <a:ext cx="1828800" cy="384048"/>
          </a:xfrm>
          <a:prstGeom prst="rect">
            <a:avLst/>
          </a:prstGeom>
          <a:noFill/>
          <a:ln/>
        </p:spPr>
        <p:txBody>
          <a:bodyPr wrap="square" lIns="0" tIns="0" rIns="0" bIns="0" rtlCol="0" anchor="ctr"/>
          <a:lstStyle/>
          <a:p>
            <a:pPr marL="0" indent="0" algn="ctr">
              <a:buNone/>
            </a:pPr>
            <a:r>
              <a:rPr lang="en-US" sz="2000" b="1" dirty="0">
                <a:solidFill>
                  <a:srgbClr val="0891B2"/>
                </a:solidFill>
                <a:latin typeface="Trebuchet MS" pitchFamily="34" charset="0"/>
                <a:ea typeface="Trebuchet MS" pitchFamily="34" charset="-122"/>
                <a:cs typeface="Trebuchet MS" pitchFamily="34" charset="-120"/>
              </a:rPr>
              <a:t>7,300+</a:t>
            </a:r>
            <a:endParaRPr lang="en-US" sz="2000" dirty="0"/>
          </a:p>
        </p:txBody>
      </p:sp>
      <p:sp>
        <p:nvSpPr>
          <p:cNvPr id="9" name="Text 7"/>
          <p:cNvSpPr/>
          <p:nvPr/>
        </p:nvSpPr>
        <p:spPr>
          <a:xfrm>
            <a:off x="548640" y="4462272"/>
            <a:ext cx="1828800" cy="274320"/>
          </a:xfrm>
          <a:prstGeom prst="rect">
            <a:avLst/>
          </a:prstGeom>
          <a:noFill/>
          <a:ln/>
        </p:spPr>
        <p:txBody>
          <a:bodyPr wrap="square" lIns="0" tIns="0" rIns="0" bIns="0" rtlCol="0" anchor="ctr"/>
          <a:lstStyle/>
          <a:p>
            <a:pPr marL="0" indent="0" algn="ctr">
              <a:buNone/>
            </a:pPr>
            <a:r>
              <a:rPr lang="en-US" sz="900" dirty="0">
                <a:solidFill>
                  <a:srgbClr val="8899AA"/>
                </a:solidFill>
                <a:latin typeface="Calibri" pitchFamily="34" charset="0"/>
                <a:ea typeface="Calibri" pitchFamily="34" charset="-122"/>
                <a:cs typeface="Calibri" pitchFamily="34" charset="-120"/>
              </a:rPr>
              <a:t>Total Packets</a:t>
            </a:r>
            <a:endParaRPr lang="en-US" sz="900" dirty="0"/>
          </a:p>
        </p:txBody>
      </p:sp>
      <p:sp>
        <p:nvSpPr>
          <p:cNvPr id="10" name="Shape 8"/>
          <p:cNvSpPr/>
          <p:nvPr/>
        </p:nvSpPr>
        <p:spPr>
          <a:xfrm>
            <a:off x="2651760" y="4114800"/>
            <a:ext cx="1828800" cy="640080"/>
          </a:xfrm>
          <a:prstGeom prst="rect">
            <a:avLst/>
          </a:prstGeom>
          <a:solidFill>
            <a:srgbClr val="1A2536"/>
          </a:solidFill>
          <a:ln/>
        </p:spPr>
        <p:txBody>
          <a:bodyPr/>
          <a:lstStyle/>
          <a:p>
            <a:endParaRPr lang="en-US"/>
          </a:p>
        </p:txBody>
      </p:sp>
      <p:sp>
        <p:nvSpPr>
          <p:cNvPr id="11" name="Text 9"/>
          <p:cNvSpPr/>
          <p:nvPr/>
        </p:nvSpPr>
        <p:spPr>
          <a:xfrm>
            <a:off x="2651760" y="4114800"/>
            <a:ext cx="1828800" cy="384048"/>
          </a:xfrm>
          <a:prstGeom prst="rect">
            <a:avLst/>
          </a:prstGeom>
          <a:noFill/>
          <a:ln/>
        </p:spPr>
        <p:txBody>
          <a:bodyPr wrap="square" lIns="0" tIns="0" rIns="0" bIns="0" rtlCol="0" anchor="ctr"/>
          <a:lstStyle/>
          <a:p>
            <a:pPr marL="0" indent="0" algn="ctr">
              <a:buNone/>
            </a:pPr>
            <a:r>
              <a:rPr lang="en-US" sz="2000" b="1" dirty="0">
                <a:solidFill>
                  <a:srgbClr val="0891B2"/>
                </a:solidFill>
                <a:latin typeface="Trebuchet MS" pitchFamily="34" charset="0"/>
                <a:ea typeface="Trebuchet MS" pitchFamily="34" charset="-122"/>
                <a:cs typeface="Trebuchet MS" pitchFamily="34" charset="-120"/>
              </a:rPr>
              <a:t>~25 min</a:t>
            </a:r>
            <a:endParaRPr lang="en-US" sz="2000" dirty="0"/>
          </a:p>
        </p:txBody>
      </p:sp>
      <p:sp>
        <p:nvSpPr>
          <p:cNvPr id="12" name="Text 10"/>
          <p:cNvSpPr/>
          <p:nvPr/>
        </p:nvSpPr>
        <p:spPr>
          <a:xfrm>
            <a:off x="2651760" y="4462272"/>
            <a:ext cx="1828800" cy="274320"/>
          </a:xfrm>
          <a:prstGeom prst="rect">
            <a:avLst/>
          </a:prstGeom>
          <a:noFill/>
          <a:ln/>
        </p:spPr>
        <p:txBody>
          <a:bodyPr wrap="square" lIns="0" tIns="0" rIns="0" bIns="0" rtlCol="0" anchor="ctr"/>
          <a:lstStyle/>
          <a:p>
            <a:pPr marL="0" indent="0" algn="ctr">
              <a:buNone/>
            </a:pPr>
            <a:r>
              <a:rPr lang="en-US" sz="900" dirty="0">
                <a:solidFill>
                  <a:srgbClr val="8899AA"/>
                </a:solidFill>
                <a:latin typeface="Calibri" pitchFamily="34" charset="0"/>
                <a:ea typeface="Calibri" pitchFamily="34" charset="-122"/>
                <a:cs typeface="Calibri" pitchFamily="34" charset="-120"/>
              </a:rPr>
              <a:t>Attack Window</a:t>
            </a:r>
            <a:endParaRPr lang="en-US" sz="900" dirty="0"/>
          </a:p>
        </p:txBody>
      </p:sp>
      <p:sp>
        <p:nvSpPr>
          <p:cNvPr id="13" name="Shape 11"/>
          <p:cNvSpPr/>
          <p:nvPr/>
        </p:nvSpPr>
        <p:spPr>
          <a:xfrm>
            <a:off x="4754880" y="4114800"/>
            <a:ext cx="1828800" cy="640080"/>
          </a:xfrm>
          <a:prstGeom prst="rect">
            <a:avLst/>
          </a:prstGeom>
          <a:solidFill>
            <a:srgbClr val="1A2536"/>
          </a:solidFill>
          <a:ln/>
        </p:spPr>
        <p:txBody>
          <a:bodyPr/>
          <a:lstStyle/>
          <a:p>
            <a:endParaRPr lang="en-US"/>
          </a:p>
        </p:txBody>
      </p:sp>
      <p:sp>
        <p:nvSpPr>
          <p:cNvPr id="14" name="Text 12"/>
          <p:cNvSpPr/>
          <p:nvPr/>
        </p:nvSpPr>
        <p:spPr>
          <a:xfrm>
            <a:off x="4754880" y="4114800"/>
            <a:ext cx="1828800" cy="384048"/>
          </a:xfrm>
          <a:prstGeom prst="rect">
            <a:avLst/>
          </a:prstGeom>
          <a:noFill/>
          <a:ln/>
        </p:spPr>
        <p:txBody>
          <a:bodyPr wrap="square" lIns="0" tIns="0" rIns="0" bIns="0" rtlCol="0" anchor="ctr"/>
          <a:lstStyle/>
          <a:p>
            <a:pPr marL="0" indent="0" algn="ctr">
              <a:buNone/>
            </a:pPr>
            <a:r>
              <a:rPr lang="en-US" sz="2000" b="1" dirty="0">
                <a:solidFill>
                  <a:srgbClr val="0891B2"/>
                </a:solidFill>
                <a:latin typeface="Trebuchet MS" pitchFamily="34" charset="0"/>
                <a:ea typeface="Trebuchet MS" pitchFamily="34" charset="-122"/>
                <a:cs typeface="Trebuchet MS" pitchFamily="34" charset="-120"/>
              </a:rPr>
              <a:t>5</a:t>
            </a:r>
            <a:endParaRPr lang="en-US" sz="2000" dirty="0"/>
          </a:p>
        </p:txBody>
      </p:sp>
      <p:sp>
        <p:nvSpPr>
          <p:cNvPr id="15" name="Text 13"/>
          <p:cNvSpPr/>
          <p:nvPr/>
        </p:nvSpPr>
        <p:spPr>
          <a:xfrm>
            <a:off x="4754880" y="4462272"/>
            <a:ext cx="1828800" cy="274320"/>
          </a:xfrm>
          <a:prstGeom prst="rect">
            <a:avLst/>
          </a:prstGeom>
          <a:noFill/>
          <a:ln/>
        </p:spPr>
        <p:txBody>
          <a:bodyPr wrap="square" lIns="0" tIns="0" rIns="0" bIns="0" rtlCol="0" anchor="ctr"/>
          <a:lstStyle/>
          <a:p>
            <a:pPr marL="0" indent="0" algn="ctr">
              <a:buNone/>
            </a:pPr>
            <a:r>
              <a:rPr lang="en-US" sz="900" dirty="0">
                <a:solidFill>
                  <a:srgbClr val="8899AA"/>
                </a:solidFill>
                <a:latin typeface="Calibri" pitchFamily="34" charset="0"/>
                <a:ea typeface="Calibri" pitchFamily="34" charset="-122"/>
                <a:cs typeface="Calibri" pitchFamily="34" charset="-120"/>
              </a:rPr>
              <a:t>Attack Stages</a:t>
            </a:r>
            <a:endParaRPr lang="en-US" sz="900" dirty="0"/>
          </a:p>
        </p:txBody>
      </p:sp>
      <p:sp>
        <p:nvSpPr>
          <p:cNvPr id="16" name="Shape 14"/>
          <p:cNvSpPr/>
          <p:nvPr/>
        </p:nvSpPr>
        <p:spPr>
          <a:xfrm>
            <a:off x="6858000" y="4114800"/>
            <a:ext cx="1828800" cy="640080"/>
          </a:xfrm>
          <a:prstGeom prst="rect">
            <a:avLst/>
          </a:prstGeom>
          <a:solidFill>
            <a:srgbClr val="1A2536"/>
          </a:solidFill>
          <a:ln/>
        </p:spPr>
        <p:txBody>
          <a:bodyPr/>
          <a:lstStyle/>
          <a:p>
            <a:endParaRPr lang="en-US"/>
          </a:p>
        </p:txBody>
      </p:sp>
      <p:sp>
        <p:nvSpPr>
          <p:cNvPr id="17" name="Text 15"/>
          <p:cNvSpPr/>
          <p:nvPr/>
        </p:nvSpPr>
        <p:spPr>
          <a:xfrm>
            <a:off x="6858000" y="4114800"/>
            <a:ext cx="1828800" cy="384048"/>
          </a:xfrm>
          <a:prstGeom prst="rect">
            <a:avLst/>
          </a:prstGeom>
          <a:noFill/>
          <a:ln/>
        </p:spPr>
        <p:txBody>
          <a:bodyPr wrap="square" lIns="0" tIns="0" rIns="0" bIns="0" rtlCol="0" anchor="ctr"/>
          <a:lstStyle/>
          <a:p>
            <a:pPr marL="0" indent="0" algn="ctr">
              <a:buNone/>
            </a:pPr>
            <a:r>
              <a:rPr lang="en-US" sz="2000" b="1" dirty="0">
                <a:solidFill>
                  <a:srgbClr val="0891B2"/>
                </a:solidFill>
                <a:latin typeface="Trebuchet MS" pitchFamily="34" charset="0"/>
                <a:ea typeface="Trebuchet MS" pitchFamily="34" charset="-122"/>
                <a:cs typeface="Trebuchet MS" pitchFamily="34" charset="-120"/>
              </a:rPr>
              <a:t>High</a:t>
            </a:r>
            <a:endParaRPr lang="en-US" sz="2000" dirty="0"/>
          </a:p>
        </p:txBody>
      </p:sp>
      <p:sp>
        <p:nvSpPr>
          <p:cNvPr id="18" name="Text 16"/>
          <p:cNvSpPr/>
          <p:nvPr/>
        </p:nvSpPr>
        <p:spPr>
          <a:xfrm>
            <a:off x="6858000" y="4462272"/>
            <a:ext cx="1828800" cy="274320"/>
          </a:xfrm>
          <a:prstGeom prst="rect">
            <a:avLst/>
          </a:prstGeom>
          <a:noFill/>
          <a:ln/>
        </p:spPr>
        <p:txBody>
          <a:bodyPr wrap="square" lIns="0" tIns="0" rIns="0" bIns="0" rtlCol="0" anchor="ctr"/>
          <a:lstStyle/>
          <a:p>
            <a:pPr marL="0" indent="0" algn="ctr">
              <a:buNone/>
            </a:pPr>
            <a:r>
              <a:rPr lang="en-US" sz="900" dirty="0">
                <a:solidFill>
                  <a:srgbClr val="8899AA"/>
                </a:solidFill>
                <a:latin typeface="Calibri" pitchFamily="34" charset="0"/>
                <a:ea typeface="Calibri" pitchFamily="34" charset="-122"/>
                <a:cs typeface="Calibri" pitchFamily="34" charset="-120"/>
              </a:rPr>
              <a:t>Alert Confidence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Abstract</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Investigation overview and key findings</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7" name="Text 5"/>
          <p:cNvSpPr/>
          <p:nvPr/>
        </p:nvSpPr>
        <p:spPr>
          <a:xfrm>
            <a:off x="548640" y="1097280"/>
            <a:ext cx="8046720" cy="3657600"/>
          </a:xfrm>
          <a:prstGeom prst="rect">
            <a:avLst/>
          </a:prstGeom>
          <a:noFill/>
          <a:ln/>
        </p:spPr>
        <p:txBody>
          <a:bodyPr wrap="square" lIns="0" tIns="0" rIns="0" bIns="0" rtlCol="0" anchor="t"/>
          <a:lstStyle/>
          <a:p>
            <a:pPr marL="0" indent="0">
              <a:lnSpc>
                <a:spcPct val="120000"/>
              </a:lnSpc>
              <a:buNone/>
            </a:pPr>
            <a:r>
              <a:rPr lang="en-US" sz="1200" dirty="0">
                <a:solidFill>
                  <a:srgbClr val="CBD5E1"/>
                </a:solidFill>
                <a:latin typeface="Calibri" pitchFamily="34" charset="0"/>
                <a:ea typeface="Calibri" pitchFamily="34" charset="-122"/>
                <a:cs typeface="Calibri" pitchFamily="34" charset="-120"/>
              </a:rPr>
              <a:t>This investigation analyzed a PCAP file captured on </a:t>
            </a:r>
            <a:r>
              <a:rPr lang="en-US" sz="1200" b="1" dirty="0">
                <a:solidFill>
                  <a:srgbClr val="FFFFFF"/>
                </a:solidFill>
                <a:latin typeface="Calibri" pitchFamily="34" charset="0"/>
                <a:ea typeface="Calibri" pitchFamily="34" charset="-122"/>
                <a:cs typeface="Calibri" pitchFamily="34" charset="-120"/>
              </a:rPr>
              <a:t>2021-08-19</a:t>
            </a:r>
            <a:r>
              <a:rPr lang="en-US" sz="1200" dirty="0">
                <a:solidFill>
                  <a:srgbClr val="CBD5E1"/>
                </a:solidFill>
                <a:latin typeface="Calibri" pitchFamily="34" charset="0"/>
                <a:ea typeface="Calibri" pitchFamily="34" charset="-122"/>
                <a:cs typeface="Calibri" pitchFamily="34" charset="-120"/>
              </a:rPr>
              <a:t> containing network traffic from host </a:t>
            </a:r>
            <a:r>
              <a:rPr lang="en-US" sz="1200" b="1" dirty="0">
                <a:solidFill>
                  <a:srgbClr val="FFFFFF"/>
                </a:solidFill>
                <a:latin typeface="Calibri" pitchFamily="34" charset="0"/>
                <a:ea typeface="Calibri" pitchFamily="34" charset="-122"/>
                <a:cs typeface="Calibri" pitchFamily="34" charset="-120"/>
              </a:rPr>
              <a:t>DESKTOP-M1TFHB6 (10.8.19.101)</a:t>
            </a:r>
            <a:r>
              <a:rPr lang="en-US" sz="1200" dirty="0">
                <a:solidFill>
                  <a:srgbClr val="CBD5E1"/>
                </a:solidFill>
                <a:latin typeface="Calibri" pitchFamily="34" charset="0"/>
                <a:ea typeface="Calibri" pitchFamily="34" charset="-122"/>
                <a:cs typeface="Calibri" pitchFamily="34" charset="-120"/>
              </a:rPr>
              <a:t>, a Windows 10 Pro machine on the 10.8.19.0/24 network within the fuzzylizards.com domain.</a:t>
            </a:r>
            <a:endParaRPr lang="en-US" sz="1200" dirty="0"/>
          </a:p>
          <a:p>
            <a:pPr marL="0" indent="0">
              <a:lnSpc>
                <a:spcPct val="120000"/>
              </a:lnSpc>
              <a:buNone/>
            </a:pPr>
            <a:endParaRPr lang="en-US" sz="1200" dirty="0"/>
          </a:p>
          <a:p>
            <a:pPr marL="0" indent="0">
              <a:lnSpc>
                <a:spcPct val="120000"/>
              </a:lnSpc>
              <a:buNone/>
            </a:pPr>
            <a:r>
              <a:rPr lang="en-US" sz="1200" dirty="0">
                <a:solidFill>
                  <a:srgbClr val="CBD5E1"/>
                </a:solidFill>
                <a:latin typeface="Calibri" pitchFamily="34" charset="0"/>
                <a:ea typeface="Calibri" pitchFamily="34" charset="-122"/>
                <a:cs typeface="Calibri" pitchFamily="34" charset="-120"/>
              </a:rPr>
              <a:t>DESKTOP-M1TFHB6 was infected with the </a:t>
            </a:r>
            <a:endParaRPr lang="en-US" sz="1200" dirty="0"/>
          </a:p>
          <a:p>
            <a:pPr marL="0" indent="0">
              <a:lnSpc>
                <a:spcPct val="120000"/>
              </a:lnSpc>
              <a:buNone/>
            </a:pPr>
            <a:r>
              <a:rPr lang="en-US" sz="1200" b="1" dirty="0">
                <a:solidFill>
                  <a:srgbClr val="E74C3C"/>
                </a:solidFill>
                <a:latin typeface="Calibri" pitchFamily="34" charset="0"/>
                <a:ea typeface="Calibri" pitchFamily="34" charset="-122"/>
                <a:cs typeface="Calibri" pitchFamily="34" charset="-120"/>
              </a:rPr>
              <a:t>TrickBot trojan</a:t>
            </a:r>
            <a:r>
              <a:rPr lang="en-US" sz="1200" dirty="0">
                <a:solidFill>
                  <a:srgbClr val="CBD5E1"/>
                </a:solidFill>
                <a:latin typeface="Calibri" pitchFamily="34" charset="0"/>
                <a:ea typeface="Calibri" pitchFamily="34" charset="-122"/>
                <a:cs typeface="Calibri" pitchFamily="34" charset="-120"/>
              </a:rPr>
              <a:t> following a disguised malware delivery via HTTP. The infection began when a file named ooiwy.pdf was downloaded from </a:t>
            </a:r>
            <a:r>
              <a:rPr lang="en-US" sz="1200" b="1" dirty="0">
                <a:solidFill>
                  <a:srgbClr val="FFFFFF"/>
                </a:solidFill>
                <a:latin typeface="Calibri" pitchFamily="34" charset="0"/>
                <a:ea typeface="Calibri" pitchFamily="34" charset="-122"/>
                <a:cs typeface="Calibri" pitchFamily="34" charset="-120"/>
              </a:rPr>
              <a:t>185.244.41.29</a:t>
            </a:r>
            <a:r>
              <a:rPr lang="en-US" sz="1200" dirty="0">
                <a:solidFill>
                  <a:srgbClr val="CBD5E1"/>
                </a:solidFill>
                <a:latin typeface="Calibri" pitchFamily="34" charset="0"/>
                <a:ea typeface="Calibri" pitchFamily="34" charset="-122"/>
                <a:cs typeface="Calibri" pitchFamily="34" charset="-120"/>
              </a:rPr>
              <a:t> using curl. Despite its .pdf extension, the file was a PE32 executable (DLL). VirusTotal confirmed the file as malicious with a </a:t>
            </a:r>
            <a:r>
              <a:rPr lang="en-US" sz="1200" b="1" dirty="0">
                <a:solidFill>
                  <a:srgbClr val="E74C3C"/>
                </a:solidFill>
                <a:latin typeface="Calibri" pitchFamily="34" charset="0"/>
                <a:ea typeface="Calibri" pitchFamily="34" charset="-122"/>
                <a:cs typeface="Calibri" pitchFamily="34" charset="-120"/>
              </a:rPr>
              <a:t>60/72 detection rate</a:t>
            </a:r>
            <a:r>
              <a:rPr lang="en-US" sz="1200" dirty="0">
                <a:solidFill>
                  <a:srgbClr val="CBD5E1"/>
                </a:solidFill>
                <a:latin typeface="Calibri" pitchFamily="34" charset="0"/>
                <a:ea typeface="Calibri" pitchFamily="34" charset="-122"/>
                <a:cs typeface="Calibri"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CBD5E1"/>
                </a:solidFill>
                <a:latin typeface="Calibri" pitchFamily="34" charset="0"/>
                <a:ea typeface="Calibri" pitchFamily="34" charset="-122"/>
                <a:cs typeface="Calibri" pitchFamily="34" charset="-120"/>
              </a:rPr>
              <a:t>Post-infection, TrickBot established encrypted C2 channels to three external servers (103.148.41.195, 46.99.175.149, 182.253.210.130) using self-signed "Internet Widgits Pty Ltd" certificates. The malware exfiltrated system reconnaissance data including process lists, system information, network configuration, and domain enumeration via HTTP POST requests with User-Agent: Ghost.</a:t>
            </a:r>
            <a:endParaRPr lang="en-US" sz="1200" dirty="0"/>
          </a:p>
          <a:p>
            <a:pPr marL="0" indent="0">
              <a:lnSpc>
                <a:spcPct val="120000"/>
              </a:lnSpc>
              <a:buNone/>
            </a:pPr>
            <a:endParaRPr lang="en-US" sz="1200" dirty="0"/>
          </a:p>
          <a:p>
            <a:pPr marL="0" indent="0">
              <a:lnSpc>
                <a:spcPct val="120000"/>
              </a:lnSpc>
              <a:buNone/>
            </a:pPr>
            <a:endParaRPr lang="en-US" sz="1200" dirty="0"/>
          </a:p>
          <a:p>
            <a:pPr marL="0" indent="0">
              <a:lnSpc>
                <a:spcPct val="120000"/>
              </a:lnSpc>
              <a:buNone/>
            </a:pPr>
            <a:r>
              <a:rPr lang="en-US" sz="1200" dirty="0">
                <a:solidFill>
                  <a:srgbClr val="CBD5E1"/>
                </a:solidFill>
                <a:latin typeface="Calibri" pitchFamily="34" charset="0"/>
                <a:ea typeface="Calibri" pitchFamily="34" charset="-122"/>
                <a:cs typeface="Calibri" pitchFamily="34" charset="-120"/>
              </a:rPr>
              <a:t>Key tools used: Security Onion (Suricata IDS), Wireshark, NetworkMiner, and VirusTotal. All IOCs were validated. False positive probability is extremely low.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Introduction</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Background, objective, scope, and toolset</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7" name="Shape 5"/>
          <p:cNvSpPr/>
          <p:nvPr/>
        </p:nvSpPr>
        <p:spPr>
          <a:xfrm>
            <a:off x="548640" y="1143000"/>
            <a:ext cx="4206240" cy="3566160"/>
          </a:xfrm>
          <a:prstGeom prst="rect">
            <a:avLst/>
          </a:prstGeom>
          <a:solidFill>
            <a:srgbClr val="1A2536"/>
          </a:solidFill>
          <a:ln/>
        </p:spPr>
        <p:txBody>
          <a:bodyPr/>
          <a:lstStyle/>
          <a:p>
            <a:endParaRPr lang="en-US"/>
          </a:p>
        </p:txBody>
      </p:sp>
      <p:sp>
        <p:nvSpPr>
          <p:cNvPr id="8" name="Text 6"/>
          <p:cNvSpPr/>
          <p:nvPr/>
        </p:nvSpPr>
        <p:spPr>
          <a:xfrm>
            <a:off x="731520" y="1234440"/>
            <a:ext cx="3840480" cy="320040"/>
          </a:xfrm>
          <a:prstGeom prst="rect">
            <a:avLst/>
          </a:prstGeom>
          <a:noFill/>
          <a:ln/>
        </p:spPr>
        <p:txBody>
          <a:bodyPr wrap="square" lIns="0" tIns="0" rIns="0" bIns="0" rtlCol="0" anchor="ctr"/>
          <a:lstStyle/>
          <a:p>
            <a:pPr marL="0" indent="0">
              <a:buNone/>
            </a:pPr>
            <a:r>
              <a:rPr lang="en-US" sz="1400" b="1" dirty="0">
                <a:solidFill>
                  <a:srgbClr val="0891B2"/>
                </a:solidFill>
                <a:latin typeface="Trebuchet MS" pitchFamily="34" charset="0"/>
                <a:ea typeface="Trebuchet MS" pitchFamily="34" charset="-122"/>
                <a:cs typeface="Trebuchet MS" pitchFamily="34" charset="-120"/>
              </a:rPr>
              <a:t>Background &amp; Objective</a:t>
            </a:r>
            <a:endParaRPr lang="en-US" sz="1400" dirty="0"/>
          </a:p>
        </p:txBody>
      </p:sp>
      <p:sp>
        <p:nvSpPr>
          <p:cNvPr id="9" name="Text 7"/>
          <p:cNvSpPr/>
          <p:nvPr/>
        </p:nvSpPr>
        <p:spPr>
          <a:xfrm>
            <a:off x="731520" y="1600200"/>
            <a:ext cx="3840480" cy="2926080"/>
          </a:xfrm>
          <a:prstGeom prst="rect">
            <a:avLst/>
          </a:prstGeom>
          <a:noFill/>
          <a:ln/>
        </p:spPr>
        <p:txBody>
          <a:bodyPr wrap="square" lIns="0" tIns="0" rIns="0" bIns="0" rtlCol="0" anchor="t"/>
          <a:lstStyle/>
          <a:p>
            <a:pPr marL="0" indent="0">
              <a:lnSpc>
                <a:spcPct val="120000"/>
              </a:lnSpc>
              <a:buNone/>
            </a:pPr>
            <a:r>
              <a:rPr lang="en-US" sz="1100" dirty="0">
                <a:solidFill>
                  <a:srgbClr val="CBD5E1"/>
                </a:solidFill>
                <a:latin typeface="Calibri" pitchFamily="34" charset="0"/>
                <a:ea typeface="Calibri" pitchFamily="34" charset="-122"/>
                <a:cs typeface="Calibri" pitchFamily="34" charset="-120"/>
              </a:rPr>
              <a:t>A PCAP file from 2021-08-19 was analyzed to investigate a reported malware infection on an internal Windows host.</a:t>
            </a:r>
            <a:endParaRPr lang="en-US" sz="1100" dirty="0"/>
          </a:p>
          <a:p>
            <a:pPr marL="0" indent="0">
              <a:lnSpc>
                <a:spcPct val="120000"/>
              </a:lnSpc>
              <a:buNone/>
            </a:pPr>
            <a:endParaRPr lang="en-US" sz="1100" dirty="0"/>
          </a:p>
          <a:p>
            <a:pPr marL="0" indent="0">
              <a:lnSpc>
                <a:spcPct val="120000"/>
              </a:lnSpc>
              <a:buNone/>
            </a:pPr>
            <a:r>
              <a:rPr lang="en-US" sz="1100" dirty="0">
                <a:solidFill>
                  <a:srgbClr val="CBD5E1"/>
                </a:solidFill>
                <a:latin typeface="Calibri" pitchFamily="34" charset="0"/>
                <a:ea typeface="Calibri" pitchFamily="34" charset="-122"/>
                <a:cs typeface="Calibri" pitchFamily="34" charset="-120"/>
              </a:rPr>
              <a:t>Objective: Identify the malware type, trace the full attack chain from initial delivery to data exfiltration, extract all IOCs, and evaluate IDS alert accuracy.</a:t>
            </a:r>
            <a:endParaRPr lang="en-US" sz="1100" dirty="0"/>
          </a:p>
          <a:p>
            <a:pPr marL="0" indent="0">
              <a:lnSpc>
                <a:spcPct val="120000"/>
              </a:lnSpc>
              <a:buNone/>
            </a:pPr>
            <a:endParaRPr lang="en-US" sz="1100" dirty="0"/>
          </a:p>
          <a:p>
            <a:pPr marL="0" indent="0">
              <a:lnSpc>
                <a:spcPct val="120000"/>
              </a:lnSpc>
              <a:buNone/>
            </a:pPr>
            <a:r>
              <a:rPr lang="en-US" sz="1100" dirty="0">
                <a:solidFill>
                  <a:srgbClr val="CBD5E1"/>
                </a:solidFill>
                <a:latin typeface="Calibri" pitchFamily="34" charset="0"/>
                <a:ea typeface="Calibri" pitchFamily="34" charset="-122"/>
                <a:cs typeface="Calibri" pitchFamily="34" charset="-120"/>
              </a:rPr>
              <a:t>Scope: Single host DESKTOP-M1TFHB6 (10.8.19.101) on the 10.8.19.0/24 network within the fuzzylizards.com domain. Timeframe: 19:40 to 20:24 UTC. No lateral movement detected.</a:t>
            </a:r>
            <a:endParaRPr lang="en-US" sz="1100" dirty="0"/>
          </a:p>
        </p:txBody>
      </p:sp>
      <p:sp>
        <p:nvSpPr>
          <p:cNvPr id="10" name="Shape 8"/>
          <p:cNvSpPr/>
          <p:nvPr/>
        </p:nvSpPr>
        <p:spPr>
          <a:xfrm>
            <a:off x="4937760" y="1143000"/>
            <a:ext cx="3657600" cy="3566160"/>
          </a:xfrm>
          <a:prstGeom prst="rect">
            <a:avLst/>
          </a:prstGeom>
          <a:solidFill>
            <a:srgbClr val="1A2536"/>
          </a:solidFill>
          <a:ln/>
        </p:spPr>
        <p:txBody>
          <a:bodyPr/>
          <a:lstStyle/>
          <a:p>
            <a:endParaRPr lang="en-US"/>
          </a:p>
        </p:txBody>
      </p:sp>
      <p:sp>
        <p:nvSpPr>
          <p:cNvPr id="11" name="Text 9"/>
          <p:cNvSpPr/>
          <p:nvPr/>
        </p:nvSpPr>
        <p:spPr>
          <a:xfrm>
            <a:off x="5120640" y="1234440"/>
            <a:ext cx="3291840" cy="320040"/>
          </a:xfrm>
          <a:prstGeom prst="rect">
            <a:avLst/>
          </a:prstGeom>
          <a:noFill/>
          <a:ln/>
        </p:spPr>
        <p:txBody>
          <a:bodyPr wrap="square" lIns="0" tIns="0" rIns="0" bIns="0" rtlCol="0" anchor="ctr"/>
          <a:lstStyle/>
          <a:p>
            <a:pPr marL="0" indent="0">
              <a:buNone/>
            </a:pPr>
            <a:r>
              <a:rPr lang="en-US" sz="1400" b="1" dirty="0">
                <a:solidFill>
                  <a:srgbClr val="0891B2"/>
                </a:solidFill>
                <a:latin typeface="Trebuchet MS" pitchFamily="34" charset="0"/>
                <a:ea typeface="Trebuchet MS" pitchFamily="34" charset="-122"/>
                <a:cs typeface="Trebuchet MS" pitchFamily="34" charset="-120"/>
              </a:rPr>
              <a:t>Tools Used</a:t>
            </a:r>
            <a:endParaRPr lang="en-US" sz="1400" dirty="0"/>
          </a:p>
        </p:txBody>
      </p:sp>
      <p:sp>
        <p:nvSpPr>
          <p:cNvPr id="12" name="Text 10"/>
          <p:cNvSpPr/>
          <p:nvPr/>
        </p:nvSpPr>
        <p:spPr>
          <a:xfrm>
            <a:off x="5120640" y="1691640"/>
            <a:ext cx="329184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Security Onion (Suricata IDS)</a:t>
            </a:r>
            <a:endParaRPr lang="en-US" sz="1100" dirty="0"/>
          </a:p>
        </p:txBody>
      </p:sp>
      <p:sp>
        <p:nvSpPr>
          <p:cNvPr id="13" name="Text 11"/>
          <p:cNvSpPr/>
          <p:nvPr/>
        </p:nvSpPr>
        <p:spPr>
          <a:xfrm>
            <a:off x="5120640" y="1920240"/>
            <a:ext cx="3291840" cy="411480"/>
          </a:xfrm>
          <a:prstGeom prst="rect">
            <a:avLst/>
          </a:prstGeom>
          <a:noFill/>
          <a:ln/>
        </p:spPr>
        <p:txBody>
          <a:bodyPr wrap="square" lIns="0" tIns="0" rIns="0" bIns="0" rtlCol="0" anchor="ctr"/>
          <a:lstStyle/>
          <a:p>
            <a:pPr marL="0" indent="0">
              <a:buNone/>
            </a:pPr>
            <a:r>
              <a:rPr lang="en-US" sz="950" dirty="0">
                <a:solidFill>
                  <a:srgbClr val="8899AA"/>
                </a:solidFill>
                <a:latin typeface="Calibri" pitchFamily="34" charset="0"/>
                <a:ea typeface="Calibri" pitchFamily="34" charset="-122"/>
                <a:cs typeface="Calibri" pitchFamily="34" charset="-120"/>
              </a:rPr>
              <a:t>Alert dashboard, grouped alerts by source IP and rule severity</a:t>
            </a:r>
            <a:endParaRPr lang="en-US" sz="950" dirty="0"/>
          </a:p>
        </p:txBody>
      </p:sp>
      <p:sp>
        <p:nvSpPr>
          <p:cNvPr id="14" name="Text 12"/>
          <p:cNvSpPr/>
          <p:nvPr/>
        </p:nvSpPr>
        <p:spPr>
          <a:xfrm>
            <a:off x="5120640" y="2468880"/>
            <a:ext cx="329184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Wireshark / PCAP Analysis</a:t>
            </a:r>
            <a:endParaRPr lang="en-US" sz="1100" dirty="0"/>
          </a:p>
        </p:txBody>
      </p:sp>
      <p:sp>
        <p:nvSpPr>
          <p:cNvPr id="15" name="Text 13"/>
          <p:cNvSpPr/>
          <p:nvPr/>
        </p:nvSpPr>
        <p:spPr>
          <a:xfrm>
            <a:off x="5120640" y="2697480"/>
            <a:ext cx="3291840" cy="411480"/>
          </a:xfrm>
          <a:prstGeom prst="rect">
            <a:avLst/>
          </a:prstGeom>
          <a:noFill/>
          <a:ln/>
        </p:spPr>
        <p:txBody>
          <a:bodyPr wrap="square" lIns="0" tIns="0" rIns="0" bIns="0" rtlCol="0" anchor="ctr"/>
          <a:lstStyle/>
          <a:p>
            <a:pPr marL="0" indent="0">
              <a:buNone/>
            </a:pPr>
            <a:r>
              <a:rPr lang="en-US" sz="950" dirty="0">
                <a:solidFill>
                  <a:srgbClr val="8899AA"/>
                </a:solidFill>
                <a:latin typeface="Calibri" pitchFamily="34" charset="0"/>
                <a:ea typeface="Calibri" pitchFamily="34" charset="-122"/>
                <a:cs typeface="Calibri" pitchFamily="34" charset="-120"/>
              </a:rPr>
              <a:t>Packet-level inspection, HTTP stream reconstruction, Export Objects</a:t>
            </a:r>
            <a:endParaRPr lang="en-US" sz="950" dirty="0"/>
          </a:p>
        </p:txBody>
      </p:sp>
      <p:sp>
        <p:nvSpPr>
          <p:cNvPr id="16" name="Text 14"/>
          <p:cNvSpPr/>
          <p:nvPr/>
        </p:nvSpPr>
        <p:spPr>
          <a:xfrm>
            <a:off x="5120640" y="3246120"/>
            <a:ext cx="329184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NetworkMiner</a:t>
            </a:r>
            <a:endParaRPr lang="en-US" sz="1100" dirty="0"/>
          </a:p>
        </p:txBody>
      </p:sp>
      <p:sp>
        <p:nvSpPr>
          <p:cNvPr id="17" name="Text 15"/>
          <p:cNvSpPr/>
          <p:nvPr/>
        </p:nvSpPr>
        <p:spPr>
          <a:xfrm>
            <a:off x="5120640" y="3474720"/>
            <a:ext cx="3291840" cy="411480"/>
          </a:xfrm>
          <a:prstGeom prst="rect">
            <a:avLst/>
          </a:prstGeom>
          <a:noFill/>
          <a:ln/>
        </p:spPr>
        <p:txBody>
          <a:bodyPr wrap="square" lIns="0" tIns="0" rIns="0" bIns="0" rtlCol="0" anchor="ctr"/>
          <a:lstStyle/>
          <a:p>
            <a:pPr marL="0" indent="0">
              <a:buNone/>
            </a:pPr>
            <a:r>
              <a:rPr lang="en-US" sz="950" dirty="0">
                <a:solidFill>
                  <a:srgbClr val="8899AA"/>
                </a:solidFill>
                <a:latin typeface="Calibri" pitchFamily="34" charset="0"/>
                <a:ea typeface="Calibri" pitchFamily="34" charset="-122"/>
                <a:cs typeface="Calibri" pitchFamily="34" charset="-120"/>
              </a:rPr>
              <a:t>Host enumeration, OS fingerprinting, file extraction, certificate analysis</a:t>
            </a:r>
            <a:endParaRPr lang="en-US" sz="950" dirty="0"/>
          </a:p>
        </p:txBody>
      </p:sp>
      <p:sp>
        <p:nvSpPr>
          <p:cNvPr id="18" name="Text 16"/>
          <p:cNvSpPr/>
          <p:nvPr/>
        </p:nvSpPr>
        <p:spPr>
          <a:xfrm>
            <a:off x="5120640" y="4023360"/>
            <a:ext cx="329184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VirusTotal</a:t>
            </a:r>
            <a:endParaRPr lang="en-US" sz="1100" dirty="0"/>
          </a:p>
        </p:txBody>
      </p:sp>
      <p:sp>
        <p:nvSpPr>
          <p:cNvPr id="19" name="Text 17"/>
          <p:cNvSpPr/>
          <p:nvPr/>
        </p:nvSpPr>
        <p:spPr>
          <a:xfrm>
            <a:off x="5120640" y="4251960"/>
            <a:ext cx="3291840" cy="411480"/>
          </a:xfrm>
          <a:prstGeom prst="rect">
            <a:avLst/>
          </a:prstGeom>
          <a:noFill/>
          <a:ln/>
        </p:spPr>
        <p:txBody>
          <a:bodyPr wrap="square" lIns="0" tIns="0" rIns="0" bIns="0" rtlCol="0" anchor="ctr"/>
          <a:lstStyle/>
          <a:p>
            <a:pPr marL="0" indent="0">
              <a:buNone/>
            </a:pPr>
            <a:r>
              <a:rPr lang="en-US" sz="950" dirty="0">
                <a:solidFill>
                  <a:srgbClr val="8899AA"/>
                </a:solidFill>
                <a:latin typeface="Calibri" pitchFamily="34" charset="0"/>
                <a:ea typeface="Calibri" pitchFamily="34" charset="-122"/>
                <a:cs typeface="Calibri" pitchFamily="34" charset="-120"/>
              </a:rPr>
              <a:t>IOC validation: IPs, domains, file hashes cross-referenced against 72+ vendors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The Network</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Internal topology and external connections identified from PCAP</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7" name="Shape 5"/>
          <p:cNvSpPr/>
          <p:nvPr/>
        </p:nvSpPr>
        <p:spPr>
          <a:xfrm>
            <a:off x="4937760" y="1143000"/>
            <a:ext cx="3657600" cy="3566160"/>
          </a:xfrm>
          <a:prstGeom prst="rect">
            <a:avLst/>
          </a:prstGeom>
          <a:solidFill>
            <a:srgbClr val="1A2536"/>
          </a:solidFill>
          <a:ln/>
        </p:spPr>
        <p:txBody>
          <a:bodyPr/>
          <a:lstStyle/>
          <a:p>
            <a:endParaRPr lang="en-US"/>
          </a:p>
        </p:txBody>
      </p:sp>
      <p:sp>
        <p:nvSpPr>
          <p:cNvPr id="8" name="Text 6"/>
          <p:cNvSpPr/>
          <p:nvPr/>
        </p:nvSpPr>
        <p:spPr>
          <a:xfrm>
            <a:off x="5120640" y="1234440"/>
            <a:ext cx="329184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Network Summary</a:t>
            </a:r>
            <a:endParaRPr lang="en-US" sz="1400" dirty="0"/>
          </a:p>
        </p:txBody>
      </p:sp>
      <p:sp>
        <p:nvSpPr>
          <p:cNvPr id="9" name="Text 7"/>
          <p:cNvSpPr/>
          <p:nvPr/>
        </p:nvSpPr>
        <p:spPr>
          <a:xfrm>
            <a:off x="5120640" y="1645920"/>
            <a:ext cx="3291840" cy="18288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Subnet:</a:t>
            </a:r>
            <a:endParaRPr lang="en-US" sz="1000" dirty="0"/>
          </a:p>
        </p:txBody>
      </p:sp>
      <p:sp>
        <p:nvSpPr>
          <p:cNvPr id="10" name="Text 8"/>
          <p:cNvSpPr/>
          <p:nvPr/>
        </p:nvSpPr>
        <p:spPr>
          <a:xfrm>
            <a:off x="5120640" y="1828800"/>
            <a:ext cx="3291840" cy="18288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10.8.19.0/24 (fuzzylizards.com)</a:t>
            </a:r>
            <a:endParaRPr lang="en-US" sz="950" dirty="0"/>
          </a:p>
        </p:txBody>
      </p:sp>
      <p:sp>
        <p:nvSpPr>
          <p:cNvPr id="11" name="Text 9"/>
          <p:cNvSpPr/>
          <p:nvPr/>
        </p:nvSpPr>
        <p:spPr>
          <a:xfrm>
            <a:off x="5120640" y="2075688"/>
            <a:ext cx="3291840" cy="18288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Victim Host:</a:t>
            </a:r>
            <a:endParaRPr lang="en-US" sz="1000" dirty="0"/>
          </a:p>
        </p:txBody>
      </p:sp>
      <p:sp>
        <p:nvSpPr>
          <p:cNvPr id="12" name="Text 10"/>
          <p:cNvSpPr/>
          <p:nvPr/>
        </p:nvSpPr>
        <p:spPr>
          <a:xfrm>
            <a:off x="5120640" y="2258568"/>
            <a:ext cx="329184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DESKTOP-M1TFHB6, 10.8.19.101</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Windows 10 Pro, Intel NIC</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MAC: 00-08-02-1C-47-AE</a:t>
            </a:r>
            <a:endParaRPr lang="en-US" sz="950" dirty="0"/>
          </a:p>
        </p:txBody>
      </p:sp>
      <p:sp>
        <p:nvSpPr>
          <p:cNvPr id="13" name="Text 11"/>
          <p:cNvSpPr/>
          <p:nvPr/>
        </p:nvSpPr>
        <p:spPr>
          <a:xfrm>
            <a:off x="5120640" y="2779776"/>
            <a:ext cx="3291840" cy="18288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Gateway:</a:t>
            </a:r>
            <a:endParaRPr lang="en-US" sz="1000" dirty="0"/>
          </a:p>
        </p:txBody>
      </p:sp>
      <p:sp>
        <p:nvSpPr>
          <p:cNvPr id="14" name="Text 12"/>
          <p:cNvSpPr/>
          <p:nvPr/>
        </p:nvSpPr>
        <p:spPr>
          <a:xfrm>
            <a:off x="5120640" y="2962656"/>
            <a:ext cx="3291840" cy="18288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10.8.19.1 (DNS + NAT)</a:t>
            </a:r>
            <a:endParaRPr lang="en-US" sz="950" dirty="0"/>
          </a:p>
        </p:txBody>
      </p:sp>
      <p:sp>
        <p:nvSpPr>
          <p:cNvPr id="15" name="Text 13"/>
          <p:cNvSpPr/>
          <p:nvPr/>
        </p:nvSpPr>
        <p:spPr>
          <a:xfrm>
            <a:off x="5120640" y="3209544"/>
            <a:ext cx="3291840" cy="18288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DNS Server:</a:t>
            </a:r>
            <a:endParaRPr lang="en-US" sz="1000" dirty="0"/>
          </a:p>
        </p:txBody>
      </p:sp>
      <p:sp>
        <p:nvSpPr>
          <p:cNvPr id="16" name="Text 14"/>
          <p:cNvSpPr/>
          <p:nvPr/>
        </p:nvSpPr>
        <p:spPr>
          <a:xfrm>
            <a:off x="5120640" y="3392424"/>
            <a:ext cx="3291840" cy="18288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10.8.19.8</a:t>
            </a:r>
            <a:endParaRPr lang="en-US" sz="950" dirty="0"/>
          </a:p>
        </p:txBody>
      </p:sp>
      <p:sp>
        <p:nvSpPr>
          <p:cNvPr id="17" name="Text 15"/>
          <p:cNvSpPr/>
          <p:nvPr/>
        </p:nvSpPr>
        <p:spPr>
          <a:xfrm>
            <a:off x="5120640" y="3639312"/>
            <a:ext cx="3291840" cy="18288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Malware Source:</a:t>
            </a:r>
            <a:endParaRPr lang="en-US" sz="1000" dirty="0"/>
          </a:p>
        </p:txBody>
      </p:sp>
      <p:sp>
        <p:nvSpPr>
          <p:cNvPr id="18" name="Text 16"/>
          <p:cNvSpPr/>
          <p:nvPr/>
        </p:nvSpPr>
        <p:spPr>
          <a:xfrm>
            <a:off x="5120640" y="3822192"/>
            <a:ext cx="3291840" cy="18288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185.244.41.29 (Apache/Debian)</a:t>
            </a:r>
            <a:endParaRPr lang="en-US" sz="950" dirty="0"/>
          </a:p>
        </p:txBody>
      </p:sp>
      <p:sp>
        <p:nvSpPr>
          <p:cNvPr id="19" name="Text 17"/>
          <p:cNvSpPr/>
          <p:nvPr/>
        </p:nvSpPr>
        <p:spPr>
          <a:xfrm>
            <a:off x="5120640" y="4069080"/>
            <a:ext cx="3291840" cy="18288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Primary C2:</a:t>
            </a:r>
            <a:endParaRPr lang="en-US" sz="1000" dirty="0"/>
          </a:p>
        </p:txBody>
      </p:sp>
      <p:sp>
        <p:nvSpPr>
          <p:cNvPr id="20" name="Text 18"/>
          <p:cNvSpPr/>
          <p:nvPr/>
        </p:nvSpPr>
        <p:spPr>
          <a:xfrm>
            <a:off x="5120640" y="4251960"/>
            <a:ext cx="3291840" cy="18288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103.148.41.195 (BD, AS 140076)</a:t>
            </a:r>
            <a:endParaRPr lang="en-US" sz="950" dirty="0"/>
          </a:p>
        </p:txBody>
      </p:sp>
      <p:sp>
        <p:nvSpPr>
          <p:cNvPr id="21" name="Text 19"/>
          <p:cNvSpPr/>
          <p:nvPr/>
        </p:nvSpPr>
        <p:spPr>
          <a:xfrm>
            <a:off x="5120640" y="4498848"/>
            <a:ext cx="3291840" cy="18288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Secondary C2:</a:t>
            </a:r>
            <a:endParaRPr lang="en-US" sz="1000" dirty="0"/>
          </a:p>
        </p:txBody>
      </p:sp>
      <p:sp>
        <p:nvSpPr>
          <p:cNvPr id="22" name="Text 20"/>
          <p:cNvSpPr/>
          <p:nvPr/>
        </p:nvSpPr>
        <p:spPr>
          <a:xfrm>
            <a:off x="5120640" y="4681728"/>
            <a:ext cx="3291840" cy="18288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46.99.175.149 (12/94 VT)</a:t>
            </a:r>
            <a:endParaRPr lang="en-US" sz="950" dirty="0"/>
          </a:p>
        </p:txBody>
      </p:sp>
      <p:sp>
        <p:nvSpPr>
          <p:cNvPr id="23" name="Text 21"/>
          <p:cNvSpPr/>
          <p:nvPr/>
        </p:nvSpPr>
        <p:spPr>
          <a:xfrm>
            <a:off x="5120640" y="4928616"/>
            <a:ext cx="3291840" cy="18288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Tertiary C2:</a:t>
            </a:r>
            <a:endParaRPr lang="en-US" sz="1000" dirty="0"/>
          </a:p>
        </p:txBody>
      </p:sp>
      <p:sp>
        <p:nvSpPr>
          <p:cNvPr id="24" name="Text 22"/>
          <p:cNvSpPr/>
          <p:nvPr/>
        </p:nvSpPr>
        <p:spPr>
          <a:xfrm>
            <a:off x="5782279" y="4928616"/>
            <a:ext cx="3291840" cy="18288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182.253.210.130 (11/94 VT)</a:t>
            </a:r>
            <a:endParaRPr lang="en-US" sz="950" dirty="0"/>
          </a:p>
        </p:txBody>
      </p:sp>
      <p:sp>
        <p:nvSpPr>
          <p:cNvPr id="25" name="Shape 23"/>
          <p:cNvSpPr/>
          <p:nvPr/>
        </p:nvSpPr>
        <p:spPr>
          <a:xfrm>
            <a:off x="548640" y="1143000"/>
            <a:ext cx="4206240" cy="3566160"/>
          </a:xfrm>
          <a:prstGeom prst="rect">
            <a:avLst/>
          </a:prstGeom>
          <a:solidFill>
            <a:srgbClr val="1E2D40"/>
          </a:solidFill>
          <a:ln/>
        </p:spPr>
        <p:txBody>
          <a:bodyPr/>
          <a:lstStyle/>
          <a:p>
            <a:endParaRPr lang="en-US"/>
          </a:p>
        </p:txBody>
      </p:sp>
      <p:sp>
        <p:nvSpPr>
          <p:cNvPr id="26" name="Shape 24"/>
          <p:cNvSpPr/>
          <p:nvPr/>
        </p:nvSpPr>
        <p:spPr>
          <a:xfrm>
            <a:off x="1188720" y="1371600"/>
            <a:ext cx="1828800" cy="457200"/>
          </a:xfrm>
          <a:prstGeom prst="rect">
            <a:avLst/>
          </a:prstGeom>
          <a:solidFill>
            <a:srgbClr val="334155"/>
          </a:solidFill>
          <a:ln/>
        </p:spPr>
        <p:txBody>
          <a:bodyPr/>
          <a:lstStyle/>
          <a:p>
            <a:endParaRPr lang="en-US"/>
          </a:p>
        </p:txBody>
      </p:sp>
      <p:sp>
        <p:nvSpPr>
          <p:cNvPr id="27" name="Text 25"/>
          <p:cNvSpPr/>
          <p:nvPr/>
        </p:nvSpPr>
        <p:spPr>
          <a:xfrm>
            <a:off x="1188720" y="1371600"/>
            <a:ext cx="182880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Internet</a:t>
            </a:r>
            <a:endParaRPr lang="en-US" sz="1100" dirty="0"/>
          </a:p>
        </p:txBody>
      </p:sp>
      <p:sp>
        <p:nvSpPr>
          <p:cNvPr id="28" name="Shape 26"/>
          <p:cNvSpPr/>
          <p:nvPr/>
        </p:nvSpPr>
        <p:spPr>
          <a:xfrm>
            <a:off x="3291840" y="1371600"/>
            <a:ext cx="1280160" cy="457200"/>
          </a:xfrm>
          <a:prstGeom prst="rect">
            <a:avLst/>
          </a:prstGeom>
          <a:solidFill>
            <a:srgbClr val="7F1D1D"/>
          </a:solidFill>
          <a:ln/>
        </p:spPr>
        <p:txBody>
          <a:bodyPr/>
          <a:lstStyle/>
          <a:p>
            <a:endParaRPr lang="en-US"/>
          </a:p>
        </p:txBody>
      </p:sp>
      <p:sp>
        <p:nvSpPr>
          <p:cNvPr id="29" name="Text 27"/>
          <p:cNvSpPr/>
          <p:nvPr/>
        </p:nvSpPr>
        <p:spPr>
          <a:xfrm>
            <a:off x="3291840" y="1371600"/>
            <a:ext cx="1280160" cy="4572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185.244.41.29</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Malware Source</a:t>
            </a:r>
            <a:endParaRPr lang="en-US" sz="700" dirty="0"/>
          </a:p>
        </p:txBody>
      </p:sp>
      <p:sp>
        <p:nvSpPr>
          <p:cNvPr id="30" name="Shape 28"/>
          <p:cNvSpPr/>
          <p:nvPr/>
        </p:nvSpPr>
        <p:spPr>
          <a:xfrm>
            <a:off x="2103120" y="1828800"/>
            <a:ext cx="0" cy="365760"/>
          </a:xfrm>
          <a:prstGeom prst="line">
            <a:avLst/>
          </a:prstGeom>
          <a:noFill/>
          <a:ln w="19050">
            <a:solidFill>
              <a:srgbClr val="8899AA"/>
            </a:solidFill>
            <a:prstDash val="solid"/>
          </a:ln>
        </p:spPr>
        <p:txBody>
          <a:bodyPr/>
          <a:lstStyle/>
          <a:p>
            <a:endParaRPr lang="en-US"/>
          </a:p>
        </p:txBody>
      </p:sp>
      <p:sp>
        <p:nvSpPr>
          <p:cNvPr id="31" name="Shape 29"/>
          <p:cNvSpPr/>
          <p:nvPr/>
        </p:nvSpPr>
        <p:spPr>
          <a:xfrm>
            <a:off x="1188720" y="2194560"/>
            <a:ext cx="1828800" cy="457200"/>
          </a:xfrm>
          <a:prstGeom prst="rect">
            <a:avLst/>
          </a:prstGeom>
          <a:solidFill>
            <a:srgbClr val="1E3A5F"/>
          </a:solidFill>
          <a:ln/>
        </p:spPr>
        <p:txBody>
          <a:bodyPr/>
          <a:lstStyle/>
          <a:p>
            <a:endParaRPr lang="en-US"/>
          </a:p>
        </p:txBody>
      </p:sp>
      <p:sp>
        <p:nvSpPr>
          <p:cNvPr id="32" name="Text 30"/>
          <p:cNvSpPr/>
          <p:nvPr/>
        </p:nvSpPr>
        <p:spPr>
          <a:xfrm>
            <a:off x="1188720" y="2194560"/>
            <a:ext cx="1828800" cy="45720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Router / Gateway</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10.8.19.1</a:t>
            </a:r>
            <a:endParaRPr lang="en-US" sz="900" dirty="0"/>
          </a:p>
        </p:txBody>
      </p:sp>
      <p:sp>
        <p:nvSpPr>
          <p:cNvPr id="33" name="Shape 31"/>
          <p:cNvSpPr/>
          <p:nvPr/>
        </p:nvSpPr>
        <p:spPr>
          <a:xfrm>
            <a:off x="2103120" y="2651760"/>
            <a:ext cx="0" cy="365760"/>
          </a:xfrm>
          <a:prstGeom prst="line">
            <a:avLst/>
          </a:prstGeom>
          <a:noFill/>
          <a:ln w="19050">
            <a:solidFill>
              <a:srgbClr val="8899AA"/>
            </a:solidFill>
            <a:prstDash val="solid"/>
          </a:ln>
        </p:spPr>
        <p:txBody>
          <a:bodyPr/>
          <a:lstStyle/>
          <a:p>
            <a:endParaRPr lang="en-US"/>
          </a:p>
        </p:txBody>
      </p:sp>
      <p:sp>
        <p:nvSpPr>
          <p:cNvPr id="34" name="Shape 32"/>
          <p:cNvSpPr/>
          <p:nvPr/>
        </p:nvSpPr>
        <p:spPr>
          <a:xfrm>
            <a:off x="914400" y="3017520"/>
            <a:ext cx="2377440" cy="640080"/>
          </a:xfrm>
          <a:prstGeom prst="rect">
            <a:avLst/>
          </a:prstGeom>
          <a:solidFill>
            <a:srgbClr val="0E4429"/>
          </a:solidFill>
          <a:ln/>
        </p:spPr>
        <p:txBody>
          <a:bodyPr/>
          <a:lstStyle/>
          <a:p>
            <a:endParaRPr lang="en-US"/>
          </a:p>
        </p:txBody>
      </p:sp>
      <p:sp>
        <p:nvSpPr>
          <p:cNvPr id="35" name="Text 33"/>
          <p:cNvSpPr/>
          <p:nvPr/>
        </p:nvSpPr>
        <p:spPr>
          <a:xfrm>
            <a:off x="914400" y="3017520"/>
            <a:ext cx="2377440" cy="64008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DESKTOP-M1TFHB6</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10.8.19.101</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Windows 10 Pro</a:t>
            </a:r>
            <a:endParaRPr lang="en-US" sz="900" dirty="0"/>
          </a:p>
        </p:txBody>
      </p:sp>
      <p:sp>
        <p:nvSpPr>
          <p:cNvPr id="36" name="Shape 34"/>
          <p:cNvSpPr/>
          <p:nvPr/>
        </p:nvSpPr>
        <p:spPr>
          <a:xfrm>
            <a:off x="3291840" y="2194560"/>
            <a:ext cx="1280160" cy="457200"/>
          </a:xfrm>
          <a:prstGeom prst="rect">
            <a:avLst/>
          </a:prstGeom>
          <a:solidFill>
            <a:srgbClr val="7F1D1D"/>
          </a:solidFill>
          <a:ln/>
        </p:spPr>
        <p:txBody>
          <a:bodyPr/>
          <a:lstStyle/>
          <a:p>
            <a:endParaRPr lang="en-US"/>
          </a:p>
        </p:txBody>
      </p:sp>
      <p:sp>
        <p:nvSpPr>
          <p:cNvPr id="37" name="Text 35"/>
          <p:cNvSpPr/>
          <p:nvPr/>
        </p:nvSpPr>
        <p:spPr>
          <a:xfrm>
            <a:off x="3291840" y="2194560"/>
            <a:ext cx="1280160" cy="4572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103.148.41.195</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Primary C2</a:t>
            </a:r>
            <a:endParaRPr lang="en-US" sz="700" dirty="0"/>
          </a:p>
        </p:txBody>
      </p:sp>
      <p:sp>
        <p:nvSpPr>
          <p:cNvPr id="38" name="Shape 36"/>
          <p:cNvSpPr/>
          <p:nvPr/>
        </p:nvSpPr>
        <p:spPr>
          <a:xfrm>
            <a:off x="3291840" y="2834640"/>
            <a:ext cx="1280160" cy="457200"/>
          </a:xfrm>
          <a:prstGeom prst="rect">
            <a:avLst/>
          </a:prstGeom>
          <a:solidFill>
            <a:srgbClr val="7F1D1D"/>
          </a:solidFill>
          <a:ln/>
        </p:spPr>
        <p:txBody>
          <a:bodyPr/>
          <a:lstStyle/>
          <a:p>
            <a:endParaRPr lang="en-US"/>
          </a:p>
        </p:txBody>
      </p:sp>
      <p:sp>
        <p:nvSpPr>
          <p:cNvPr id="39" name="Text 37"/>
          <p:cNvSpPr/>
          <p:nvPr/>
        </p:nvSpPr>
        <p:spPr>
          <a:xfrm>
            <a:off x="3291840" y="2834640"/>
            <a:ext cx="1280160" cy="4572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46.99.175.149</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Secondary C2</a:t>
            </a:r>
            <a:endParaRPr lang="en-US" sz="700" dirty="0"/>
          </a:p>
        </p:txBody>
      </p:sp>
      <p:sp>
        <p:nvSpPr>
          <p:cNvPr id="40" name="Shape 38"/>
          <p:cNvSpPr/>
          <p:nvPr/>
        </p:nvSpPr>
        <p:spPr>
          <a:xfrm>
            <a:off x="3291840" y="3474720"/>
            <a:ext cx="1280160" cy="457200"/>
          </a:xfrm>
          <a:prstGeom prst="rect">
            <a:avLst/>
          </a:prstGeom>
          <a:solidFill>
            <a:srgbClr val="7F1D1D"/>
          </a:solidFill>
          <a:ln/>
        </p:spPr>
        <p:txBody>
          <a:bodyPr/>
          <a:lstStyle/>
          <a:p>
            <a:endParaRPr lang="en-US"/>
          </a:p>
        </p:txBody>
      </p:sp>
      <p:sp>
        <p:nvSpPr>
          <p:cNvPr id="41" name="Text 39"/>
          <p:cNvSpPr/>
          <p:nvPr/>
        </p:nvSpPr>
        <p:spPr>
          <a:xfrm>
            <a:off x="3291840" y="3474720"/>
            <a:ext cx="1280160" cy="457200"/>
          </a:xfrm>
          <a:prstGeom prst="rect">
            <a:avLst/>
          </a:prstGeom>
          <a:noFill/>
          <a:ln/>
        </p:spPr>
        <p:txBody>
          <a:bodyPr wrap="square" lIns="0" tIns="0" rIns="0" bIns="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182.253.210.130</a:t>
            </a:r>
            <a:endParaRPr lang="en-US" sz="700" dirty="0"/>
          </a:p>
          <a:p>
            <a:pPr marL="0" indent="0" algn="ctr">
              <a:buNone/>
            </a:pPr>
            <a:r>
              <a:rPr lang="en-US" sz="700" dirty="0">
                <a:solidFill>
                  <a:srgbClr val="FFFFFF"/>
                </a:solidFill>
                <a:latin typeface="Calibri" pitchFamily="34" charset="0"/>
                <a:ea typeface="Calibri" pitchFamily="34" charset="-122"/>
                <a:cs typeface="Calibri" pitchFamily="34" charset="-120"/>
              </a:rPr>
              <a:t>Tertiary C2</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Methodology</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Analytical process used to reconstruct the attack</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7" name="Shape 5"/>
          <p:cNvSpPr/>
          <p:nvPr/>
        </p:nvSpPr>
        <p:spPr>
          <a:xfrm>
            <a:off x="548640" y="1143000"/>
            <a:ext cx="4114800" cy="1051560"/>
          </a:xfrm>
          <a:prstGeom prst="rect">
            <a:avLst/>
          </a:prstGeom>
          <a:solidFill>
            <a:srgbClr val="1A2536"/>
          </a:solidFill>
          <a:ln/>
        </p:spPr>
        <p:txBody>
          <a:bodyPr/>
          <a:lstStyle/>
          <a:p>
            <a:endParaRPr lang="en-US"/>
          </a:p>
        </p:txBody>
      </p:sp>
      <p:sp>
        <p:nvSpPr>
          <p:cNvPr id="8" name="Shape 6"/>
          <p:cNvSpPr/>
          <p:nvPr/>
        </p:nvSpPr>
        <p:spPr>
          <a:xfrm>
            <a:off x="685800" y="1280160"/>
            <a:ext cx="320040" cy="320040"/>
          </a:xfrm>
          <a:prstGeom prst="ellipse">
            <a:avLst/>
          </a:prstGeom>
          <a:solidFill>
            <a:srgbClr val="0891B2"/>
          </a:solidFill>
          <a:ln/>
        </p:spPr>
        <p:txBody>
          <a:bodyPr/>
          <a:lstStyle/>
          <a:p>
            <a:endParaRPr lang="en-US"/>
          </a:p>
        </p:txBody>
      </p:sp>
      <p:sp>
        <p:nvSpPr>
          <p:cNvPr id="9" name="Text 7"/>
          <p:cNvSpPr/>
          <p:nvPr/>
        </p:nvSpPr>
        <p:spPr>
          <a:xfrm>
            <a:off x="685800" y="128016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143000" y="1252728"/>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Alert Triage</a:t>
            </a:r>
            <a:endParaRPr lang="en-US" sz="1200" dirty="0"/>
          </a:p>
        </p:txBody>
      </p:sp>
      <p:sp>
        <p:nvSpPr>
          <p:cNvPr id="11" name="Text 9"/>
          <p:cNvSpPr/>
          <p:nvPr/>
        </p:nvSpPr>
        <p:spPr>
          <a:xfrm>
            <a:off x="1143000" y="1527048"/>
            <a:ext cx="3291840" cy="594360"/>
          </a:xfrm>
          <a:prstGeom prst="rect">
            <a:avLst/>
          </a:prstGeom>
          <a:noFill/>
          <a:ln/>
        </p:spPr>
        <p:txBody>
          <a:bodyPr wrap="square" lIns="0" tIns="0" rIns="0" bIns="0" rtlCol="0" anchor="ctr"/>
          <a:lstStyle/>
          <a:p>
            <a:pPr marL="0" indent="0">
              <a:lnSpc>
                <a:spcPct val="115000"/>
              </a:lnSpc>
              <a:buNone/>
            </a:pPr>
            <a:r>
              <a:rPr lang="en-US" sz="900" dirty="0">
                <a:solidFill>
                  <a:srgbClr val="8899AA"/>
                </a:solidFill>
                <a:latin typeface="Calibri" pitchFamily="34" charset="0"/>
                <a:ea typeface="Calibri" pitchFamily="34" charset="-122"/>
                <a:cs typeface="Calibri" pitchFamily="34" charset="-120"/>
              </a:rPr>
              <a:t>Reviewed Security Onion Alerts dashboard. Grouped alerts by source IP and rule name. Identified Suricata signatures for PE download, ipconfig/nltest exfiltration, external IP lookup, and OpenSSL Demo CA as starting points.</a:t>
            </a:r>
            <a:endParaRPr lang="en-US" sz="900" dirty="0"/>
          </a:p>
        </p:txBody>
      </p:sp>
      <p:sp>
        <p:nvSpPr>
          <p:cNvPr id="12" name="Shape 10"/>
          <p:cNvSpPr/>
          <p:nvPr/>
        </p:nvSpPr>
        <p:spPr>
          <a:xfrm>
            <a:off x="548640" y="2331720"/>
            <a:ext cx="4114800" cy="1051560"/>
          </a:xfrm>
          <a:prstGeom prst="rect">
            <a:avLst/>
          </a:prstGeom>
          <a:solidFill>
            <a:srgbClr val="1A2536"/>
          </a:solidFill>
          <a:ln/>
        </p:spPr>
        <p:txBody>
          <a:bodyPr/>
          <a:lstStyle/>
          <a:p>
            <a:endParaRPr lang="en-US"/>
          </a:p>
        </p:txBody>
      </p:sp>
      <p:sp>
        <p:nvSpPr>
          <p:cNvPr id="13" name="Shape 11"/>
          <p:cNvSpPr/>
          <p:nvPr/>
        </p:nvSpPr>
        <p:spPr>
          <a:xfrm>
            <a:off x="685800" y="2468880"/>
            <a:ext cx="320040" cy="320040"/>
          </a:xfrm>
          <a:prstGeom prst="ellipse">
            <a:avLst/>
          </a:prstGeom>
          <a:solidFill>
            <a:srgbClr val="0891B2"/>
          </a:solidFill>
          <a:ln/>
        </p:spPr>
        <p:txBody>
          <a:bodyPr/>
          <a:lstStyle/>
          <a:p>
            <a:endParaRPr lang="en-US"/>
          </a:p>
        </p:txBody>
      </p:sp>
      <p:sp>
        <p:nvSpPr>
          <p:cNvPr id="14" name="Text 12"/>
          <p:cNvSpPr/>
          <p:nvPr/>
        </p:nvSpPr>
        <p:spPr>
          <a:xfrm>
            <a:off x="685800" y="246888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143000" y="2441448"/>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OSINT Validation</a:t>
            </a:r>
            <a:endParaRPr lang="en-US" sz="1200" dirty="0"/>
          </a:p>
        </p:txBody>
      </p:sp>
      <p:sp>
        <p:nvSpPr>
          <p:cNvPr id="16" name="Text 14"/>
          <p:cNvSpPr/>
          <p:nvPr/>
        </p:nvSpPr>
        <p:spPr>
          <a:xfrm>
            <a:off x="1143000" y="2715768"/>
            <a:ext cx="3291840" cy="594360"/>
          </a:xfrm>
          <a:prstGeom prst="rect">
            <a:avLst/>
          </a:prstGeom>
          <a:noFill/>
          <a:ln/>
        </p:spPr>
        <p:txBody>
          <a:bodyPr wrap="square" lIns="0" tIns="0" rIns="0" bIns="0" rtlCol="0" anchor="ctr"/>
          <a:lstStyle/>
          <a:p>
            <a:pPr marL="0" indent="0">
              <a:lnSpc>
                <a:spcPct val="115000"/>
              </a:lnSpc>
              <a:buNone/>
            </a:pPr>
            <a:r>
              <a:rPr lang="en-US" sz="900" dirty="0">
                <a:solidFill>
                  <a:srgbClr val="8899AA"/>
                </a:solidFill>
                <a:latin typeface="Calibri" pitchFamily="34" charset="0"/>
                <a:ea typeface="Calibri" pitchFamily="34" charset="-122"/>
                <a:cs typeface="Calibri" pitchFamily="34" charset="-120"/>
              </a:rPr>
              <a:t>Queried each IOC (IPs, domains, file hashes) in VirusTotal. Obtained independent vendor verdicts across 72-94 engines to confirm or rule out false positives.</a:t>
            </a:r>
            <a:endParaRPr lang="en-US" sz="900" dirty="0"/>
          </a:p>
        </p:txBody>
      </p:sp>
      <p:sp>
        <p:nvSpPr>
          <p:cNvPr id="17" name="Shape 15"/>
          <p:cNvSpPr/>
          <p:nvPr/>
        </p:nvSpPr>
        <p:spPr>
          <a:xfrm>
            <a:off x="548640" y="3520440"/>
            <a:ext cx="4114800" cy="1051560"/>
          </a:xfrm>
          <a:prstGeom prst="rect">
            <a:avLst/>
          </a:prstGeom>
          <a:solidFill>
            <a:srgbClr val="1A2536"/>
          </a:solidFill>
          <a:ln/>
        </p:spPr>
        <p:txBody>
          <a:bodyPr/>
          <a:lstStyle/>
          <a:p>
            <a:endParaRPr lang="en-US"/>
          </a:p>
        </p:txBody>
      </p:sp>
      <p:sp>
        <p:nvSpPr>
          <p:cNvPr id="18" name="Shape 16"/>
          <p:cNvSpPr/>
          <p:nvPr/>
        </p:nvSpPr>
        <p:spPr>
          <a:xfrm>
            <a:off x="685800" y="3657600"/>
            <a:ext cx="320040" cy="320040"/>
          </a:xfrm>
          <a:prstGeom prst="ellipse">
            <a:avLst/>
          </a:prstGeom>
          <a:solidFill>
            <a:srgbClr val="0891B2"/>
          </a:solidFill>
          <a:ln/>
        </p:spPr>
        <p:txBody>
          <a:bodyPr/>
          <a:lstStyle/>
          <a:p>
            <a:endParaRPr lang="en-US"/>
          </a:p>
        </p:txBody>
      </p:sp>
      <p:sp>
        <p:nvSpPr>
          <p:cNvPr id="19" name="Text 17"/>
          <p:cNvSpPr/>
          <p:nvPr/>
        </p:nvSpPr>
        <p:spPr>
          <a:xfrm>
            <a:off x="685800" y="365760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143000" y="3630168"/>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PCAP Deep-Dive</a:t>
            </a:r>
            <a:endParaRPr lang="en-US" sz="1200" dirty="0"/>
          </a:p>
        </p:txBody>
      </p:sp>
      <p:sp>
        <p:nvSpPr>
          <p:cNvPr id="21" name="Text 19"/>
          <p:cNvSpPr/>
          <p:nvPr/>
        </p:nvSpPr>
        <p:spPr>
          <a:xfrm>
            <a:off x="1143000" y="3904488"/>
            <a:ext cx="3291840" cy="594360"/>
          </a:xfrm>
          <a:prstGeom prst="rect">
            <a:avLst/>
          </a:prstGeom>
          <a:noFill/>
          <a:ln/>
        </p:spPr>
        <p:txBody>
          <a:bodyPr wrap="square" lIns="0" tIns="0" rIns="0" bIns="0" rtlCol="0" anchor="ctr"/>
          <a:lstStyle/>
          <a:p>
            <a:pPr marL="0" indent="0">
              <a:lnSpc>
                <a:spcPct val="115000"/>
              </a:lnSpc>
              <a:buNone/>
            </a:pPr>
            <a:r>
              <a:rPr lang="en-US" sz="900" dirty="0">
                <a:solidFill>
                  <a:srgbClr val="8899AA"/>
                </a:solidFill>
                <a:latin typeface="Calibri" pitchFamily="34" charset="0"/>
                <a:ea typeface="Calibri" pitchFamily="34" charset="-122"/>
                <a:cs typeface="Calibri" pitchFamily="34" charset="-120"/>
              </a:rPr>
              <a:t>Applied Wireshark display filters to isolate malicious traffic. Reconstructed HTTP streams to identify the disguised PDF delivery, curl user agent, and C2 POST data containing reconnaissance commands.</a:t>
            </a:r>
            <a:endParaRPr lang="en-US" sz="900" dirty="0"/>
          </a:p>
        </p:txBody>
      </p:sp>
      <p:sp>
        <p:nvSpPr>
          <p:cNvPr id="22" name="Shape 20"/>
          <p:cNvSpPr/>
          <p:nvPr/>
        </p:nvSpPr>
        <p:spPr>
          <a:xfrm>
            <a:off x="4846320" y="1143000"/>
            <a:ext cx="4114800" cy="1051560"/>
          </a:xfrm>
          <a:prstGeom prst="rect">
            <a:avLst/>
          </a:prstGeom>
          <a:solidFill>
            <a:srgbClr val="1A2536"/>
          </a:solidFill>
          <a:ln/>
        </p:spPr>
        <p:txBody>
          <a:bodyPr/>
          <a:lstStyle/>
          <a:p>
            <a:endParaRPr lang="en-US"/>
          </a:p>
        </p:txBody>
      </p:sp>
      <p:sp>
        <p:nvSpPr>
          <p:cNvPr id="23" name="Shape 21"/>
          <p:cNvSpPr/>
          <p:nvPr/>
        </p:nvSpPr>
        <p:spPr>
          <a:xfrm>
            <a:off x="4983480" y="1280160"/>
            <a:ext cx="320040" cy="320040"/>
          </a:xfrm>
          <a:prstGeom prst="ellipse">
            <a:avLst/>
          </a:prstGeom>
          <a:solidFill>
            <a:srgbClr val="0891B2"/>
          </a:solidFill>
          <a:ln/>
        </p:spPr>
        <p:txBody>
          <a:bodyPr/>
          <a:lstStyle/>
          <a:p>
            <a:endParaRPr lang="en-US"/>
          </a:p>
        </p:txBody>
      </p:sp>
      <p:sp>
        <p:nvSpPr>
          <p:cNvPr id="24" name="Text 22"/>
          <p:cNvSpPr/>
          <p:nvPr/>
        </p:nvSpPr>
        <p:spPr>
          <a:xfrm>
            <a:off x="4983480" y="128016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5440680" y="1252728"/>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Host Enumeration</a:t>
            </a:r>
            <a:endParaRPr lang="en-US" sz="1200" dirty="0"/>
          </a:p>
        </p:txBody>
      </p:sp>
      <p:sp>
        <p:nvSpPr>
          <p:cNvPr id="26" name="Text 24"/>
          <p:cNvSpPr/>
          <p:nvPr/>
        </p:nvSpPr>
        <p:spPr>
          <a:xfrm>
            <a:off x="5440680" y="1527048"/>
            <a:ext cx="3291840" cy="594360"/>
          </a:xfrm>
          <a:prstGeom prst="rect">
            <a:avLst/>
          </a:prstGeom>
          <a:noFill/>
          <a:ln/>
        </p:spPr>
        <p:txBody>
          <a:bodyPr wrap="square" lIns="0" tIns="0" rIns="0" bIns="0" rtlCol="0" anchor="ctr"/>
          <a:lstStyle/>
          <a:p>
            <a:pPr marL="0" indent="0">
              <a:lnSpc>
                <a:spcPct val="115000"/>
              </a:lnSpc>
              <a:buNone/>
            </a:pPr>
            <a:r>
              <a:rPr lang="en-US" sz="900" dirty="0">
                <a:solidFill>
                  <a:srgbClr val="8899AA"/>
                </a:solidFill>
                <a:latin typeface="Calibri" pitchFamily="34" charset="0"/>
                <a:ea typeface="Calibri" pitchFamily="34" charset="-122"/>
                <a:cs typeface="Calibri" pitchFamily="34" charset="-120"/>
              </a:rPr>
              <a:t>Loaded PCAP into NetworkMiner to identify hostnames, OS fingerprints, MAC addresses, extracted files, and TLS certificates from C2 servers.</a:t>
            </a:r>
            <a:endParaRPr lang="en-US" sz="900" dirty="0"/>
          </a:p>
        </p:txBody>
      </p:sp>
      <p:sp>
        <p:nvSpPr>
          <p:cNvPr id="27" name="Shape 25"/>
          <p:cNvSpPr/>
          <p:nvPr/>
        </p:nvSpPr>
        <p:spPr>
          <a:xfrm>
            <a:off x="4846320" y="2331720"/>
            <a:ext cx="4114800" cy="1051560"/>
          </a:xfrm>
          <a:prstGeom prst="rect">
            <a:avLst/>
          </a:prstGeom>
          <a:solidFill>
            <a:srgbClr val="1A2536"/>
          </a:solidFill>
          <a:ln/>
        </p:spPr>
        <p:txBody>
          <a:bodyPr/>
          <a:lstStyle/>
          <a:p>
            <a:endParaRPr lang="en-US"/>
          </a:p>
        </p:txBody>
      </p:sp>
      <p:sp>
        <p:nvSpPr>
          <p:cNvPr id="28" name="Shape 26"/>
          <p:cNvSpPr/>
          <p:nvPr/>
        </p:nvSpPr>
        <p:spPr>
          <a:xfrm>
            <a:off x="4983480" y="2468880"/>
            <a:ext cx="320040" cy="320040"/>
          </a:xfrm>
          <a:prstGeom prst="ellipse">
            <a:avLst/>
          </a:prstGeom>
          <a:solidFill>
            <a:srgbClr val="0891B2"/>
          </a:solidFill>
          <a:ln/>
        </p:spPr>
        <p:txBody>
          <a:bodyPr/>
          <a:lstStyle/>
          <a:p>
            <a:endParaRPr lang="en-US"/>
          </a:p>
        </p:txBody>
      </p:sp>
      <p:sp>
        <p:nvSpPr>
          <p:cNvPr id="29" name="Text 27"/>
          <p:cNvSpPr/>
          <p:nvPr/>
        </p:nvSpPr>
        <p:spPr>
          <a:xfrm>
            <a:off x="4983480" y="246888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5440680" y="2441448"/>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IOC Extraction</a:t>
            </a:r>
            <a:endParaRPr lang="en-US" sz="1200" dirty="0"/>
          </a:p>
        </p:txBody>
      </p:sp>
      <p:sp>
        <p:nvSpPr>
          <p:cNvPr id="31" name="Text 29"/>
          <p:cNvSpPr/>
          <p:nvPr/>
        </p:nvSpPr>
        <p:spPr>
          <a:xfrm>
            <a:off x="5440680" y="2715768"/>
            <a:ext cx="3291840" cy="594360"/>
          </a:xfrm>
          <a:prstGeom prst="rect">
            <a:avLst/>
          </a:prstGeom>
          <a:noFill/>
          <a:ln/>
        </p:spPr>
        <p:txBody>
          <a:bodyPr wrap="square" lIns="0" tIns="0" rIns="0" bIns="0" rtlCol="0" anchor="ctr"/>
          <a:lstStyle/>
          <a:p>
            <a:pPr marL="0" indent="0">
              <a:lnSpc>
                <a:spcPct val="115000"/>
              </a:lnSpc>
              <a:buNone/>
            </a:pPr>
            <a:r>
              <a:rPr lang="en-US" sz="900" dirty="0">
                <a:solidFill>
                  <a:srgbClr val="8899AA"/>
                </a:solidFill>
                <a:latin typeface="Calibri" pitchFamily="34" charset="0"/>
                <a:ea typeface="Calibri" pitchFamily="34" charset="-122"/>
                <a:cs typeface="Calibri" pitchFamily="34" charset="-120"/>
              </a:rPr>
              <a:t>Extracted all IP addresses, file hashes, hostnames, user agents, certificate details, and MITRE ATT&amp;CK technique mappings from correlated evidence across all tools.</a:t>
            </a:r>
            <a:endParaRPr lang="en-US" sz="900" dirty="0"/>
          </a:p>
        </p:txBody>
      </p:sp>
      <p:sp>
        <p:nvSpPr>
          <p:cNvPr id="32" name="Shape 30"/>
          <p:cNvSpPr/>
          <p:nvPr/>
        </p:nvSpPr>
        <p:spPr>
          <a:xfrm>
            <a:off x="4846320" y="3520440"/>
            <a:ext cx="4114800" cy="1051560"/>
          </a:xfrm>
          <a:prstGeom prst="rect">
            <a:avLst/>
          </a:prstGeom>
          <a:solidFill>
            <a:srgbClr val="1A2536"/>
          </a:solidFill>
          <a:ln/>
        </p:spPr>
        <p:txBody>
          <a:bodyPr/>
          <a:lstStyle/>
          <a:p>
            <a:endParaRPr lang="en-US"/>
          </a:p>
        </p:txBody>
      </p:sp>
      <p:sp>
        <p:nvSpPr>
          <p:cNvPr id="33" name="Shape 31"/>
          <p:cNvSpPr/>
          <p:nvPr/>
        </p:nvSpPr>
        <p:spPr>
          <a:xfrm>
            <a:off x="4983480" y="3657600"/>
            <a:ext cx="320040" cy="320040"/>
          </a:xfrm>
          <a:prstGeom prst="ellipse">
            <a:avLst/>
          </a:prstGeom>
          <a:solidFill>
            <a:srgbClr val="0891B2"/>
          </a:solidFill>
          <a:ln/>
        </p:spPr>
        <p:txBody>
          <a:bodyPr/>
          <a:lstStyle/>
          <a:p>
            <a:endParaRPr lang="en-US"/>
          </a:p>
        </p:txBody>
      </p:sp>
      <p:sp>
        <p:nvSpPr>
          <p:cNvPr id="34" name="Text 32"/>
          <p:cNvSpPr/>
          <p:nvPr/>
        </p:nvSpPr>
        <p:spPr>
          <a:xfrm>
            <a:off x="4983480" y="365760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3"/>
          <p:cNvSpPr/>
          <p:nvPr/>
        </p:nvSpPr>
        <p:spPr>
          <a:xfrm>
            <a:off x="5440680" y="3630168"/>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Timeline Construction</a:t>
            </a:r>
            <a:endParaRPr lang="en-US" sz="1200" dirty="0"/>
          </a:p>
        </p:txBody>
      </p:sp>
      <p:sp>
        <p:nvSpPr>
          <p:cNvPr id="36" name="Text 34"/>
          <p:cNvSpPr/>
          <p:nvPr/>
        </p:nvSpPr>
        <p:spPr>
          <a:xfrm>
            <a:off x="5440680" y="3904488"/>
            <a:ext cx="3291840" cy="594360"/>
          </a:xfrm>
          <a:prstGeom prst="rect">
            <a:avLst/>
          </a:prstGeom>
          <a:noFill/>
          <a:ln/>
        </p:spPr>
        <p:txBody>
          <a:bodyPr wrap="square" lIns="0" tIns="0" rIns="0" bIns="0" rtlCol="0" anchor="ctr"/>
          <a:lstStyle/>
          <a:p>
            <a:pPr marL="0" indent="0">
              <a:lnSpc>
                <a:spcPct val="115000"/>
              </a:lnSpc>
              <a:buNone/>
            </a:pPr>
            <a:r>
              <a:rPr lang="en-US" sz="900" dirty="0">
                <a:solidFill>
                  <a:srgbClr val="8899AA"/>
                </a:solidFill>
                <a:latin typeface="Calibri" pitchFamily="34" charset="0"/>
                <a:ea typeface="Calibri" pitchFamily="34" charset="-122"/>
                <a:cs typeface="Calibri" pitchFamily="34" charset="-120"/>
              </a:rPr>
              <a:t>Cross-referenced packet timestamps, DNS queries, HTTP requests, and IDS alerts to build a precise UTC timeline from initial delivery through data exfiltration and persistent beaconing.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Timeline of Events</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All times UTC, 2021-08-19  |  Capture window: 19:40 to 20:24+ UTC</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288036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32004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Time (UTC)</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563E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Stage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563E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Source IP</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563E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Event Description</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563E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Significance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563EB"/>
                    </a:solidFill>
                  </a:tcPr>
                </a:tc>
                <a:extLst>
                  <a:ext uri="{0D108BD9-81ED-4DB2-BD59-A6C34878D82A}">
                    <a16:rowId xmlns:a16="http://schemas.microsoft.com/office/drawing/2014/main" val="10000"/>
                  </a:ext>
                </a:extLst>
              </a:tr>
              <a:tr h="36576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19:40:36</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Initial Access</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10.8.19.101</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HTTP GET /ooiwy.pdf via curl from 185.244.41.29</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Disguised DLL delivered as PDF</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19:40:57</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TLS Initiation</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10.8.19.101</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Encrypted session to 46.99.175.149:443</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First C2 callback (self-signed cert)</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19:40:58</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Recon Prep</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10.8.19.101</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DNS + HTTP to api.ipify.org</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External IP discovery</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19:44:17</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C2 Beaconing</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10.8.19.101</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HTTPS to 103.148.41.195:443</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Primary TrickBot C2 channel</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19:45:38</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Data Exfil</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10.8.19.101</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POST: proclist, systeminfo, ipconfig, nltest</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System/network recon exfiltrated</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19:45:43</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C2 Response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103.148.41.195</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TrickBot check-in response (text/plain)</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Bidirectional C2 control confirmed</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19:50:18+</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Persistence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10.8.19.101</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Repeated OpenSSL Demo CA TLS to 3 C2 IPs</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Ongoing beaconing with self-signed certs</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Indicators of Compromise (IOCs)</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All IOCs extracted from PCAP and validated via VirusTotal</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5669280" cy="2209800"/>
        </p:xfrm>
        <a:graphic>
          <a:graphicData uri="http://schemas.openxmlformats.org/drawingml/2006/table">
            <a:tbl>
              <a:tblPr/>
              <a:tblGrid>
                <a:gridCol w="10972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Type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563E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Indicator</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563E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Description / Relevance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563EB"/>
                    </a:solidFill>
                  </a:tcPr>
                </a:tc>
                <a:extLst>
                  <a:ext uri="{0D108BD9-81ED-4DB2-BD59-A6C34878D82A}">
                    <a16:rowId xmlns:a16="http://schemas.microsoft.com/office/drawing/2014/main" val="10000"/>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File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ooiwy.pdf (PE32 DLL)</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Disguised executable, 323kB, delivered via HTTP</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Hash (SHA256)</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f25a78009573...ae606404</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60/72 VT detections (RegistryDemo.EXE)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IP</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185.244.41.29</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Malware delivery server (Apache/Debian)</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IP</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103.148.41.195</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Primary C2 (AS 140076, BD), 1/94 VT</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IP</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46.99.175.149</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Secondary C2, 12/94 VT flagged</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IP</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182.253.210.130</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Tertiary C2, 11/94 VT flagged</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User-Agent</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curl/7.55.1</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Download agent (suspicious for PDF)</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User-Agent</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Ghost</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TrickBot C2 exfiltration agent</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Certificate</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Internet Widgits Pty Ltd</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tc>
                  <a:txBody>
                    <a:bodyPr/>
                    <a:lstStyle/>
                    <a:p>
                      <a:pPr marL="0" indent="0">
                        <a:buNone/>
                      </a:pPr>
                      <a:r>
                        <a:rPr lang="en-US" sz="850" dirty="0">
                          <a:solidFill>
                            <a:srgbClr val="CBD5E1"/>
                          </a:solidFill>
                          <a:latin typeface="Calibri" pitchFamily="34" charset="0"/>
                          <a:ea typeface="Calibri" pitchFamily="34" charset="-122"/>
                          <a:cs typeface="Calibri" pitchFamily="34" charset="-120"/>
                        </a:rPr>
                        <a:t>Self-signed cert on all C2 servers</a:t>
                      </a:r>
                      <a:endParaRPr lang="en-US" sz="850" dirty="0">
                        <a:latin typeface="Calibri" charset="0"/>
                        <a:ea typeface="Calibri" charset="0"/>
                        <a:cs typeface="Calibri"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Shape 5"/>
          <p:cNvSpPr/>
          <p:nvPr/>
        </p:nvSpPr>
        <p:spPr>
          <a:xfrm>
            <a:off x="6217920" y="1097280"/>
            <a:ext cx="2560320" cy="3566160"/>
          </a:xfrm>
          <a:prstGeom prst="rect">
            <a:avLst/>
          </a:prstGeom>
          <a:solidFill>
            <a:srgbClr val="1A2536"/>
          </a:solidFill>
          <a:ln/>
        </p:spPr>
        <p:txBody>
          <a:bodyPr/>
          <a:lstStyle/>
          <a:p>
            <a:endParaRPr lang="en-US"/>
          </a:p>
        </p:txBody>
      </p:sp>
      <p:sp>
        <p:nvSpPr>
          <p:cNvPr id="9" name="Text 6"/>
          <p:cNvSpPr/>
          <p:nvPr/>
        </p:nvSpPr>
        <p:spPr>
          <a:xfrm>
            <a:off x="6400800" y="1188720"/>
            <a:ext cx="21945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Additional IOCs</a:t>
            </a:r>
            <a:endParaRPr lang="en-US" sz="1200" dirty="0"/>
          </a:p>
        </p:txBody>
      </p:sp>
      <p:sp>
        <p:nvSpPr>
          <p:cNvPr id="10" name="Text 7"/>
          <p:cNvSpPr/>
          <p:nvPr/>
        </p:nvSpPr>
        <p:spPr>
          <a:xfrm>
            <a:off x="6400800" y="1554480"/>
            <a:ext cx="2194560" cy="164592"/>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Hostname:</a:t>
            </a:r>
            <a:endParaRPr lang="en-US" sz="900" dirty="0"/>
          </a:p>
        </p:txBody>
      </p:sp>
      <p:sp>
        <p:nvSpPr>
          <p:cNvPr id="11" name="Text 8"/>
          <p:cNvSpPr/>
          <p:nvPr/>
        </p:nvSpPr>
        <p:spPr>
          <a:xfrm>
            <a:off x="6400800" y="1719072"/>
            <a:ext cx="2194560" cy="146304"/>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DESKTOP-M1TFHB6</a:t>
            </a:r>
            <a:endParaRPr lang="en-US" sz="850" dirty="0"/>
          </a:p>
        </p:txBody>
      </p:sp>
      <p:sp>
        <p:nvSpPr>
          <p:cNvPr id="12" name="Text 9"/>
          <p:cNvSpPr/>
          <p:nvPr/>
        </p:nvSpPr>
        <p:spPr>
          <a:xfrm>
            <a:off x="6400800" y="1938528"/>
            <a:ext cx="2194560" cy="164592"/>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Domain:</a:t>
            </a:r>
            <a:endParaRPr lang="en-US" sz="900" dirty="0"/>
          </a:p>
        </p:txBody>
      </p:sp>
      <p:sp>
        <p:nvSpPr>
          <p:cNvPr id="13" name="Text 10"/>
          <p:cNvSpPr/>
          <p:nvPr/>
        </p:nvSpPr>
        <p:spPr>
          <a:xfrm>
            <a:off x="6400800" y="2103120"/>
            <a:ext cx="2194560" cy="146304"/>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fuzzylizards.com</a:t>
            </a:r>
            <a:endParaRPr lang="en-US" sz="850" dirty="0"/>
          </a:p>
        </p:txBody>
      </p:sp>
      <p:sp>
        <p:nvSpPr>
          <p:cNvPr id="14" name="Text 11"/>
          <p:cNvSpPr/>
          <p:nvPr/>
        </p:nvSpPr>
        <p:spPr>
          <a:xfrm>
            <a:off x="6400800" y="2322576"/>
            <a:ext cx="2194560" cy="164592"/>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User:</a:t>
            </a:r>
            <a:endParaRPr lang="en-US" sz="900" dirty="0"/>
          </a:p>
        </p:txBody>
      </p:sp>
      <p:sp>
        <p:nvSpPr>
          <p:cNvPr id="15" name="Text 12"/>
          <p:cNvSpPr/>
          <p:nvPr/>
        </p:nvSpPr>
        <p:spPr>
          <a:xfrm>
            <a:off x="6400800" y="2487168"/>
            <a:ext cx="2194560" cy="146304"/>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user1</a:t>
            </a:r>
            <a:endParaRPr lang="en-US" sz="850" dirty="0"/>
          </a:p>
        </p:txBody>
      </p:sp>
      <p:sp>
        <p:nvSpPr>
          <p:cNvPr id="16" name="Text 13"/>
          <p:cNvSpPr/>
          <p:nvPr/>
        </p:nvSpPr>
        <p:spPr>
          <a:xfrm>
            <a:off x="6400800" y="2706624"/>
            <a:ext cx="2194560" cy="164592"/>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Exfil Commands:</a:t>
            </a:r>
            <a:endParaRPr lang="en-US" sz="900" dirty="0"/>
          </a:p>
        </p:txBody>
      </p:sp>
      <p:sp>
        <p:nvSpPr>
          <p:cNvPr id="17" name="Text 14"/>
          <p:cNvSpPr/>
          <p:nvPr/>
        </p:nvSpPr>
        <p:spPr>
          <a:xfrm>
            <a:off x="6400800" y="2871216"/>
            <a:ext cx="2194560" cy="402336"/>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tasklist, systeminfo,</a:t>
            </a:r>
            <a:endParaRPr lang="en-US" sz="850" dirty="0"/>
          </a:p>
          <a:p>
            <a:pPr marL="0" indent="0">
              <a:buNone/>
            </a:pPr>
            <a:r>
              <a:rPr lang="en-US" sz="850" dirty="0">
                <a:solidFill>
                  <a:srgbClr val="CBD5E1"/>
                </a:solidFill>
                <a:latin typeface="Calibri" pitchFamily="34" charset="0"/>
                <a:ea typeface="Calibri" pitchFamily="34" charset="-122"/>
                <a:cs typeface="Calibri" pitchFamily="34" charset="-120"/>
              </a:rPr>
              <a:t>ipconfig /all, net config</a:t>
            </a:r>
            <a:endParaRPr lang="en-US" sz="850" dirty="0"/>
          </a:p>
          <a:p>
            <a:pPr marL="0" indent="0">
              <a:buNone/>
            </a:pPr>
            <a:r>
              <a:rPr lang="en-US" sz="850" dirty="0">
                <a:solidFill>
                  <a:srgbClr val="CBD5E1"/>
                </a:solidFill>
                <a:latin typeface="Calibri" pitchFamily="34" charset="0"/>
                <a:ea typeface="Calibri" pitchFamily="34" charset="-122"/>
                <a:cs typeface="Calibri" pitchFamily="34" charset="-120"/>
              </a:rPr>
              <a:t>workstation, nltest</a:t>
            </a:r>
            <a:endParaRPr lang="en-US" sz="850" dirty="0"/>
          </a:p>
        </p:txBody>
      </p:sp>
      <p:sp>
        <p:nvSpPr>
          <p:cNvPr id="18" name="Text 15"/>
          <p:cNvSpPr/>
          <p:nvPr/>
        </p:nvSpPr>
        <p:spPr>
          <a:xfrm>
            <a:off x="6400800" y="3346704"/>
            <a:ext cx="2194560" cy="164592"/>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MITRE:</a:t>
            </a:r>
            <a:endParaRPr lang="en-US" sz="900" dirty="0"/>
          </a:p>
        </p:txBody>
      </p:sp>
      <p:sp>
        <p:nvSpPr>
          <p:cNvPr id="19" name="Text 16"/>
          <p:cNvSpPr/>
          <p:nvPr/>
        </p:nvSpPr>
        <p:spPr>
          <a:xfrm>
            <a:off x="6400800" y="3511296"/>
            <a:ext cx="2194560" cy="658368"/>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T1566.001 Spearphishing</a:t>
            </a:r>
            <a:endParaRPr lang="en-US" sz="850" dirty="0"/>
          </a:p>
          <a:p>
            <a:pPr marL="0" indent="0">
              <a:buNone/>
            </a:pPr>
            <a:r>
              <a:rPr lang="en-US" sz="850" dirty="0">
                <a:solidFill>
                  <a:srgbClr val="CBD5E1"/>
                </a:solidFill>
                <a:latin typeface="Calibri" pitchFamily="34" charset="0"/>
                <a:ea typeface="Calibri" pitchFamily="34" charset="-122"/>
                <a:cs typeface="Calibri" pitchFamily="34" charset="-120"/>
              </a:rPr>
              <a:t>T1059 Command Execution</a:t>
            </a:r>
            <a:endParaRPr lang="en-US" sz="850" dirty="0"/>
          </a:p>
          <a:p>
            <a:pPr marL="0" indent="0">
              <a:buNone/>
            </a:pPr>
            <a:r>
              <a:rPr lang="en-US" sz="850" dirty="0">
                <a:solidFill>
                  <a:srgbClr val="CBD5E1"/>
                </a:solidFill>
                <a:latin typeface="Calibri" pitchFamily="34" charset="0"/>
                <a:ea typeface="Calibri" pitchFamily="34" charset="-122"/>
                <a:cs typeface="Calibri" pitchFamily="34" charset="-120"/>
              </a:rPr>
              <a:t>T1041 Exfil Over C2</a:t>
            </a:r>
            <a:endParaRPr lang="en-US" sz="850" dirty="0"/>
          </a:p>
          <a:p>
            <a:pPr marL="0" indent="0">
              <a:buNone/>
            </a:pPr>
            <a:r>
              <a:rPr lang="en-US" sz="850" dirty="0">
                <a:solidFill>
                  <a:srgbClr val="CBD5E1"/>
                </a:solidFill>
                <a:latin typeface="Calibri" pitchFamily="34" charset="0"/>
                <a:ea typeface="Calibri" pitchFamily="34" charset="-122"/>
                <a:cs typeface="Calibri" pitchFamily="34" charset="-120"/>
              </a:rPr>
              <a:t>T1071 App Layer Protocol</a:t>
            </a:r>
            <a:endParaRPr lang="en-US" sz="850" dirty="0"/>
          </a:p>
          <a:p>
            <a:pPr marL="0" indent="0">
              <a:buNone/>
            </a:pPr>
            <a:r>
              <a:rPr lang="en-US" sz="850" dirty="0">
                <a:solidFill>
                  <a:srgbClr val="CBD5E1"/>
                </a:solidFill>
                <a:latin typeface="Calibri" pitchFamily="34" charset="0"/>
                <a:ea typeface="Calibri" pitchFamily="34" charset="-122"/>
                <a:cs typeface="Calibri" pitchFamily="34" charset="-120"/>
              </a:rPr>
              <a:t>T1573 Encrypted Channel</a:t>
            </a:r>
            <a:endParaRPr lang="en-US" sz="850" dirty="0"/>
          </a:p>
        </p:txBody>
      </p:sp>
      <p:sp>
        <p:nvSpPr>
          <p:cNvPr id="20" name="Text 17"/>
          <p:cNvSpPr/>
          <p:nvPr/>
        </p:nvSpPr>
        <p:spPr>
          <a:xfrm>
            <a:off x="6400800" y="4242816"/>
            <a:ext cx="2194560" cy="164592"/>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Malware:</a:t>
            </a:r>
            <a:endParaRPr lang="en-US" sz="900" dirty="0"/>
          </a:p>
        </p:txBody>
      </p:sp>
      <p:sp>
        <p:nvSpPr>
          <p:cNvPr id="21" name="Text 18"/>
          <p:cNvSpPr/>
          <p:nvPr/>
        </p:nvSpPr>
        <p:spPr>
          <a:xfrm>
            <a:off x="6400800" y="4407408"/>
            <a:ext cx="2194560" cy="274320"/>
          </a:xfrm>
          <a:prstGeom prst="rect">
            <a:avLst/>
          </a:prstGeom>
          <a:noFill/>
          <a:ln/>
        </p:spPr>
        <p:txBody>
          <a:bodyPr wrap="square" lIns="0" tIns="0" rIns="0" bIns="0" rtlCol="0" anchor="ctr"/>
          <a:lstStyle/>
          <a:p>
            <a:pPr marL="0" indent="0">
              <a:buNone/>
            </a:pPr>
            <a:r>
              <a:rPr lang="en-US" sz="850" dirty="0">
                <a:solidFill>
                  <a:srgbClr val="CBD5E1"/>
                </a:solidFill>
                <a:latin typeface="Calibri" pitchFamily="34" charset="0"/>
                <a:ea typeface="Calibri" pitchFamily="34" charset="-122"/>
                <a:cs typeface="Calibri" pitchFamily="34" charset="-120"/>
              </a:rPr>
              <a:t>TrickBot Trojan</a:t>
            </a:r>
            <a:endParaRPr lang="en-US" sz="850" dirty="0"/>
          </a:p>
          <a:p>
            <a:pPr marL="0" indent="0">
              <a:buNone/>
            </a:pPr>
            <a:r>
              <a:rPr lang="en-US" sz="850" dirty="0">
                <a:solidFill>
                  <a:srgbClr val="CBD5E1"/>
                </a:solidFill>
                <a:latin typeface="Calibri" pitchFamily="34" charset="0"/>
                <a:ea typeface="Calibri" pitchFamily="34" charset="-122"/>
                <a:cs typeface="Calibri" pitchFamily="34" charset="-120"/>
              </a:rPr>
              <a:t>(RegistryDemo.EXE)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Malicious File Download</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Stage 1: Disguised executable delivered as PDF via HTTP</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3.png"/>
          <p:cNvPicPr>
            <a:picLocks noChangeAspect="1"/>
          </p:cNvPicPr>
          <p:nvPr/>
        </p:nvPicPr>
        <p:blipFill>
          <a:blip r:embed="rId3"/>
          <a:stretch>
            <a:fillRect/>
          </a:stretch>
        </p:blipFill>
        <p:spPr>
          <a:xfrm>
            <a:off x="274320" y="1097280"/>
            <a:ext cx="4297680" cy="2560320"/>
          </a:xfrm>
          <a:prstGeom prst="rect">
            <a:avLst/>
          </a:prstGeom>
        </p:spPr>
      </p:pic>
      <p:pic>
        <p:nvPicPr>
          <p:cNvPr id="8" name="Image 1" descr="/home/claude/pptx_imgs/image4.png"/>
          <p:cNvPicPr>
            <a:picLocks noChangeAspect="1"/>
          </p:cNvPicPr>
          <p:nvPr/>
        </p:nvPicPr>
        <p:blipFill>
          <a:blip r:embed="rId4"/>
          <a:stretch>
            <a:fillRect/>
          </a:stretch>
        </p:blipFill>
        <p:spPr>
          <a:xfrm>
            <a:off x="4663440" y="1097280"/>
            <a:ext cx="4206240" cy="2560320"/>
          </a:xfrm>
          <a:prstGeom prst="rect">
            <a:avLst/>
          </a:prstGeom>
        </p:spPr>
      </p:pic>
      <p:sp>
        <p:nvSpPr>
          <p:cNvPr id="9" name="Text 5"/>
          <p:cNvSpPr/>
          <p:nvPr/>
        </p:nvSpPr>
        <p:spPr>
          <a:xfrm>
            <a:off x="274320" y="3703320"/>
            <a:ext cx="4297680" cy="45720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 Wireshark HTTP Export Objects listing ooiwy.pdf (323kB) from 185.244.41.29, plus multipart/form-data POST to 103.148.41.195:443.</a:t>
            </a:r>
            <a:endParaRPr lang="en-US" sz="800" dirty="0"/>
          </a:p>
        </p:txBody>
      </p:sp>
      <p:sp>
        <p:nvSpPr>
          <p:cNvPr id="10" name="Text 6"/>
          <p:cNvSpPr/>
          <p:nvPr/>
        </p:nvSpPr>
        <p:spPr>
          <a:xfrm>
            <a:off x="4663440" y="3703320"/>
            <a:ext cx="4206240" cy="45720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2: HTTP stream (tcp.stream eq 77) showing GET /ooiwy.pdf with curl/7.55.1 User-Agent. Response contains MZ header (PE executable) despite Content-Type: application/pdf.</a:t>
            </a:r>
            <a:endParaRPr lang="en-US" sz="800" dirty="0"/>
          </a:p>
        </p:txBody>
      </p:sp>
      <p:sp>
        <p:nvSpPr>
          <p:cNvPr id="11" name="Shape 7"/>
          <p:cNvSpPr/>
          <p:nvPr/>
        </p:nvSpPr>
        <p:spPr>
          <a:xfrm>
            <a:off x="274320" y="4206240"/>
            <a:ext cx="8595360" cy="548640"/>
          </a:xfrm>
          <a:prstGeom prst="rect">
            <a:avLst/>
          </a:prstGeom>
          <a:solidFill>
            <a:srgbClr val="1A2536"/>
          </a:solidFill>
          <a:ln/>
        </p:spPr>
        <p:txBody>
          <a:bodyPr/>
          <a:lstStyle/>
          <a:p>
            <a:endParaRPr lang="en-US"/>
          </a:p>
        </p:txBody>
      </p:sp>
      <p:sp>
        <p:nvSpPr>
          <p:cNvPr id="12" name="Text 8"/>
          <p:cNvSpPr/>
          <p:nvPr/>
        </p:nvSpPr>
        <p:spPr>
          <a:xfrm>
            <a:off x="457200" y="4206240"/>
            <a:ext cx="8229600" cy="54864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Finding: The file ooiwy.pdf was downloaded via curl from a direct IP address (no domain name), which is inherently suspicious. The response body starts with an MZ header, confirming it is a Windows executable disguised with a .pdf extension.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File Analysis and VirusTotal Confirmation</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NetworkMiner extraction, file type verification, and malware classification</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5.png"/>
          <p:cNvPicPr>
            <a:picLocks noChangeAspect="1"/>
          </p:cNvPicPr>
          <p:nvPr/>
        </p:nvPicPr>
        <p:blipFill>
          <a:blip r:embed="rId3"/>
          <a:stretch>
            <a:fillRect/>
          </a:stretch>
        </p:blipFill>
        <p:spPr>
          <a:xfrm>
            <a:off x="274320" y="1097280"/>
            <a:ext cx="4297680" cy="2560320"/>
          </a:xfrm>
          <a:prstGeom prst="rect">
            <a:avLst/>
          </a:prstGeom>
        </p:spPr>
      </p:pic>
      <p:pic>
        <p:nvPicPr>
          <p:cNvPr id="8" name="Image 1" descr="/home/claude/pptx_imgs/image6.png"/>
          <p:cNvPicPr>
            <a:picLocks noChangeAspect="1"/>
          </p:cNvPicPr>
          <p:nvPr/>
        </p:nvPicPr>
        <p:blipFill>
          <a:blip r:embed="rId4"/>
          <a:stretch>
            <a:fillRect/>
          </a:stretch>
        </p:blipFill>
        <p:spPr>
          <a:xfrm>
            <a:off x="4663440" y="1097280"/>
            <a:ext cx="4206240" cy="2011680"/>
          </a:xfrm>
          <a:prstGeom prst="rect">
            <a:avLst/>
          </a:prstGeom>
        </p:spPr>
      </p:pic>
      <p:sp>
        <p:nvSpPr>
          <p:cNvPr id="9" name="Text 5"/>
          <p:cNvSpPr/>
          <p:nvPr/>
        </p:nvSpPr>
        <p:spPr>
          <a:xfrm>
            <a:off x="274320" y="3703320"/>
            <a:ext cx="4297680" cy="50292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3: NetworkMiner file extraction showing ooiwy.pdf with DLL extension, MZ header, SHA1 and SHA256 hashes, and File type: DLL. Source: 185.244.41.29. Destination: DESKTOP-M1TFHB6.</a:t>
            </a:r>
            <a:endParaRPr lang="en-US" sz="800" dirty="0"/>
          </a:p>
        </p:txBody>
      </p:sp>
      <p:sp>
        <p:nvSpPr>
          <p:cNvPr id="10" name="Text 6"/>
          <p:cNvSpPr/>
          <p:nvPr/>
        </p:nvSpPr>
        <p:spPr>
          <a:xfrm>
            <a:off x="4663440" y="3154680"/>
            <a:ext cx="4206240" cy="50292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4: VirusTotal detection for ooiwy.pdf file hash. 60 out of 72 security vendors flagged this file as malicious. Identified as RegistryDemo.EXE with tags: spreader, persistence, detect-debug-environment.</a:t>
            </a:r>
            <a:endParaRPr lang="en-US" sz="800" dirty="0"/>
          </a:p>
        </p:txBody>
      </p:sp>
      <p:pic>
        <p:nvPicPr>
          <p:cNvPr id="11" name="Image 2" descr="/home/claude/pptx_imgs/image7.png"/>
          <p:cNvPicPr>
            <a:picLocks noChangeAspect="1"/>
          </p:cNvPicPr>
          <p:nvPr/>
        </p:nvPicPr>
        <p:blipFill>
          <a:blip r:embed="rId5"/>
          <a:stretch>
            <a:fillRect/>
          </a:stretch>
        </p:blipFill>
        <p:spPr>
          <a:xfrm>
            <a:off x="4663440" y="3749040"/>
            <a:ext cx="3657600" cy="548640"/>
          </a:xfrm>
          <a:prstGeom prst="rect">
            <a:avLst/>
          </a:prstGeom>
        </p:spPr>
      </p:pic>
      <p:sp>
        <p:nvSpPr>
          <p:cNvPr id="12" name="Text 7"/>
          <p:cNvSpPr/>
          <p:nvPr/>
        </p:nvSpPr>
        <p:spPr>
          <a:xfrm>
            <a:off x="4663440" y="4315968"/>
            <a:ext cx="4206240" cy="22860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5: Linux file command confirms PE32 executable (DLL)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Security Onion Alert Correlation</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Suricata alerts confirming malicious download and external IP lookup</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8.png"/>
          <p:cNvPicPr>
            <a:picLocks noChangeAspect="1"/>
          </p:cNvPicPr>
          <p:nvPr/>
        </p:nvPicPr>
        <p:blipFill>
          <a:blip r:embed="rId3"/>
          <a:stretch>
            <a:fillRect/>
          </a:stretch>
        </p:blipFill>
        <p:spPr>
          <a:xfrm>
            <a:off x="274320" y="1097280"/>
            <a:ext cx="4297680" cy="2286000"/>
          </a:xfrm>
          <a:prstGeom prst="rect">
            <a:avLst/>
          </a:prstGeom>
        </p:spPr>
      </p:pic>
      <p:pic>
        <p:nvPicPr>
          <p:cNvPr id="8" name="Image 1" descr="/home/claude/pptx_imgs/image15.png"/>
          <p:cNvPicPr>
            <a:picLocks noChangeAspect="1"/>
          </p:cNvPicPr>
          <p:nvPr/>
        </p:nvPicPr>
        <p:blipFill>
          <a:blip r:embed="rId4"/>
          <a:stretch>
            <a:fillRect/>
          </a:stretch>
        </p:blipFill>
        <p:spPr>
          <a:xfrm>
            <a:off x="4663440" y="1097280"/>
            <a:ext cx="4206240" cy="2286000"/>
          </a:xfrm>
          <a:prstGeom prst="rect">
            <a:avLst/>
          </a:prstGeom>
        </p:spPr>
      </p:pic>
      <p:sp>
        <p:nvSpPr>
          <p:cNvPr id="9" name="Text 5"/>
          <p:cNvSpPr/>
          <p:nvPr/>
        </p:nvSpPr>
        <p:spPr>
          <a:xfrm>
            <a:off x="274320" y="3429000"/>
            <a:ext cx="4297680" cy="50292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6: Security Onion alert detail showing GET /ooiwy.pdf with curl/7.55.1 User-Agent in network.data.decoded field. Confirms the download mechanism was curl, not a browser.</a:t>
            </a:r>
            <a:endParaRPr lang="en-US" sz="800" dirty="0"/>
          </a:p>
        </p:txBody>
      </p:sp>
      <p:sp>
        <p:nvSpPr>
          <p:cNvPr id="10" name="Text 6"/>
          <p:cNvSpPr/>
          <p:nvPr/>
        </p:nvSpPr>
        <p:spPr>
          <a:xfrm>
            <a:off x="4663440" y="3429000"/>
            <a:ext cx="4206240" cy="50292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7: Security Onion alerts for ET INFO External IP Lookup. The infected host queried api.ipify.org at 19:40:58 UTC to identify its public-facing IP address, a common TrickBot reconnaissance behavior.</a:t>
            </a:r>
            <a:endParaRPr lang="en-US" sz="800" dirty="0"/>
          </a:p>
        </p:txBody>
      </p:sp>
      <p:sp>
        <p:nvSpPr>
          <p:cNvPr id="11" name="Shape 7"/>
          <p:cNvSpPr/>
          <p:nvPr/>
        </p:nvSpPr>
        <p:spPr>
          <a:xfrm>
            <a:off x="274320" y="4023360"/>
            <a:ext cx="8595360" cy="640080"/>
          </a:xfrm>
          <a:prstGeom prst="rect">
            <a:avLst/>
          </a:prstGeom>
          <a:solidFill>
            <a:srgbClr val="1A2536"/>
          </a:solidFill>
          <a:ln/>
        </p:spPr>
        <p:txBody>
          <a:bodyPr/>
          <a:lstStyle/>
          <a:p>
            <a:endParaRPr lang="en-US"/>
          </a:p>
        </p:txBody>
      </p:sp>
      <p:sp>
        <p:nvSpPr>
          <p:cNvPr id="12" name="Text 8"/>
          <p:cNvSpPr/>
          <p:nvPr/>
        </p:nvSpPr>
        <p:spPr>
          <a:xfrm>
            <a:off x="457200" y="4023360"/>
            <a:ext cx="8229600" cy="6400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Finding: The use of curl as a download agent (rather than a web browser) indicates scripted or automated malware retrieval, consistent with a TrickBot loader stage. The immediate external IP lookup via api.ipify.org is a well-documented TrickBot fingerprinting behavior used to profile the victim's network position.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Data Exfiltration via HTTP POST</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TrickBot exfiltrating system reconnaissance to C2 server 103.148.41.195</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11.png"/>
          <p:cNvPicPr>
            <a:picLocks noChangeAspect="1"/>
          </p:cNvPicPr>
          <p:nvPr/>
        </p:nvPicPr>
        <p:blipFill>
          <a:blip r:embed="rId3"/>
          <a:stretch>
            <a:fillRect/>
          </a:stretch>
        </p:blipFill>
        <p:spPr>
          <a:xfrm>
            <a:off x="274320" y="1097280"/>
            <a:ext cx="4297680" cy="2286000"/>
          </a:xfrm>
          <a:prstGeom prst="rect">
            <a:avLst/>
          </a:prstGeom>
        </p:spPr>
      </p:pic>
      <p:pic>
        <p:nvPicPr>
          <p:cNvPr id="8" name="Image 1" descr="/home/claude/pptx_imgs/image12.png"/>
          <p:cNvPicPr>
            <a:picLocks noChangeAspect="1"/>
          </p:cNvPicPr>
          <p:nvPr/>
        </p:nvPicPr>
        <p:blipFill>
          <a:blip r:embed="rId4"/>
          <a:stretch>
            <a:fillRect/>
          </a:stretch>
        </p:blipFill>
        <p:spPr>
          <a:xfrm>
            <a:off x="4663440" y="1097280"/>
            <a:ext cx="4206240" cy="2286000"/>
          </a:xfrm>
          <a:prstGeom prst="rect">
            <a:avLst/>
          </a:prstGeom>
        </p:spPr>
      </p:pic>
      <p:sp>
        <p:nvSpPr>
          <p:cNvPr id="9" name="Text 5"/>
          <p:cNvSpPr/>
          <p:nvPr/>
        </p:nvSpPr>
        <p:spPr>
          <a:xfrm>
            <a:off x="274320" y="3429000"/>
            <a:ext cx="4297680" cy="45720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8: Security Onion Suricata alert: ET HUNTING Suspicious Windows Commands in POST Body (ipconfig). Destination: 103.148.41.195:443. Method: POST.</a:t>
            </a:r>
            <a:endParaRPr lang="en-US" sz="800" dirty="0"/>
          </a:p>
        </p:txBody>
      </p:sp>
      <p:sp>
        <p:nvSpPr>
          <p:cNvPr id="10" name="Text 6"/>
          <p:cNvSpPr/>
          <p:nvPr/>
        </p:nvSpPr>
        <p:spPr>
          <a:xfrm>
            <a:off x="4663440" y="3429000"/>
            <a:ext cx="4206240" cy="45720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9: Decoded POST data showing exfiltrated TASK LIST (process listing) sent to /rob124/DESKTOP-M1TFHB6_W10019043... with User-Agent: Ghost and Content-Type: multipart/form-data.</a:t>
            </a:r>
            <a:endParaRPr lang="en-US" sz="800" dirty="0"/>
          </a:p>
        </p:txBody>
      </p:sp>
      <p:sp>
        <p:nvSpPr>
          <p:cNvPr id="11" name="Shape 7"/>
          <p:cNvSpPr/>
          <p:nvPr/>
        </p:nvSpPr>
        <p:spPr>
          <a:xfrm>
            <a:off x="274320" y="3977640"/>
            <a:ext cx="8595360" cy="731520"/>
          </a:xfrm>
          <a:prstGeom prst="rect">
            <a:avLst/>
          </a:prstGeom>
          <a:solidFill>
            <a:srgbClr val="1A2536"/>
          </a:solidFill>
          <a:ln/>
        </p:spPr>
        <p:txBody>
          <a:bodyPr/>
          <a:lstStyle/>
          <a:p>
            <a:endParaRPr lang="en-US"/>
          </a:p>
        </p:txBody>
      </p:sp>
      <p:sp>
        <p:nvSpPr>
          <p:cNvPr id="12" name="Text 8"/>
          <p:cNvSpPr/>
          <p:nvPr/>
        </p:nvSpPr>
        <p:spPr>
          <a:xfrm>
            <a:off x="457200" y="3977640"/>
            <a:ext cx="8229600" cy="7315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Finding: TrickBot exfiltrated a full process listing via HTTP POST to 103.148.41.195. The URL path contains the victim hostname and a unique identifier. User-Agent: Ghost is a known TrickBot signature. The process list allows attackers to identify security software, running services, and opportunities for privilege escalation.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System and Network Configuration Exfiltration</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SYSTEMINFO, ipconfig /all, and net config workstation data sent to C2</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13.png"/>
          <p:cNvPicPr>
            <a:picLocks noChangeAspect="1"/>
          </p:cNvPicPr>
          <p:nvPr/>
        </p:nvPicPr>
        <p:blipFill>
          <a:blip r:embed="rId3"/>
          <a:stretch>
            <a:fillRect/>
          </a:stretch>
        </p:blipFill>
        <p:spPr>
          <a:xfrm>
            <a:off x="274320" y="1097280"/>
            <a:ext cx="4297680" cy="2560320"/>
          </a:xfrm>
          <a:prstGeom prst="rect">
            <a:avLst/>
          </a:prstGeom>
        </p:spPr>
      </p:pic>
      <p:pic>
        <p:nvPicPr>
          <p:cNvPr id="8" name="Image 1" descr="/home/claude/pptx_imgs/image14.png"/>
          <p:cNvPicPr>
            <a:picLocks noChangeAspect="1"/>
          </p:cNvPicPr>
          <p:nvPr/>
        </p:nvPicPr>
        <p:blipFill>
          <a:blip r:embed="rId4"/>
          <a:stretch>
            <a:fillRect/>
          </a:stretch>
        </p:blipFill>
        <p:spPr>
          <a:xfrm>
            <a:off x="4663440" y="1097280"/>
            <a:ext cx="4206240" cy="2560320"/>
          </a:xfrm>
          <a:prstGeom prst="rect">
            <a:avLst/>
          </a:prstGeom>
        </p:spPr>
      </p:pic>
      <p:sp>
        <p:nvSpPr>
          <p:cNvPr id="9" name="Text 5"/>
          <p:cNvSpPr/>
          <p:nvPr/>
        </p:nvSpPr>
        <p:spPr>
          <a:xfrm>
            <a:off x="274320" y="3703320"/>
            <a:ext cx="4297680" cy="54864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10: Exfiltrated SYSTEMINFO showing hostname DESKTOP-M1TFHB6, Windows 10 Pro 64-bit, Intel Core i3-10300, user1, and ipconfig /all output with Primary DNS Suffix: fuzzylizards.com.</a:t>
            </a:r>
            <a:endParaRPr lang="en-US" sz="800" dirty="0"/>
          </a:p>
        </p:txBody>
      </p:sp>
      <p:sp>
        <p:nvSpPr>
          <p:cNvPr id="10" name="Text 6"/>
          <p:cNvSpPr/>
          <p:nvPr/>
        </p:nvSpPr>
        <p:spPr>
          <a:xfrm>
            <a:off x="4663440" y="3703320"/>
            <a:ext cx="4206240" cy="54864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11: Continued ipconfig /all output showing Ethernet0 adapter: IP 10.8.19.101, MAC 00-08-02-1C-47-AE, Gateway 10.8.19.1, DNS 10.8.19.8, DHCP 10.8.19.254. Also shows net config workstation output.</a:t>
            </a:r>
            <a:endParaRPr lang="en-US" sz="800" dirty="0"/>
          </a:p>
        </p:txBody>
      </p:sp>
      <p:sp>
        <p:nvSpPr>
          <p:cNvPr id="11" name="Shape 7"/>
          <p:cNvSpPr/>
          <p:nvPr/>
        </p:nvSpPr>
        <p:spPr>
          <a:xfrm>
            <a:off x="274320" y="4297680"/>
            <a:ext cx="8595360" cy="457200"/>
          </a:xfrm>
          <a:prstGeom prst="rect">
            <a:avLst/>
          </a:prstGeom>
          <a:solidFill>
            <a:srgbClr val="1A2536"/>
          </a:solidFill>
          <a:ln/>
        </p:spPr>
        <p:txBody>
          <a:bodyPr/>
          <a:lstStyle/>
          <a:p>
            <a:endParaRPr lang="en-US"/>
          </a:p>
        </p:txBody>
      </p:sp>
      <p:sp>
        <p:nvSpPr>
          <p:cNvPr id="12" name="Text 8"/>
          <p:cNvSpPr/>
          <p:nvPr/>
        </p:nvSpPr>
        <p:spPr>
          <a:xfrm>
            <a:off x="457200" y="4297680"/>
            <a:ext cx="8229600" cy="4572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Finding: TrickBot exfiltrated comprehensive system/network data: OS version, hardware specs, IP configuration, domain membership, and DNS settings. This provides the attacker with a complete victim profile for lateral movement planning.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Domain Recon and C2 Server Validation</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nltest enumeration alert and VirusTotal confirmation of primary C2</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17.png"/>
          <p:cNvPicPr>
            <a:picLocks noChangeAspect="1"/>
          </p:cNvPicPr>
          <p:nvPr/>
        </p:nvPicPr>
        <p:blipFill>
          <a:blip r:embed="rId3"/>
          <a:stretch>
            <a:fillRect/>
          </a:stretch>
        </p:blipFill>
        <p:spPr>
          <a:xfrm>
            <a:off x="274320" y="1097280"/>
            <a:ext cx="4297680" cy="2286000"/>
          </a:xfrm>
          <a:prstGeom prst="rect">
            <a:avLst/>
          </a:prstGeom>
        </p:spPr>
      </p:pic>
      <p:pic>
        <p:nvPicPr>
          <p:cNvPr id="8" name="Image 1" descr="/home/claude/pptx_imgs/image16.png"/>
          <p:cNvPicPr>
            <a:picLocks noChangeAspect="1"/>
          </p:cNvPicPr>
          <p:nvPr/>
        </p:nvPicPr>
        <p:blipFill>
          <a:blip r:embed="rId4"/>
          <a:stretch>
            <a:fillRect/>
          </a:stretch>
        </p:blipFill>
        <p:spPr>
          <a:xfrm>
            <a:off x="4663440" y="1097280"/>
            <a:ext cx="4206240" cy="2286000"/>
          </a:xfrm>
          <a:prstGeom prst="rect">
            <a:avLst/>
          </a:prstGeom>
        </p:spPr>
      </p:pic>
      <p:sp>
        <p:nvSpPr>
          <p:cNvPr id="9" name="Text 5"/>
          <p:cNvSpPr/>
          <p:nvPr/>
        </p:nvSpPr>
        <p:spPr>
          <a:xfrm>
            <a:off x="274320" y="3429000"/>
            <a:ext cx="4297680" cy="50292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12: Security Onion alert: ET HUNTING Suspicious Windows Commands in POST Body (nltest). Destination: 103.148.41.195:443. nltest is used for Active Directory domain enumeration, indicating lateral movement preparation.</a:t>
            </a:r>
            <a:endParaRPr lang="en-US" sz="800" dirty="0"/>
          </a:p>
        </p:txBody>
      </p:sp>
      <p:sp>
        <p:nvSpPr>
          <p:cNvPr id="10" name="Text 6"/>
          <p:cNvSpPr/>
          <p:nvPr/>
        </p:nvSpPr>
        <p:spPr>
          <a:xfrm>
            <a:off x="4663440" y="3429000"/>
            <a:ext cx="4206240" cy="50292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13: VirusTotal report for 103.148.41.195. 1/94 vendor flagged (SOCRadar: Malware). AS 140076, Mir Internet Service, Bangladesh. This is the primary TrickBot C2 server receiving all exfiltrated data.</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Secondary C2 Servers and Self-Signed Certificates</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OpenSSL Demo CA alerts and VirusTotal validation of C2 infrastructure</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20.png"/>
          <p:cNvPicPr>
            <a:picLocks noChangeAspect="1"/>
          </p:cNvPicPr>
          <p:nvPr/>
        </p:nvPicPr>
        <p:blipFill>
          <a:blip r:embed="rId3"/>
          <a:stretch>
            <a:fillRect/>
          </a:stretch>
        </p:blipFill>
        <p:spPr>
          <a:xfrm>
            <a:off x="274320" y="1097280"/>
            <a:ext cx="4297680" cy="2286000"/>
          </a:xfrm>
          <a:prstGeom prst="rect">
            <a:avLst/>
          </a:prstGeom>
        </p:spPr>
      </p:pic>
      <p:pic>
        <p:nvPicPr>
          <p:cNvPr id="8" name="Image 1" descr="/home/claude/pptx_imgs/image22.png"/>
          <p:cNvPicPr>
            <a:picLocks noChangeAspect="1"/>
          </p:cNvPicPr>
          <p:nvPr/>
        </p:nvPicPr>
        <p:blipFill>
          <a:blip r:embed="rId4"/>
          <a:stretch>
            <a:fillRect/>
          </a:stretch>
        </p:blipFill>
        <p:spPr>
          <a:xfrm>
            <a:off x="4663440" y="1097280"/>
            <a:ext cx="4206240" cy="2286000"/>
          </a:xfrm>
          <a:prstGeom prst="rect">
            <a:avLst/>
          </a:prstGeom>
        </p:spPr>
      </p:pic>
      <p:sp>
        <p:nvSpPr>
          <p:cNvPr id="9" name="Text 5"/>
          <p:cNvSpPr/>
          <p:nvPr/>
        </p:nvSpPr>
        <p:spPr>
          <a:xfrm>
            <a:off x="274320" y="3429000"/>
            <a:ext cx="4297680" cy="50292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14: Security Onion detail and VirusTotal for 46.99.175.149. 12/94 VT vendors flagged malicious. SO shows ET INFO OpenSSL Demo CA alert with self-signed certificate, network.public_ip confirms C2 communication.</a:t>
            </a:r>
            <a:endParaRPr lang="en-US" sz="800" dirty="0"/>
          </a:p>
        </p:txBody>
      </p:sp>
      <p:sp>
        <p:nvSpPr>
          <p:cNvPr id="10" name="Text 6"/>
          <p:cNvSpPr/>
          <p:nvPr/>
        </p:nvSpPr>
        <p:spPr>
          <a:xfrm>
            <a:off x="4663440" y="3429000"/>
            <a:ext cx="4206240" cy="50292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15: Security Onion and VirusTotal for 182.253.210.130. 11/94 VT vendors flagged malicious. BizNetNetworks AS 17451. Same OpenSSL Demo CA self-signed certificate pattern confirming TrickBot infrastructure.</a:t>
            </a:r>
            <a:endParaRPr lang="en-US" sz="800" dirty="0"/>
          </a:p>
        </p:txBody>
      </p:sp>
      <p:sp>
        <p:nvSpPr>
          <p:cNvPr id="11" name="Shape 7"/>
          <p:cNvSpPr/>
          <p:nvPr/>
        </p:nvSpPr>
        <p:spPr>
          <a:xfrm>
            <a:off x="274320" y="4023360"/>
            <a:ext cx="8595360" cy="640080"/>
          </a:xfrm>
          <a:prstGeom prst="rect">
            <a:avLst/>
          </a:prstGeom>
          <a:solidFill>
            <a:srgbClr val="1A2536"/>
          </a:solidFill>
          <a:ln/>
        </p:spPr>
        <p:txBody>
          <a:bodyPr/>
          <a:lstStyle/>
          <a:p>
            <a:endParaRPr lang="en-US"/>
          </a:p>
        </p:txBody>
      </p:sp>
      <p:sp>
        <p:nvSpPr>
          <p:cNvPr id="12" name="Text 8"/>
          <p:cNvSpPr/>
          <p:nvPr/>
        </p:nvSpPr>
        <p:spPr>
          <a:xfrm>
            <a:off x="457200" y="4023360"/>
            <a:ext cx="8229600" cy="6400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Finding: All three C2 servers use identical self-signed "Internet Widgits Pty Ltd" certificates (OpenSSL Demo CA), a well-known TrickBot fingerprint. Repeated beaconing from 19:50 to 20:24+ UTC across all three IPs confirms persistent, redundant C2 infrastructure. Multi-vendor VirusTotal confirmation eliminates false positive possibility.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Certificate Extraction and TLS C2 Sessions</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NetworkMiner certificate analysis and Wireshark TLS session capture</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25.png"/>
          <p:cNvPicPr>
            <a:picLocks noChangeAspect="1"/>
          </p:cNvPicPr>
          <p:nvPr/>
        </p:nvPicPr>
        <p:blipFill>
          <a:blip r:embed="rId3"/>
          <a:stretch>
            <a:fillRect/>
          </a:stretch>
        </p:blipFill>
        <p:spPr>
          <a:xfrm>
            <a:off x="274320" y="1097280"/>
            <a:ext cx="8595360" cy="1371600"/>
          </a:xfrm>
          <a:prstGeom prst="rect">
            <a:avLst/>
          </a:prstGeom>
        </p:spPr>
      </p:pic>
      <p:sp>
        <p:nvSpPr>
          <p:cNvPr id="8" name="Text 5"/>
          <p:cNvSpPr/>
          <p:nvPr/>
        </p:nvSpPr>
        <p:spPr>
          <a:xfrm>
            <a:off x="274320" y="2514600"/>
            <a:ext cx="8595360" cy="36576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16: NetworkMiner Files tab showing "Internet Widgits Pty Ltd.cer" certificates extracted from both 46.99.175.149 (7 sessions) and 182.253.210.130 (2 sessions), all TlsCertificate protocol to DESKTOP-M1TFHB6.</a:t>
            </a:r>
            <a:endParaRPr lang="en-US" sz="800" dirty="0"/>
          </a:p>
        </p:txBody>
      </p:sp>
      <p:pic>
        <p:nvPicPr>
          <p:cNvPr id="9" name="Image 1" descr="/home/claude/pptx_imgs/image29.png"/>
          <p:cNvPicPr>
            <a:picLocks noChangeAspect="1"/>
          </p:cNvPicPr>
          <p:nvPr/>
        </p:nvPicPr>
        <p:blipFill>
          <a:blip r:embed="rId4"/>
          <a:stretch>
            <a:fillRect/>
          </a:stretch>
        </p:blipFill>
        <p:spPr>
          <a:xfrm>
            <a:off x="274320" y="2926080"/>
            <a:ext cx="7985508" cy="1463040"/>
          </a:xfrm>
          <a:prstGeom prst="rect">
            <a:avLst/>
          </a:prstGeom>
        </p:spPr>
      </p:pic>
      <p:sp>
        <p:nvSpPr>
          <p:cNvPr id="10" name="Text 6"/>
          <p:cNvSpPr/>
          <p:nvPr/>
        </p:nvSpPr>
        <p:spPr>
          <a:xfrm>
            <a:off x="274320" y="4434840"/>
            <a:ext cx="8595360" cy="32004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17: Wireshark packet capture showing TLSv1.2 sessions to both C2 servers. New Session Ticket and Application Data exchanges confirm active encrypted C2 communication channels from DESKTOP-M1TFHB6.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Evidence: DNS Activity and Host Enumeration</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WPAD discovery, C2 host fingerprinting via NetworkMiner</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pic>
        <p:nvPicPr>
          <p:cNvPr id="7" name="Image 0" descr="/home/claude/pptx_imgs/image9.png"/>
          <p:cNvPicPr>
            <a:picLocks noChangeAspect="1"/>
          </p:cNvPicPr>
          <p:nvPr/>
        </p:nvPicPr>
        <p:blipFill>
          <a:blip r:embed="rId3"/>
          <a:stretch>
            <a:fillRect/>
          </a:stretch>
        </p:blipFill>
        <p:spPr>
          <a:xfrm>
            <a:off x="274320" y="1097280"/>
            <a:ext cx="4297680" cy="1645920"/>
          </a:xfrm>
          <a:prstGeom prst="rect">
            <a:avLst/>
          </a:prstGeom>
        </p:spPr>
      </p:pic>
      <p:pic>
        <p:nvPicPr>
          <p:cNvPr id="8" name="Image 1" descr="/home/claude/pptx_imgs/image26.png"/>
          <p:cNvPicPr>
            <a:picLocks noChangeAspect="1"/>
          </p:cNvPicPr>
          <p:nvPr/>
        </p:nvPicPr>
        <p:blipFill>
          <a:blip r:embed="rId4"/>
          <a:stretch>
            <a:fillRect/>
          </a:stretch>
        </p:blipFill>
        <p:spPr>
          <a:xfrm>
            <a:off x="4663440" y="1097280"/>
            <a:ext cx="4206240" cy="2560320"/>
          </a:xfrm>
          <a:prstGeom prst="rect">
            <a:avLst/>
          </a:prstGeom>
        </p:spPr>
      </p:pic>
      <p:sp>
        <p:nvSpPr>
          <p:cNvPr id="9" name="Text 5"/>
          <p:cNvSpPr/>
          <p:nvPr/>
        </p:nvSpPr>
        <p:spPr>
          <a:xfrm>
            <a:off x="274320" y="2788920"/>
            <a:ext cx="4297680" cy="45720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18: Wireshark DNS filter showing WPAD queries (wpad.fuzzylizards.com, wpad.localdomain) immediately after infection, confirming domain awareness and proxy auto-discovery attempts.</a:t>
            </a:r>
            <a:endParaRPr lang="en-US" sz="800" dirty="0"/>
          </a:p>
        </p:txBody>
      </p:sp>
      <p:sp>
        <p:nvSpPr>
          <p:cNvPr id="10" name="Text 6"/>
          <p:cNvSpPr/>
          <p:nvPr/>
        </p:nvSpPr>
        <p:spPr>
          <a:xfrm>
            <a:off x="4663440" y="3703320"/>
            <a:ext cx="4206240" cy="548640"/>
          </a:xfrm>
          <a:prstGeom prst="rect">
            <a:avLst/>
          </a:prstGeom>
          <a:noFill/>
          <a:ln/>
        </p:spPr>
        <p:txBody>
          <a:bodyPr wrap="square" lIns="0" tIns="0" rIns="0" bIns="0" rtlCol="0" anchor="ctr"/>
          <a:lstStyle/>
          <a:p>
            <a:pPr marL="0" indent="0">
              <a:buNone/>
            </a:pPr>
            <a:r>
              <a:rPr lang="en-US" sz="800" i="1" dirty="0">
                <a:solidFill>
                  <a:srgbClr val="8899AA"/>
                </a:solidFill>
                <a:latin typeface="Calibri" pitchFamily="34" charset="0"/>
                <a:ea typeface="Calibri" pitchFamily="34" charset="-122"/>
                <a:cs typeface="Calibri" pitchFamily="34" charset="-120"/>
              </a:rPr>
              <a:t>Fig 19: NetworkMiner host details for both C2 servers (182.253.210.130 and 46.99.175.149). Both show Ettercap: Windows NT 4.0, Satori TCP: Big-IP F5 LB 13.1, TTL: 128, Open TCP Ports: 443 (SSL). Identical fingerprints confirm coordinated infrastructure.</a:t>
            </a:r>
            <a:endParaRPr lang="en-US" sz="800" dirty="0"/>
          </a:p>
        </p:txBody>
      </p:sp>
      <p:pic>
        <p:nvPicPr>
          <p:cNvPr id="11" name="Image 2" descr="/home/claude/pptx_imgs/image10.png"/>
          <p:cNvPicPr>
            <a:picLocks noChangeAspect="1"/>
          </p:cNvPicPr>
          <p:nvPr/>
        </p:nvPicPr>
        <p:blipFill>
          <a:blip r:embed="rId5"/>
          <a:stretch>
            <a:fillRect/>
          </a:stretch>
        </p:blipFill>
        <p:spPr>
          <a:xfrm>
            <a:off x="274320" y="3291840"/>
            <a:ext cx="4297680" cy="1371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Analysis &amp; Interpretation</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Attack flow, exfiltrated data, and false positive assessment</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7" name="Shape 5"/>
          <p:cNvSpPr/>
          <p:nvPr/>
        </p:nvSpPr>
        <p:spPr>
          <a:xfrm>
            <a:off x="548640" y="1143000"/>
            <a:ext cx="4937760" cy="3566160"/>
          </a:xfrm>
          <a:prstGeom prst="rect">
            <a:avLst/>
          </a:prstGeom>
          <a:solidFill>
            <a:srgbClr val="1A2536"/>
          </a:solidFill>
          <a:ln/>
        </p:spPr>
        <p:txBody>
          <a:bodyPr/>
          <a:lstStyle/>
          <a:p>
            <a:endParaRPr lang="en-US"/>
          </a:p>
        </p:txBody>
      </p:sp>
      <p:sp>
        <p:nvSpPr>
          <p:cNvPr id="8" name="Text 6"/>
          <p:cNvSpPr/>
          <p:nvPr/>
        </p:nvSpPr>
        <p:spPr>
          <a:xfrm>
            <a:off x="731520" y="1234440"/>
            <a:ext cx="4572000" cy="274320"/>
          </a:xfrm>
          <a:prstGeom prst="rect">
            <a:avLst/>
          </a:prstGeom>
          <a:noFill/>
          <a:ln/>
        </p:spPr>
        <p:txBody>
          <a:bodyPr wrap="square" lIns="0" tIns="0" rIns="0" bIns="0" rtlCol="0" anchor="ctr"/>
          <a:lstStyle/>
          <a:p>
            <a:pPr marL="0" indent="0">
              <a:buNone/>
            </a:pPr>
            <a:r>
              <a:rPr lang="en-US" sz="1300" b="1" dirty="0">
                <a:solidFill>
                  <a:srgbClr val="0891B2"/>
                </a:solidFill>
                <a:latin typeface="Trebuchet MS" pitchFamily="34" charset="0"/>
                <a:ea typeface="Trebuchet MS" pitchFamily="34" charset="-122"/>
                <a:cs typeface="Trebuchet MS" pitchFamily="34" charset="-120"/>
              </a:rPr>
              <a:t>Attack Flow Summary</a:t>
            </a:r>
            <a:endParaRPr lang="en-US" sz="1300" dirty="0"/>
          </a:p>
        </p:txBody>
      </p:sp>
      <p:sp>
        <p:nvSpPr>
          <p:cNvPr id="9" name="Text 7"/>
          <p:cNvSpPr/>
          <p:nvPr/>
        </p:nvSpPr>
        <p:spPr>
          <a:xfrm>
            <a:off x="731520" y="1600200"/>
            <a:ext cx="457200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Stage 1 - Delivery (T1566.001):</a:t>
            </a:r>
            <a:endParaRPr lang="en-US" sz="950" dirty="0"/>
          </a:p>
        </p:txBody>
      </p:sp>
      <p:sp>
        <p:nvSpPr>
          <p:cNvPr id="10" name="Text 8"/>
          <p:cNvSpPr/>
          <p:nvPr/>
        </p:nvSpPr>
        <p:spPr>
          <a:xfrm>
            <a:off x="731520" y="1801368"/>
            <a:ext cx="4572000" cy="54864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A PE32 DLL disguised as ooiwy.pdf was downloaded from 185.244.41.29 via curl/7.55.1. The use of curl rather than a browser, combined with delivery from a bare IP, indicates automated or script-driven retrieval.</a:t>
            </a:r>
            <a:endParaRPr lang="en-US" sz="850" dirty="0"/>
          </a:p>
        </p:txBody>
      </p:sp>
      <p:sp>
        <p:nvSpPr>
          <p:cNvPr id="11" name="Text 9"/>
          <p:cNvSpPr/>
          <p:nvPr/>
        </p:nvSpPr>
        <p:spPr>
          <a:xfrm>
            <a:off x="731520" y="2404872"/>
            <a:ext cx="457200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Stage 2 - Reconnaissance (T1016, T1057):</a:t>
            </a:r>
            <a:endParaRPr lang="en-US" sz="950" dirty="0"/>
          </a:p>
        </p:txBody>
      </p:sp>
      <p:sp>
        <p:nvSpPr>
          <p:cNvPr id="12" name="Text 10"/>
          <p:cNvSpPr/>
          <p:nvPr/>
        </p:nvSpPr>
        <p:spPr>
          <a:xfrm>
            <a:off x="731520" y="2606040"/>
            <a:ext cx="4572000" cy="54864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TrickBot queried api.ipify.org for external IP, then exfiltrated tasklist, systeminfo, ipconfig /all, net config workstation, and nltest to 103.148.41.195 via HTTP POST with User-Agent: Ghost.</a:t>
            </a:r>
            <a:endParaRPr lang="en-US" sz="850" dirty="0"/>
          </a:p>
        </p:txBody>
      </p:sp>
      <p:sp>
        <p:nvSpPr>
          <p:cNvPr id="13" name="Text 11"/>
          <p:cNvSpPr/>
          <p:nvPr/>
        </p:nvSpPr>
        <p:spPr>
          <a:xfrm>
            <a:off x="731520" y="3209544"/>
            <a:ext cx="457200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Stage 3 - C2 Establishment (T1573, T1071):</a:t>
            </a:r>
            <a:endParaRPr lang="en-US" sz="950" dirty="0"/>
          </a:p>
        </p:txBody>
      </p:sp>
      <p:sp>
        <p:nvSpPr>
          <p:cNvPr id="14" name="Text 12"/>
          <p:cNvSpPr/>
          <p:nvPr/>
        </p:nvSpPr>
        <p:spPr>
          <a:xfrm>
            <a:off x="731520" y="3410712"/>
            <a:ext cx="4572000" cy="54864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Encrypted TLS channels established to three C2 servers using self-signed "Internet Widgits Pty Ltd" certificates: 46.99.175.149, 103.148.41.195, 182.253.210.130.</a:t>
            </a:r>
            <a:endParaRPr lang="en-US" sz="850" dirty="0"/>
          </a:p>
        </p:txBody>
      </p:sp>
      <p:sp>
        <p:nvSpPr>
          <p:cNvPr id="15" name="Text 13"/>
          <p:cNvSpPr/>
          <p:nvPr/>
        </p:nvSpPr>
        <p:spPr>
          <a:xfrm>
            <a:off x="731520" y="4014216"/>
            <a:ext cx="457200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Stage 4 - Persistence (T1071.001):</a:t>
            </a:r>
            <a:endParaRPr lang="en-US" sz="950" dirty="0"/>
          </a:p>
        </p:txBody>
      </p:sp>
      <p:sp>
        <p:nvSpPr>
          <p:cNvPr id="16" name="Text 14"/>
          <p:cNvSpPr/>
          <p:nvPr/>
        </p:nvSpPr>
        <p:spPr>
          <a:xfrm>
            <a:off x="731520" y="4215384"/>
            <a:ext cx="4572000" cy="54864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Repeated OpenSSL Demo CA TLS beaconing from 19:50 to 20:24+ UTC across all three C2 servers, maintaining redundant communication channels.</a:t>
            </a:r>
            <a:endParaRPr lang="en-US" sz="850" dirty="0"/>
          </a:p>
        </p:txBody>
      </p:sp>
      <p:sp>
        <p:nvSpPr>
          <p:cNvPr id="17" name="Shape 15"/>
          <p:cNvSpPr/>
          <p:nvPr/>
        </p:nvSpPr>
        <p:spPr>
          <a:xfrm>
            <a:off x="5669280" y="1143000"/>
            <a:ext cx="3108960" cy="1645920"/>
          </a:xfrm>
          <a:prstGeom prst="rect">
            <a:avLst/>
          </a:prstGeom>
          <a:solidFill>
            <a:srgbClr val="1A2536"/>
          </a:solidFill>
          <a:ln/>
        </p:spPr>
        <p:txBody>
          <a:bodyPr/>
          <a:lstStyle/>
          <a:p>
            <a:endParaRPr lang="en-US"/>
          </a:p>
        </p:txBody>
      </p:sp>
      <p:sp>
        <p:nvSpPr>
          <p:cNvPr id="18" name="Text 16"/>
          <p:cNvSpPr/>
          <p:nvPr/>
        </p:nvSpPr>
        <p:spPr>
          <a:xfrm>
            <a:off x="5852160" y="1234440"/>
            <a:ext cx="274320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MITRE ATT&amp;CK Techniques</a:t>
            </a:r>
            <a:endParaRPr lang="en-US" sz="1100" dirty="0"/>
          </a:p>
        </p:txBody>
      </p:sp>
      <p:sp>
        <p:nvSpPr>
          <p:cNvPr id="19" name="Text 17"/>
          <p:cNvSpPr/>
          <p:nvPr/>
        </p:nvSpPr>
        <p:spPr>
          <a:xfrm>
            <a:off x="5852160" y="1508760"/>
            <a:ext cx="2743200" cy="1188720"/>
          </a:xfrm>
          <a:prstGeom prst="rect">
            <a:avLst/>
          </a:prstGeom>
          <a:noFill/>
          <a:ln/>
        </p:spPr>
        <p:txBody>
          <a:bodyPr wrap="square" lIns="0" tIns="0" rIns="0" bIns="0" rtlCol="0" anchor="ctr"/>
          <a:lstStyle/>
          <a:p>
            <a:pPr marL="0" indent="0">
              <a:buNone/>
            </a:pPr>
            <a:r>
              <a:rPr lang="en-US" sz="800" dirty="0">
                <a:solidFill>
                  <a:srgbClr val="CBD5E1"/>
                </a:solidFill>
                <a:latin typeface="Calibri" pitchFamily="34" charset="0"/>
                <a:ea typeface="Calibri" pitchFamily="34" charset="-122"/>
                <a:cs typeface="Calibri" pitchFamily="34" charset="-120"/>
              </a:rPr>
              <a:t>T1566.001 Spearphishing Attachment
</a:t>
            </a:r>
            <a:endParaRPr lang="en-US" sz="800" dirty="0"/>
          </a:p>
          <a:p>
            <a:pPr marL="0" indent="0">
              <a:buNone/>
            </a:pPr>
            <a:r>
              <a:rPr lang="en-US" sz="800" dirty="0">
                <a:solidFill>
                  <a:srgbClr val="CBD5E1"/>
                </a:solidFill>
                <a:latin typeface="Calibri" pitchFamily="34" charset="0"/>
                <a:ea typeface="Calibri" pitchFamily="34" charset="-122"/>
                <a:cs typeface="Calibri" pitchFamily="34" charset="-120"/>
              </a:rPr>
              <a:t>T1059 Command and Scripting Interpreter
</a:t>
            </a:r>
            <a:endParaRPr lang="en-US" sz="800" dirty="0"/>
          </a:p>
          <a:p>
            <a:pPr marL="0" indent="0">
              <a:buNone/>
            </a:pPr>
            <a:r>
              <a:rPr lang="en-US" sz="800" dirty="0">
                <a:solidFill>
                  <a:srgbClr val="CBD5E1"/>
                </a:solidFill>
                <a:latin typeface="Calibri" pitchFamily="34" charset="0"/>
                <a:ea typeface="Calibri" pitchFamily="34" charset="-122"/>
                <a:cs typeface="Calibri" pitchFamily="34" charset="-120"/>
              </a:rPr>
              <a:t>T1016 System Network Config Discovery
</a:t>
            </a:r>
            <a:endParaRPr lang="en-US" sz="800" dirty="0"/>
          </a:p>
          <a:p>
            <a:pPr marL="0" indent="0">
              <a:buNone/>
            </a:pPr>
            <a:r>
              <a:rPr lang="en-US" sz="800" dirty="0">
                <a:solidFill>
                  <a:srgbClr val="CBD5E1"/>
                </a:solidFill>
                <a:latin typeface="Calibri" pitchFamily="34" charset="0"/>
                <a:ea typeface="Calibri" pitchFamily="34" charset="-122"/>
                <a:cs typeface="Calibri" pitchFamily="34" charset="-120"/>
              </a:rPr>
              <a:t>T1057 Process Discovery
</a:t>
            </a:r>
            <a:endParaRPr lang="en-US" sz="800" dirty="0"/>
          </a:p>
          <a:p>
            <a:pPr marL="0" indent="0">
              <a:buNone/>
            </a:pPr>
            <a:r>
              <a:rPr lang="en-US" sz="800" dirty="0">
                <a:solidFill>
                  <a:srgbClr val="CBD5E1"/>
                </a:solidFill>
                <a:latin typeface="Calibri" pitchFamily="34" charset="0"/>
                <a:ea typeface="Calibri" pitchFamily="34" charset="-122"/>
                <a:cs typeface="Calibri" pitchFamily="34" charset="-120"/>
              </a:rPr>
              <a:t>T1041 Exfiltration Over C2 Channel
</a:t>
            </a:r>
            <a:endParaRPr lang="en-US" sz="800" dirty="0"/>
          </a:p>
          <a:p>
            <a:pPr marL="0" indent="0">
              <a:buNone/>
            </a:pPr>
            <a:r>
              <a:rPr lang="en-US" sz="800" dirty="0">
                <a:solidFill>
                  <a:srgbClr val="CBD5E1"/>
                </a:solidFill>
                <a:latin typeface="Calibri" pitchFamily="34" charset="0"/>
                <a:ea typeface="Calibri" pitchFamily="34" charset="-122"/>
                <a:cs typeface="Calibri" pitchFamily="34" charset="-120"/>
              </a:rPr>
              <a:t>T1071.001 Web Protocols
</a:t>
            </a:r>
            <a:endParaRPr lang="en-US" sz="800" dirty="0"/>
          </a:p>
          <a:p>
            <a:pPr marL="0" indent="0">
              <a:buNone/>
            </a:pPr>
            <a:r>
              <a:rPr lang="en-US" sz="800" dirty="0">
                <a:solidFill>
                  <a:srgbClr val="CBD5E1"/>
                </a:solidFill>
                <a:latin typeface="Calibri" pitchFamily="34" charset="0"/>
                <a:ea typeface="Calibri" pitchFamily="34" charset="-122"/>
                <a:cs typeface="Calibri" pitchFamily="34" charset="-120"/>
              </a:rPr>
              <a:t>T1573 Encrypted Channel</a:t>
            </a:r>
            <a:endParaRPr lang="en-US" sz="800" dirty="0"/>
          </a:p>
        </p:txBody>
      </p:sp>
      <p:sp>
        <p:nvSpPr>
          <p:cNvPr id="20" name="Shape 18"/>
          <p:cNvSpPr/>
          <p:nvPr/>
        </p:nvSpPr>
        <p:spPr>
          <a:xfrm>
            <a:off x="5669280" y="2926080"/>
            <a:ext cx="3108960" cy="1783080"/>
          </a:xfrm>
          <a:prstGeom prst="rect">
            <a:avLst/>
          </a:prstGeom>
          <a:solidFill>
            <a:srgbClr val="1A2536"/>
          </a:solidFill>
          <a:ln/>
        </p:spPr>
        <p:txBody>
          <a:bodyPr/>
          <a:lstStyle/>
          <a:p>
            <a:endParaRPr lang="en-US"/>
          </a:p>
        </p:txBody>
      </p:sp>
      <p:sp>
        <p:nvSpPr>
          <p:cNvPr id="21" name="Text 19"/>
          <p:cNvSpPr/>
          <p:nvPr/>
        </p:nvSpPr>
        <p:spPr>
          <a:xfrm>
            <a:off x="5852160" y="3017520"/>
            <a:ext cx="274320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False Positive Assessment</a:t>
            </a:r>
            <a:endParaRPr lang="en-US" sz="1100" dirty="0"/>
          </a:p>
        </p:txBody>
      </p:sp>
      <p:sp>
        <p:nvSpPr>
          <p:cNvPr id="22" name="Text 20"/>
          <p:cNvSpPr/>
          <p:nvPr/>
        </p:nvSpPr>
        <p:spPr>
          <a:xfrm>
            <a:off x="5852160" y="3291840"/>
            <a:ext cx="2743200" cy="1325880"/>
          </a:xfrm>
          <a:prstGeom prst="rect">
            <a:avLst/>
          </a:prstGeom>
          <a:noFill/>
          <a:ln/>
        </p:spPr>
        <p:txBody>
          <a:bodyPr wrap="square" lIns="0" tIns="0" rIns="0" bIns="0" rtlCol="0" anchor="ctr"/>
          <a:lstStyle/>
          <a:p>
            <a:pPr marL="0" indent="0">
              <a:lnSpc>
                <a:spcPct val="115000"/>
              </a:lnSpc>
              <a:buNone/>
            </a:pPr>
            <a:r>
              <a:rPr lang="en-US" sz="800" dirty="0">
                <a:solidFill>
                  <a:srgbClr val="8899AA"/>
                </a:solidFill>
                <a:latin typeface="Calibri" pitchFamily="34" charset="0"/>
                <a:ea typeface="Calibri" pitchFamily="34" charset="-122"/>
                <a:cs typeface="Calibri" pitchFamily="34" charset="-120"/>
              </a:rPr>
              <a:t>60/72 VT vendors confirmed the file as malicious. Multiple independent Suricata rules (PE download, ipconfig/nltest in POST body, External IP Lookup, OpenSSL Demo CA) corroborate the same event chain. All three C2 IPs independently flagged by VirusTotal. The combination of disguised file delivery, curl-based download, User-Agent: Ghost, and self-signed certificate infrastructure makes false positive probability extremely low.</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Non-Technical Summary</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Plain-language explanation for non-forensic readers</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7" name="Shape 5"/>
          <p:cNvSpPr/>
          <p:nvPr/>
        </p:nvSpPr>
        <p:spPr>
          <a:xfrm>
            <a:off x="548640" y="1097280"/>
            <a:ext cx="8046720" cy="777240"/>
          </a:xfrm>
          <a:prstGeom prst="rect">
            <a:avLst/>
          </a:prstGeom>
          <a:solidFill>
            <a:srgbClr val="1A2536"/>
          </a:solidFill>
          <a:ln/>
        </p:spPr>
        <p:txBody>
          <a:bodyPr/>
          <a:lstStyle/>
          <a:p>
            <a:endParaRPr lang="en-US"/>
          </a:p>
        </p:txBody>
      </p:sp>
      <p:sp>
        <p:nvSpPr>
          <p:cNvPr id="8" name="Text 6"/>
          <p:cNvSpPr/>
          <p:nvPr/>
        </p:nvSpPr>
        <p:spPr>
          <a:xfrm>
            <a:off x="731520" y="1143000"/>
            <a:ext cx="7680960" cy="228600"/>
          </a:xfrm>
          <a:prstGeom prst="rect">
            <a:avLst/>
          </a:prstGeom>
          <a:noFill/>
          <a:ln/>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What happened?</a:t>
            </a:r>
            <a:endParaRPr lang="en-US" sz="1200" dirty="0"/>
          </a:p>
        </p:txBody>
      </p:sp>
      <p:sp>
        <p:nvSpPr>
          <p:cNvPr id="9" name="Text 7"/>
          <p:cNvSpPr/>
          <p:nvPr/>
        </p:nvSpPr>
        <p:spPr>
          <a:xfrm>
            <a:off x="731520" y="1371600"/>
            <a:ext cx="7680960" cy="457200"/>
          </a:xfrm>
          <a:prstGeom prst="rect">
            <a:avLst/>
          </a:prstGeom>
          <a:noFill/>
          <a:ln/>
        </p:spPr>
        <p:txBody>
          <a:bodyPr wrap="square" lIns="0" tIns="0" rIns="0" bIns="0" rtlCol="0" anchor="ctr"/>
          <a:lstStyle/>
          <a:p>
            <a:pPr marL="0" indent="0">
              <a:lnSpc>
                <a:spcPct val="115000"/>
              </a:lnSpc>
              <a:buNone/>
            </a:pPr>
            <a:r>
              <a:rPr lang="en-US" sz="1000" dirty="0">
                <a:solidFill>
                  <a:srgbClr val="CBD5E1"/>
                </a:solidFill>
                <a:latin typeface="Calibri" pitchFamily="34" charset="0"/>
                <a:ea typeface="Calibri" pitchFamily="34" charset="-122"/>
                <a:cs typeface="Calibri" pitchFamily="34" charset="-120"/>
              </a:rPr>
              <a:t>A computer on the internal network (DESKTOP-M1TFHB6) was infected with malware called TrickBot after a malicious file disguised as a PDF document was downloaded to the machine.</a:t>
            </a:r>
            <a:endParaRPr lang="en-US" sz="1000" dirty="0"/>
          </a:p>
        </p:txBody>
      </p:sp>
      <p:sp>
        <p:nvSpPr>
          <p:cNvPr id="10" name="Shape 8"/>
          <p:cNvSpPr/>
          <p:nvPr/>
        </p:nvSpPr>
        <p:spPr>
          <a:xfrm>
            <a:off x="548640" y="2011680"/>
            <a:ext cx="8046720" cy="777240"/>
          </a:xfrm>
          <a:prstGeom prst="rect">
            <a:avLst/>
          </a:prstGeom>
          <a:solidFill>
            <a:srgbClr val="1A2536"/>
          </a:solidFill>
          <a:ln/>
        </p:spPr>
        <p:txBody>
          <a:bodyPr/>
          <a:lstStyle/>
          <a:p>
            <a:endParaRPr lang="en-US"/>
          </a:p>
        </p:txBody>
      </p:sp>
      <p:sp>
        <p:nvSpPr>
          <p:cNvPr id="11" name="Text 9"/>
          <p:cNvSpPr/>
          <p:nvPr/>
        </p:nvSpPr>
        <p:spPr>
          <a:xfrm>
            <a:off x="731520" y="2057400"/>
            <a:ext cx="7680960" cy="228600"/>
          </a:xfrm>
          <a:prstGeom prst="rect">
            <a:avLst/>
          </a:prstGeom>
          <a:noFill/>
          <a:ln/>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How did it happen?</a:t>
            </a:r>
            <a:endParaRPr lang="en-US" sz="1200" dirty="0"/>
          </a:p>
        </p:txBody>
      </p:sp>
      <p:sp>
        <p:nvSpPr>
          <p:cNvPr id="12" name="Text 10"/>
          <p:cNvSpPr/>
          <p:nvPr/>
        </p:nvSpPr>
        <p:spPr>
          <a:xfrm>
            <a:off x="731520" y="2286000"/>
            <a:ext cx="7680960" cy="457200"/>
          </a:xfrm>
          <a:prstGeom prst="rect">
            <a:avLst/>
          </a:prstGeom>
          <a:noFill/>
          <a:ln/>
        </p:spPr>
        <p:txBody>
          <a:bodyPr wrap="square" lIns="0" tIns="0" rIns="0" bIns="0" rtlCol="0" anchor="ctr"/>
          <a:lstStyle/>
          <a:p>
            <a:pPr marL="0" indent="0">
              <a:lnSpc>
                <a:spcPct val="115000"/>
              </a:lnSpc>
              <a:buNone/>
            </a:pPr>
            <a:r>
              <a:rPr lang="en-US" sz="1000" dirty="0">
                <a:solidFill>
                  <a:srgbClr val="CBD5E1"/>
                </a:solidFill>
                <a:latin typeface="Calibri" pitchFamily="34" charset="0"/>
                <a:ea typeface="Calibri" pitchFamily="34" charset="-122"/>
                <a:cs typeface="Calibri" pitchFamily="34" charset="-120"/>
              </a:rPr>
              <a:t>The file appeared to be a normal PDF (ooiwy.pdf) but was actually a harmful program. It was downloaded using an automated tool (curl), not through normal web browsing. Once the file ran, it immediately began contacting criminal servers overseas.</a:t>
            </a:r>
            <a:endParaRPr lang="en-US" sz="1000" dirty="0"/>
          </a:p>
        </p:txBody>
      </p:sp>
      <p:sp>
        <p:nvSpPr>
          <p:cNvPr id="13" name="Shape 11"/>
          <p:cNvSpPr/>
          <p:nvPr/>
        </p:nvSpPr>
        <p:spPr>
          <a:xfrm>
            <a:off x="548640" y="2926080"/>
            <a:ext cx="8046720" cy="777240"/>
          </a:xfrm>
          <a:prstGeom prst="rect">
            <a:avLst/>
          </a:prstGeom>
          <a:solidFill>
            <a:srgbClr val="1A2536"/>
          </a:solidFill>
          <a:ln/>
        </p:spPr>
        <p:txBody>
          <a:bodyPr/>
          <a:lstStyle/>
          <a:p>
            <a:endParaRPr lang="en-US"/>
          </a:p>
        </p:txBody>
      </p:sp>
      <p:sp>
        <p:nvSpPr>
          <p:cNvPr id="14" name="Text 12"/>
          <p:cNvSpPr/>
          <p:nvPr/>
        </p:nvSpPr>
        <p:spPr>
          <a:xfrm>
            <a:off x="731520" y="2971800"/>
            <a:ext cx="7680960" cy="228600"/>
          </a:xfrm>
          <a:prstGeom prst="rect">
            <a:avLst/>
          </a:prstGeom>
          <a:noFill/>
          <a:ln/>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What did the malware do?</a:t>
            </a:r>
            <a:endParaRPr lang="en-US" sz="1200" dirty="0"/>
          </a:p>
        </p:txBody>
      </p:sp>
      <p:sp>
        <p:nvSpPr>
          <p:cNvPr id="15" name="Text 13"/>
          <p:cNvSpPr/>
          <p:nvPr/>
        </p:nvSpPr>
        <p:spPr>
          <a:xfrm>
            <a:off x="731520" y="3200400"/>
            <a:ext cx="7680960" cy="457200"/>
          </a:xfrm>
          <a:prstGeom prst="rect">
            <a:avLst/>
          </a:prstGeom>
          <a:noFill/>
          <a:ln/>
        </p:spPr>
        <p:txBody>
          <a:bodyPr wrap="square" lIns="0" tIns="0" rIns="0" bIns="0" rtlCol="0" anchor="ctr"/>
          <a:lstStyle/>
          <a:p>
            <a:pPr marL="0" indent="0">
              <a:lnSpc>
                <a:spcPct val="115000"/>
              </a:lnSpc>
              <a:buNone/>
            </a:pPr>
            <a:r>
              <a:rPr lang="en-US" sz="1000" dirty="0">
                <a:solidFill>
                  <a:srgbClr val="CBD5E1"/>
                </a:solidFill>
                <a:latin typeface="Calibri" pitchFamily="34" charset="0"/>
                <a:ea typeface="Calibri" pitchFamily="34" charset="-122"/>
                <a:cs typeface="Calibri" pitchFamily="34" charset="-120"/>
              </a:rPr>
              <a:t>TrickBot collected detailed information about the infected computer: what programs were running, the computer's name, network settings, and what other computers were on the network. All of this information was sent to servers controlled by the attackers in Bangladesh, Indonesia, and elsewhere.</a:t>
            </a:r>
            <a:endParaRPr lang="en-US" sz="1000" dirty="0"/>
          </a:p>
        </p:txBody>
      </p:sp>
      <p:sp>
        <p:nvSpPr>
          <p:cNvPr id="16" name="Shape 14"/>
          <p:cNvSpPr/>
          <p:nvPr/>
        </p:nvSpPr>
        <p:spPr>
          <a:xfrm>
            <a:off x="548640" y="3840480"/>
            <a:ext cx="8046720" cy="777240"/>
          </a:xfrm>
          <a:prstGeom prst="rect">
            <a:avLst/>
          </a:prstGeom>
          <a:solidFill>
            <a:srgbClr val="1A2536"/>
          </a:solidFill>
          <a:ln/>
        </p:spPr>
        <p:txBody>
          <a:bodyPr/>
          <a:lstStyle/>
          <a:p>
            <a:endParaRPr lang="en-US"/>
          </a:p>
        </p:txBody>
      </p:sp>
      <p:sp>
        <p:nvSpPr>
          <p:cNvPr id="17" name="Text 15"/>
          <p:cNvSpPr/>
          <p:nvPr/>
        </p:nvSpPr>
        <p:spPr>
          <a:xfrm>
            <a:off x="731520" y="3886200"/>
            <a:ext cx="7680960" cy="228600"/>
          </a:xfrm>
          <a:prstGeom prst="rect">
            <a:avLst/>
          </a:prstGeom>
          <a:noFill/>
          <a:ln/>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Was it contained?</a:t>
            </a:r>
            <a:endParaRPr lang="en-US" sz="1200" dirty="0"/>
          </a:p>
        </p:txBody>
      </p:sp>
      <p:sp>
        <p:nvSpPr>
          <p:cNvPr id="18" name="Text 16"/>
          <p:cNvSpPr/>
          <p:nvPr/>
        </p:nvSpPr>
        <p:spPr>
          <a:xfrm>
            <a:off x="731520" y="4114800"/>
            <a:ext cx="7680960" cy="457200"/>
          </a:xfrm>
          <a:prstGeom prst="rect">
            <a:avLst/>
          </a:prstGeom>
          <a:noFill/>
          <a:ln/>
        </p:spPr>
        <p:txBody>
          <a:bodyPr wrap="square" lIns="0" tIns="0" rIns="0" bIns="0" rtlCol="0" anchor="ctr"/>
          <a:lstStyle/>
          <a:p>
            <a:pPr marL="0" indent="0">
              <a:lnSpc>
                <a:spcPct val="115000"/>
              </a:lnSpc>
              <a:buNone/>
            </a:pPr>
            <a:r>
              <a:rPr lang="en-US" sz="1000" dirty="0">
                <a:solidFill>
                  <a:srgbClr val="CBD5E1"/>
                </a:solidFill>
                <a:latin typeface="Calibri" pitchFamily="34" charset="0"/>
                <a:ea typeface="Calibri" pitchFamily="34" charset="-122"/>
                <a:cs typeface="Calibri" pitchFamily="34" charset="-120"/>
              </a:rPr>
              <a:t>Yes. No other computers on the internal network were affected. The infection was isolated to a single machine. However, the system data already exfiltrated could enable the attacker to plan further attacks against the network.</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Conclusions</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Key findings proven through forensic analysis</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8" name="Text 6"/>
          <p:cNvSpPr/>
          <p:nvPr/>
        </p:nvSpPr>
        <p:spPr>
          <a:xfrm>
            <a:off x="594360" y="1143000"/>
            <a:ext cx="2286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960120" y="1097280"/>
            <a:ext cx="7772400" cy="502920"/>
          </a:xfrm>
          <a:prstGeom prst="rect">
            <a:avLst/>
          </a:prstGeom>
          <a:noFill/>
          <a:ln/>
        </p:spPr>
        <p:txBody>
          <a:bodyPr wrap="square" lIns="0" tIns="0" rIns="0" bIns="0" rtlCol="0" anchor="ctr"/>
          <a:lstStyle/>
          <a:p>
            <a:pPr marL="0" indent="0">
              <a:lnSpc>
                <a:spcPct val="110000"/>
              </a:lnSpc>
              <a:buNone/>
            </a:pPr>
            <a:r>
              <a:rPr lang="en-US" sz="1000" dirty="0">
                <a:solidFill>
                  <a:srgbClr val="CBD5E1"/>
                </a:solidFill>
                <a:latin typeface="Calibri" pitchFamily="34" charset="0"/>
                <a:ea typeface="Calibri" pitchFamily="34" charset="-122"/>
                <a:cs typeface="Calibri" pitchFamily="34" charset="-120"/>
              </a:rPr>
              <a:t>DESKTOP-M1TFHB6 (10.8.19.101) was infected with TrickBot trojan on 2021-08-19 via a disguised executable (ooiwy.pdf), confirmed by Suricata, Wireshark, NetworkMiner, and VirusTotal (60/72 detections).</a:t>
            </a:r>
            <a:endParaRPr lang="en-US" sz="1000" dirty="0"/>
          </a:p>
        </p:txBody>
      </p:sp>
      <p:sp>
        <p:nvSpPr>
          <p:cNvPr id="11" name="Text 9"/>
          <p:cNvSpPr/>
          <p:nvPr/>
        </p:nvSpPr>
        <p:spPr>
          <a:xfrm>
            <a:off x="594360" y="1737360"/>
            <a:ext cx="2286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960120" y="1691640"/>
            <a:ext cx="7772400" cy="502920"/>
          </a:xfrm>
          <a:prstGeom prst="rect">
            <a:avLst/>
          </a:prstGeom>
          <a:noFill/>
          <a:ln/>
        </p:spPr>
        <p:txBody>
          <a:bodyPr wrap="square" lIns="0" tIns="0" rIns="0" bIns="0" rtlCol="0" anchor="ctr"/>
          <a:lstStyle/>
          <a:p>
            <a:pPr marL="0" indent="0">
              <a:lnSpc>
                <a:spcPct val="110000"/>
              </a:lnSpc>
              <a:buNone/>
            </a:pPr>
            <a:r>
              <a:rPr lang="en-US" sz="1000" dirty="0">
                <a:solidFill>
                  <a:srgbClr val="CBD5E1"/>
                </a:solidFill>
                <a:latin typeface="Calibri" pitchFamily="34" charset="0"/>
                <a:ea typeface="Calibri" pitchFamily="34" charset="-122"/>
                <a:cs typeface="Calibri" pitchFamily="34" charset="-120"/>
              </a:rPr>
              <a:t>The infection vector was a PE32 DLL delivered as a fake PDF file from 185.244.41.29 via curl/7.55.1, indicating automated or scripted delivery rather than user-initiated browsing.</a:t>
            </a:r>
            <a:endParaRPr lang="en-US" sz="1000" dirty="0"/>
          </a:p>
        </p:txBody>
      </p:sp>
      <p:sp>
        <p:nvSpPr>
          <p:cNvPr id="14" name="Text 12"/>
          <p:cNvSpPr/>
          <p:nvPr/>
        </p:nvSpPr>
        <p:spPr>
          <a:xfrm>
            <a:off x="594360" y="2331720"/>
            <a:ext cx="2286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960120" y="2286000"/>
            <a:ext cx="7772400" cy="502920"/>
          </a:xfrm>
          <a:prstGeom prst="rect">
            <a:avLst/>
          </a:prstGeom>
          <a:noFill/>
          <a:ln/>
        </p:spPr>
        <p:txBody>
          <a:bodyPr wrap="square" lIns="0" tIns="0" rIns="0" bIns="0" rtlCol="0" anchor="ctr"/>
          <a:lstStyle/>
          <a:p>
            <a:pPr marL="0" indent="0">
              <a:lnSpc>
                <a:spcPct val="110000"/>
              </a:lnSpc>
              <a:buNone/>
            </a:pPr>
            <a:r>
              <a:rPr lang="en-US" sz="1000" dirty="0">
                <a:solidFill>
                  <a:srgbClr val="CBD5E1"/>
                </a:solidFill>
                <a:latin typeface="Calibri" pitchFamily="34" charset="0"/>
                <a:ea typeface="Calibri" pitchFamily="34" charset="-122"/>
                <a:cs typeface="Calibri" pitchFamily="34" charset="-120"/>
              </a:rPr>
              <a:t>TrickBot exfiltrated comprehensive system reconnaissance data (tasklist, systeminfo, ipconfig /all, net config workstation, nltest) to primary C2 server 103.148.41.195 via HTTP POST with User-Agent: Ghost.</a:t>
            </a:r>
            <a:endParaRPr lang="en-US" sz="1000" dirty="0"/>
          </a:p>
        </p:txBody>
      </p:sp>
      <p:sp>
        <p:nvSpPr>
          <p:cNvPr id="17" name="Text 15"/>
          <p:cNvSpPr/>
          <p:nvPr/>
        </p:nvSpPr>
        <p:spPr>
          <a:xfrm>
            <a:off x="594360" y="2926080"/>
            <a:ext cx="2286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960120" y="2880360"/>
            <a:ext cx="7772400" cy="502920"/>
          </a:xfrm>
          <a:prstGeom prst="rect">
            <a:avLst/>
          </a:prstGeom>
          <a:noFill/>
          <a:ln/>
        </p:spPr>
        <p:txBody>
          <a:bodyPr wrap="square" lIns="0" tIns="0" rIns="0" bIns="0" rtlCol="0" anchor="ctr"/>
          <a:lstStyle/>
          <a:p>
            <a:pPr marL="0" indent="0">
              <a:lnSpc>
                <a:spcPct val="110000"/>
              </a:lnSpc>
              <a:buNone/>
            </a:pPr>
            <a:r>
              <a:rPr lang="en-US" sz="1000" dirty="0">
                <a:solidFill>
                  <a:srgbClr val="CBD5E1"/>
                </a:solidFill>
                <a:latin typeface="Calibri" pitchFamily="34" charset="0"/>
                <a:ea typeface="Calibri" pitchFamily="34" charset="-122"/>
                <a:cs typeface="Calibri" pitchFamily="34" charset="-120"/>
              </a:rPr>
              <a:t>Three C2 servers were identified: 103.148.41.195 (BD), 46.99.175.149 (12/94 VT), and 182.253.210.130 (11/94 VT). All used identical self-signed "Internet Widgits Pty Ltd" certificates.</a:t>
            </a:r>
            <a:endParaRPr lang="en-US" sz="1000" dirty="0"/>
          </a:p>
        </p:txBody>
      </p:sp>
      <p:sp>
        <p:nvSpPr>
          <p:cNvPr id="20" name="Text 18"/>
          <p:cNvSpPr/>
          <p:nvPr/>
        </p:nvSpPr>
        <p:spPr>
          <a:xfrm>
            <a:off x="594360" y="3520440"/>
            <a:ext cx="2286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960120" y="3474720"/>
            <a:ext cx="7772400" cy="502920"/>
          </a:xfrm>
          <a:prstGeom prst="rect">
            <a:avLst/>
          </a:prstGeom>
          <a:noFill/>
          <a:ln/>
        </p:spPr>
        <p:txBody>
          <a:bodyPr wrap="square" lIns="0" tIns="0" rIns="0" bIns="0" rtlCol="0" anchor="ctr"/>
          <a:lstStyle/>
          <a:p>
            <a:pPr marL="0" indent="0">
              <a:lnSpc>
                <a:spcPct val="110000"/>
              </a:lnSpc>
              <a:buNone/>
            </a:pPr>
            <a:r>
              <a:rPr lang="en-US" sz="1000" dirty="0">
                <a:solidFill>
                  <a:srgbClr val="CBD5E1"/>
                </a:solidFill>
                <a:latin typeface="Calibri" pitchFamily="34" charset="0"/>
                <a:ea typeface="Calibri" pitchFamily="34" charset="-122"/>
                <a:cs typeface="Calibri" pitchFamily="34" charset="-120"/>
              </a:rPr>
              <a:t>External IP reconnaissance via api.ipify.org and domain enumeration via nltest indicate the attacker was profiling the network for potential lateral movement.</a:t>
            </a:r>
            <a:endParaRPr lang="en-US" sz="1000" dirty="0"/>
          </a:p>
        </p:txBody>
      </p:sp>
      <p:sp>
        <p:nvSpPr>
          <p:cNvPr id="23" name="Text 21"/>
          <p:cNvSpPr/>
          <p:nvPr/>
        </p:nvSpPr>
        <p:spPr>
          <a:xfrm>
            <a:off x="594360" y="4114800"/>
            <a:ext cx="2286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60120" y="4069080"/>
            <a:ext cx="7772400" cy="502920"/>
          </a:xfrm>
          <a:prstGeom prst="rect">
            <a:avLst/>
          </a:prstGeom>
          <a:noFill/>
          <a:ln/>
        </p:spPr>
        <p:txBody>
          <a:bodyPr wrap="square" lIns="0" tIns="0" rIns="0" bIns="0" rtlCol="0" anchor="ctr"/>
          <a:lstStyle/>
          <a:p>
            <a:pPr marL="0" indent="0">
              <a:lnSpc>
                <a:spcPct val="110000"/>
              </a:lnSpc>
              <a:buNone/>
            </a:pPr>
            <a:r>
              <a:rPr lang="en-US" sz="1000" dirty="0">
                <a:solidFill>
                  <a:srgbClr val="CBD5E1"/>
                </a:solidFill>
                <a:latin typeface="Calibri" pitchFamily="34" charset="0"/>
                <a:ea typeface="Calibri" pitchFamily="34" charset="-122"/>
                <a:cs typeface="Calibri" pitchFamily="34" charset="-120"/>
              </a:rPr>
              <a:t>No lateral movement detected. Infection contained to a single machine on the 10.8.19.0/24 network. False positive probability: extremely low, with multiple independent signatures and VirusTotal corroboration.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Recommendations</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Remediation steps tied to specific findings</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7" name="Shape 5"/>
          <p:cNvSpPr/>
          <p:nvPr/>
        </p:nvSpPr>
        <p:spPr>
          <a:xfrm>
            <a:off x="548640" y="1097280"/>
            <a:ext cx="4114800" cy="1097280"/>
          </a:xfrm>
          <a:prstGeom prst="rect">
            <a:avLst/>
          </a:prstGeom>
          <a:solidFill>
            <a:srgbClr val="1A2536"/>
          </a:solidFill>
          <a:ln/>
        </p:spPr>
        <p:txBody>
          <a:bodyPr/>
          <a:lstStyle/>
          <a:p>
            <a:endParaRPr lang="en-US"/>
          </a:p>
        </p:txBody>
      </p:sp>
      <p:sp>
        <p:nvSpPr>
          <p:cNvPr id="8" name="Shape 6"/>
          <p:cNvSpPr/>
          <p:nvPr/>
        </p:nvSpPr>
        <p:spPr>
          <a:xfrm>
            <a:off x="685800" y="1234440"/>
            <a:ext cx="320040" cy="320040"/>
          </a:xfrm>
          <a:prstGeom prst="ellipse">
            <a:avLst/>
          </a:prstGeom>
          <a:solidFill>
            <a:srgbClr val="B85042"/>
          </a:solidFill>
          <a:ln/>
        </p:spPr>
        <p:txBody>
          <a:bodyPr/>
          <a:lstStyle/>
          <a:p>
            <a:endParaRPr lang="en-US"/>
          </a:p>
        </p:txBody>
      </p:sp>
      <p:sp>
        <p:nvSpPr>
          <p:cNvPr id="9" name="Text 7"/>
          <p:cNvSpPr/>
          <p:nvPr/>
        </p:nvSpPr>
        <p:spPr>
          <a:xfrm>
            <a:off x="685800" y="123444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143000" y="1188720"/>
            <a:ext cx="32918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Isolate &amp; Reimage DESKTOP-M1TFHB6</a:t>
            </a:r>
            <a:endParaRPr lang="en-US" sz="1100" dirty="0"/>
          </a:p>
        </p:txBody>
      </p:sp>
      <p:sp>
        <p:nvSpPr>
          <p:cNvPr id="11" name="Text 9"/>
          <p:cNvSpPr/>
          <p:nvPr/>
        </p:nvSpPr>
        <p:spPr>
          <a:xfrm>
            <a:off x="1143000" y="1481328"/>
            <a:ext cx="3291840" cy="64008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Finding: TrickBot confirmed. Immediately isolate 10.8.19.101 from the network. Wipe and reimage. System reconnaissance data was already exfiltrated, so assume credentials and network topology are compromised.</a:t>
            </a:r>
            <a:endParaRPr lang="en-US" sz="850" dirty="0"/>
          </a:p>
        </p:txBody>
      </p:sp>
      <p:sp>
        <p:nvSpPr>
          <p:cNvPr id="12" name="Shape 10"/>
          <p:cNvSpPr/>
          <p:nvPr/>
        </p:nvSpPr>
        <p:spPr>
          <a:xfrm>
            <a:off x="548640" y="2331720"/>
            <a:ext cx="4114800" cy="1097280"/>
          </a:xfrm>
          <a:prstGeom prst="rect">
            <a:avLst/>
          </a:prstGeom>
          <a:solidFill>
            <a:srgbClr val="1A2536"/>
          </a:solidFill>
          <a:ln/>
        </p:spPr>
        <p:txBody>
          <a:bodyPr/>
          <a:lstStyle/>
          <a:p>
            <a:endParaRPr lang="en-US"/>
          </a:p>
        </p:txBody>
      </p:sp>
      <p:sp>
        <p:nvSpPr>
          <p:cNvPr id="13" name="Shape 11"/>
          <p:cNvSpPr/>
          <p:nvPr/>
        </p:nvSpPr>
        <p:spPr>
          <a:xfrm>
            <a:off x="685800" y="2468880"/>
            <a:ext cx="320040" cy="320040"/>
          </a:xfrm>
          <a:prstGeom prst="ellipse">
            <a:avLst/>
          </a:prstGeom>
          <a:solidFill>
            <a:srgbClr val="B85042"/>
          </a:solidFill>
          <a:ln/>
        </p:spPr>
        <p:txBody>
          <a:bodyPr/>
          <a:lstStyle/>
          <a:p>
            <a:endParaRPr lang="en-US"/>
          </a:p>
        </p:txBody>
      </p:sp>
      <p:sp>
        <p:nvSpPr>
          <p:cNvPr id="14" name="Text 12"/>
          <p:cNvSpPr/>
          <p:nvPr/>
        </p:nvSpPr>
        <p:spPr>
          <a:xfrm>
            <a:off x="685800" y="246888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143000" y="2423160"/>
            <a:ext cx="32918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Block Malicious IPs &amp; Monitor</a:t>
            </a:r>
            <a:endParaRPr lang="en-US" sz="1100" dirty="0"/>
          </a:p>
        </p:txBody>
      </p:sp>
      <p:sp>
        <p:nvSpPr>
          <p:cNvPr id="16" name="Text 14"/>
          <p:cNvSpPr/>
          <p:nvPr/>
        </p:nvSpPr>
        <p:spPr>
          <a:xfrm>
            <a:off x="1143000" y="2715768"/>
            <a:ext cx="3291840" cy="64008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Finding: Multiple C2 servers identified. Block 185.244.41.29, 103.148.41.195, 46.99.175.149, and 182.253.210.130 at the perimeter firewall. Monitor for any connection attempts from other hosts.</a:t>
            </a:r>
            <a:endParaRPr lang="en-US" sz="850" dirty="0"/>
          </a:p>
        </p:txBody>
      </p:sp>
      <p:sp>
        <p:nvSpPr>
          <p:cNvPr id="17" name="Shape 15"/>
          <p:cNvSpPr/>
          <p:nvPr/>
        </p:nvSpPr>
        <p:spPr>
          <a:xfrm>
            <a:off x="548640" y="3566160"/>
            <a:ext cx="4114800" cy="1097280"/>
          </a:xfrm>
          <a:prstGeom prst="rect">
            <a:avLst/>
          </a:prstGeom>
          <a:solidFill>
            <a:srgbClr val="1A2536"/>
          </a:solidFill>
          <a:ln/>
        </p:spPr>
        <p:txBody>
          <a:bodyPr/>
          <a:lstStyle/>
          <a:p>
            <a:endParaRPr lang="en-US"/>
          </a:p>
        </p:txBody>
      </p:sp>
      <p:sp>
        <p:nvSpPr>
          <p:cNvPr id="18" name="Shape 16"/>
          <p:cNvSpPr/>
          <p:nvPr/>
        </p:nvSpPr>
        <p:spPr>
          <a:xfrm>
            <a:off x="685800" y="3703320"/>
            <a:ext cx="320040" cy="320040"/>
          </a:xfrm>
          <a:prstGeom prst="ellipse">
            <a:avLst/>
          </a:prstGeom>
          <a:solidFill>
            <a:srgbClr val="B85042"/>
          </a:solidFill>
          <a:ln/>
        </p:spPr>
        <p:txBody>
          <a:bodyPr/>
          <a:lstStyle/>
          <a:p>
            <a:endParaRPr lang="en-US"/>
          </a:p>
        </p:txBody>
      </p:sp>
      <p:sp>
        <p:nvSpPr>
          <p:cNvPr id="19" name="Text 17"/>
          <p:cNvSpPr/>
          <p:nvPr/>
        </p:nvSpPr>
        <p:spPr>
          <a:xfrm>
            <a:off x="685800" y="37033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143000" y="3657600"/>
            <a:ext cx="32918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Alert on Self-Signed Certificate Patterns</a:t>
            </a:r>
            <a:endParaRPr lang="en-US" sz="1100" dirty="0"/>
          </a:p>
        </p:txBody>
      </p:sp>
      <p:sp>
        <p:nvSpPr>
          <p:cNvPr id="21" name="Text 19"/>
          <p:cNvSpPr/>
          <p:nvPr/>
        </p:nvSpPr>
        <p:spPr>
          <a:xfrm>
            <a:off x="1143000" y="3950208"/>
            <a:ext cx="3291840" cy="64008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Finding: All C2 used "Internet Widgits Pty Ltd" certs. Implement TLS inspection or JA3 fingerprinting to detect connections using default/self-signed OpenSSL certificates.</a:t>
            </a:r>
            <a:endParaRPr lang="en-US" sz="850" dirty="0"/>
          </a:p>
        </p:txBody>
      </p:sp>
      <p:sp>
        <p:nvSpPr>
          <p:cNvPr id="22" name="Shape 20"/>
          <p:cNvSpPr/>
          <p:nvPr/>
        </p:nvSpPr>
        <p:spPr>
          <a:xfrm>
            <a:off x="4846320" y="1097280"/>
            <a:ext cx="4114800" cy="1097280"/>
          </a:xfrm>
          <a:prstGeom prst="rect">
            <a:avLst/>
          </a:prstGeom>
          <a:solidFill>
            <a:srgbClr val="1A2536"/>
          </a:solidFill>
          <a:ln/>
        </p:spPr>
        <p:txBody>
          <a:bodyPr/>
          <a:lstStyle/>
          <a:p>
            <a:endParaRPr lang="en-US"/>
          </a:p>
        </p:txBody>
      </p:sp>
      <p:sp>
        <p:nvSpPr>
          <p:cNvPr id="23" name="Shape 21"/>
          <p:cNvSpPr/>
          <p:nvPr/>
        </p:nvSpPr>
        <p:spPr>
          <a:xfrm>
            <a:off x="4983480" y="1234440"/>
            <a:ext cx="320040" cy="320040"/>
          </a:xfrm>
          <a:prstGeom prst="ellipse">
            <a:avLst/>
          </a:prstGeom>
          <a:solidFill>
            <a:srgbClr val="B85042"/>
          </a:solidFill>
          <a:ln/>
        </p:spPr>
        <p:txBody>
          <a:bodyPr/>
          <a:lstStyle/>
          <a:p>
            <a:endParaRPr lang="en-US"/>
          </a:p>
        </p:txBody>
      </p:sp>
      <p:sp>
        <p:nvSpPr>
          <p:cNvPr id="24" name="Text 22"/>
          <p:cNvSpPr/>
          <p:nvPr/>
        </p:nvSpPr>
        <p:spPr>
          <a:xfrm>
            <a:off x="4983480" y="123444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5440680" y="1188720"/>
            <a:ext cx="32918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Block Suspicious User-Agents</a:t>
            </a:r>
            <a:endParaRPr lang="en-US" sz="1100" dirty="0"/>
          </a:p>
        </p:txBody>
      </p:sp>
      <p:sp>
        <p:nvSpPr>
          <p:cNvPr id="26" name="Text 24"/>
          <p:cNvSpPr/>
          <p:nvPr/>
        </p:nvSpPr>
        <p:spPr>
          <a:xfrm>
            <a:off x="5440680" y="1481328"/>
            <a:ext cx="3291840" cy="64008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Finding: curl and Ghost user agents used. Web proxy rules should flag or block curl, Ghost, and other non-standard user agents initiating outbound HTTP/HTTPS connections from workstations.</a:t>
            </a:r>
            <a:endParaRPr lang="en-US" sz="850" dirty="0"/>
          </a:p>
        </p:txBody>
      </p:sp>
      <p:sp>
        <p:nvSpPr>
          <p:cNvPr id="27" name="Shape 25"/>
          <p:cNvSpPr/>
          <p:nvPr/>
        </p:nvSpPr>
        <p:spPr>
          <a:xfrm>
            <a:off x="4846320" y="2331720"/>
            <a:ext cx="4114800" cy="1097280"/>
          </a:xfrm>
          <a:prstGeom prst="rect">
            <a:avLst/>
          </a:prstGeom>
          <a:solidFill>
            <a:srgbClr val="1A2536"/>
          </a:solidFill>
          <a:ln/>
        </p:spPr>
        <p:txBody>
          <a:bodyPr/>
          <a:lstStyle/>
          <a:p>
            <a:endParaRPr lang="en-US"/>
          </a:p>
        </p:txBody>
      </p:sp>
      <p:sp>
        <p:nvSpPr>
          <p:cNvPr id="28" name="Shape 26"/>
          <p:cNvSpPr/>
          <p:nvPr/>
        </p:nvSpPr>
        <p:spPr>
          <a:xfrm>
            <a:off x="4983480" y="2468880"/>
            <a:ext cx="320040" cy="320040"/>
          </a:xfrm>
          <a:prstGeom prst="ellipse">
            <a:avLst/>
          </a:prstGeom>
          <a:solidFill>
            <a:srgbClr val="B85042"/>
          </a:solidFill>
          <a:ln/>
        </p:spPr>
        <p:txBody>
          <a:bodyPr/>
          <a:lstStyle/>
          <a:p>
            <a:endParaRPr lang="en-US"/>
          </a:p>
        </p:txBody>
      </p:sp>
      <p:sp>
        <p:nvSpPr>
          <p:cNvPr id="29" name="Text 27"/>
          <p:cNvSpPr/>
          <p:nvPr/>
        </p:nvSpPr>
        <p:spPr>
          <a:xfrm>
            <a:off x="4983480" y="246888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8"/>
          <p:cNvSpPr/>
          <p:nvPr/>
        </p:nvSpPr>
        <p:spPr>
          <a:xfrm>
            <a:off x="5440680" y="2423160"/>
            <a:ext cx="32918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Restrict External IP Lookup Services</a:t>
            </a:r>
            <a:endParaRPr lang="en-US" sz="1100" dirty="0"/>
          </a:p>
        </p:txBody>
      </p:sp>
      <p:sp>
        <p:nvSpPr>
          <p:cNvPr id="31" name="Text 29"/>
          <p:cNvSpPr/>
          <p:nvPr/>
        </p:nvSpPr>
        <p:spPr>
          <a:xfrm>
            <a:off x="5440680" y="2715768"/>
            <a:ext cx="3291840" cy="64008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Finding: api.ipify.org used for recon. Block or alert on connections to known external IP lookup services (ipify, ifconfig.me, ipecho.net) from internal workstations.</a:t>
            </a:r>
            <a:endParaRPr lang="en-US" sz="850" dirty="0"/>
          </a:p>
        </p:txBody>
      </p:sp>
      <p:sp>
        <p:nvSpPr>
          <p:cNvPr id="32" name="Shape 30"/>
          <p:cNvSpPr/>
          <p:nvPr/>
        </p:nvSpPr>
        <p:spPr>
          <a:xfrm>
            <a:off x="4846320" y="3566160"/>
            <a:ext cx="4114800" cy="1097280"/>
          </a:xfrm>
          <a:prstGeom prst="rect">
            <a:avLst/>
          </a:prstGeom>
          <a:solidFill>
            <a:srgbClr val="1A2536"/>
          </a:solidFill>
          <a:ln/>
        </p:spPr>
        <p:txBody>
          <a:bodyPr/>
          <a:lstStyle/>
          <a:p>
            <a:endParaRPr lang="en-US"/>
          </a:p>
        </p:txBody>
      </p:sp>
      <p:sp>
        <p:nvSpPr>
          <p:cNvPr id="33" name="Shape 31"/>
          <p:cNvSpPr/>
          <p:nvPr/>
        </p:nvSpPr>
        <p:spPr>
          <a:xfrm>
            <a:off x="4983480" y="3703320"/>
            <a:ext cx="320040" cy="320040"/>
          </a:xfrm>
          <a:prstGeom prst="ellipse">
            <a:avLst/>
          </a:prstGeom>
          <a:solidFill>
            <a:srgbClr val="B85042"/>
          </a:solidFill>
          <a:ln/>
        </p:spPr>
        <p:txBody>
          <a:bodyPr/>
          <a:lstStyle/>
          <a:p>
            <a:endParaRPr lang="en-US"/>
          </a:p>
        </p:txBody>
      </p:sp>
      <p:sp>
        <p:nvSpPr>
          <p:cNvPr id="34" name="Text 32"/>
          <p:cNvSpPr/>
          <p:nvPr/>
        </p:nvSpPr>
        <p:spPr>
          <a:xfrm>
            <a:off x="4983480" y="3703320"/>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5" name="Text 33"/>
          <p:cNvSpPr/>
          <p:nvPr/>
        </p:nvSpPr>
        <p:spPr>
          <a:xfrm>
            <a:off x="5440680" y="3657600"/>
            <a:ext cx="32918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Conduct Enterprise-Wide IOC Sweep</a:t>
            </a:r>
            <a:endParaRPr lang="en-US" sz="1100" dirty="0"/>
          </a:p>
        </p:txBody>
      </p:sp>
      <p:sp>
        <p:nvSpPr>
          <p:cNvPr id="36" name="Text 34"/>
          <p:cNvSpPr/>
          <p:nvPr/>
        </p:nvSpPr>
        <p:spPr>
          <a:xfrm>
            <a:off x="5440680" y="3950208"/>
            <a:ext cx="3291840" cy="640080"/>
          </a:xfrm>
          <a:prstGeom prst="rect">
            <a:avLst/>
          </a:prstGeom>
          <a:noFill/>
          <a:ln/>
        </p:spPr>
        <p:txBody>
          <a:bodyPr wrap="square" lIns="0" tIns="0" rIns="0" bIns="0" rtlCol="0" anchor="ctr"/>
          <a:lstStyle/>
          <a:p>
            <a:pPr marL="0" indent="0">
              <a:lnSpc>
                <a:spcPct val="115000"/>
              </a:lnSpc>
              <a:buNone/>
            </a:pPr>
            <a:r>
              <a:rPr lang="en-US" sz="850" dirty="0">
                <a:solidFill>
                  <a:srgbClr val="8899AA"/>
                </a:solidFill>
                <a:latin typeface="Calibri" pitchFamily="34" charset="0"/>
                <a:ea typeface="Calibri" pitchFamily="34" charset="-122"/>
                <a:cs typeface="Calibri" pitchFamily="34" charset="-120"/>
              </a:rPr>
              <a:t>Finding: TrickBot may have spread via other vectors. Search all endpoints for the extracted file hash, C2 IP connections, and Ghost user agent in proxy logs.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A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5042"/>
          </a:solidFill>
          <a:ln/>
        </p:spPr>
        <p:txBody>
          <a:bodyPr/>
          <a:lstStyle/>
          <a:p>
            <a:endParaRPr lang="en-US"/>
          </a:p>
        </p:txBody>
      </p:sp>
      <p:sp>
        <p:nvSpPr>
          <p:cNvPr id="3" name="Text 1"/>
          <p:cNvSpPr/>
          <p:nvPr/>
        </p:nvSpPr>
        <p:spPr>
          <a:xfrm>
            <a:off x="548640" y="22860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References</a:t>
            </a:r>
            <a:endParaRPr lang="en-US" sz="28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Tools, documentation, and authoritative sources</a:t>
            </a:r>
            <a:endParaRPr lang="en-US" sz="1200" dirty="0"/>
          </a:p>
        </p:txBody>
      </p:sp>
      <p:sp>
        <p:nvSpPr>
          <p:cNvPr id="5" name="Shape 3"/>
          <p:cNvSpPr/>
          <p:nvPr/>
        </p:nvSpPr>
        <p:spPr>
          <a:xfrm>
            <a:off x="0" y="4892040"/>
            <a:ext cx="9144000" cy="256032"/>
          </a:xfrm>
          <a:prstGeom prst="rect">
            <a:avLst/>
          </a:prstGeom>
          <a:solidFill>
            <a:srgbClr val="0F172A"/>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8899AA"/>
                </a:solidFill>
                <a:latin typeface="Calibri" pitchFamily="34" charset="0"/>
                <a:ea typeface="Calibri" pitchFamily="34" charset="-122"/>
                <a:cs typeface="Calibri" pitchFamily="34" charset="-120"/>
              </a:rPr>
              <a:t>Week 11 PCAP Analysis  |  TrickBot Trojan  |  Network Forensics</a:t>
            </a:r>
            <a:endParaRPr lang="en-US" sz="800" dirty="0"/>
          </a:p>
        </p:txBody>
      </p:sp>
      <p:sp>
        <p:nvSpPr>
          <p:cNvPr id="7" name="Text 5"/>
          <p:cNvSpPr/>
          <p:nvPr/>
        </p:nvSpPr>
        <p:spPr>
          <a:xfrm>
            <a:off x="731520" y="1097280"/>
            <a:ext cx="8046720" cy="457200"/>
          </a:xfrm>
          <a:prstGeom prst="rect">
            <a:avLst/>
          </a:prstGeom>
          <a:noFill/>
          <a:ln/>
        </p:spPr>
        <p:txBody>
          <a:bodyPr wrap="square" lIns="0" tIns="0" rIns="0" bIns="0" rtlCol="0" anchor="t"/>
          <a:lstStyle/>
          <a:p>
            <a:pPr marL="0" indent="0">
              <a:lnSpc>
                <a:spcPct val="110000"/>
              </a:lnSpc>
              <a:buNone/>
            </a:pPr>
            <a:r>
              <a:rPr lang="en-US" sz="850" dirty="0">
                <a:solidFill>
                  <a:srgbClr val="CBD5E1"/>
                </a:solidFill>
                <a:latin typeface="Calibri" pitchFamily="34" charset="0"/>
                <a:ea typeface="Calibri" pitchFamily="34" charset="-122"/>
                <a:cs typeface="Calibri" pitchFamily="34" charset="-120"/>
              </a:rPr>
              <a:t>Emerging Threats Ruleset (2025). ET INFO PE EXE or DLL Windows file download HTTP; ET HUNTING Suspicious Windows Commands in POST Body (ipconfig, nltest); ET INFO External IP Lookup Domain; ET INFO OpenSSL Demo CA, Internet Widgits Pty (O) -- Suricata IDS signatures.</a:t>
            </a:r>
            <a:endParaRPr lang="en-US" sz="850" dirty="0"/>
          </a:p>
        </p:txBody>
      </p:sp>
      <p:sp>
        <p:nvSpPr>
          <p:cNvPr id="8" name="Text 6"/>
          <p:cNvSpPr/>
          <p:nvPr/>
        </p:nvSpPr>
        <p:spPr>
          <a:xfrm>
            <a:off x="731520" y="1600200"/>
            <a:ext cx="8046720" cy="457200"/>
          </a:xfrm>
          <a:prstGeom prst="rect">
            <a:avLst/>
          </a:prstGeom>
          <a:noFill/>
          <a:ln/>
        </p:spPr>
        <p:txBody>
          <a:bodyPr wrap="square" lIns="0" tIns="0" rIns="0" bIns="0" rtlCol="0" anchor="t"/>
          <a:lstStyle/>
          <a:p>
            <a:pPr marL="0" indent="0">
              <a:lnSpc>
                <a:spcPct val="110000"/>
              </a:lnSpc>
              <a:buNone/>
            </a:pPr>
            <a:r>
              <a:rPr lang="en-US" sz="850" dirty="0">
                <a:solidFill>
                  <a:srgbClr val="CBD5E1"/>
                </a:solidFill>
                <a:latin typeface="Calibri" pitchFamily="34" charset="0"/>
                <a:ea typeface="Calibri" pitchFamily="34" charset="-122"/>
                <a:cs typeface="Calibri" pitchFamily="34" charset="-120"/>
              </a:rPr>
              <a:t>VirusTotal (2025). IP analysis reports for: 185.244.41.29, 103.148.41.195, 46.99.175.149, 182.253.210.130. File hash analysis for SHA256: f25a780095730701efac67e9d5b84bc289afea56d96d8aff8a44af69ae606404.</a:t>
            </a:r>
            <a:endParaRPr lang="en-US" sz="850" dirty="0"/>
          </a:p>
        </p:txBody>
      </p:sp>
      <p:sp>
        <p:nvSpPr>
          <p:cNvPr id="9" name="Text 7"/>
          <p:cNvSpPr/>
          <p:nvPr/>
        </p:nvSpPr>
        <p:spPr>
          <a:xfrm>
            <a:off x="731520" y="2103120"/>
            <a:ext cx="8046720" cy="457200"/>
          </a:xfrm>
          <a:prstGeom prst="rect">
            <a:avLst/>
          </a:prstGeom>
          <a:noFill/>
          <a:ln/>
        </p:spPr>
        <p:txBody>
          <a:bodyPr wrap="square" lIns="0" tIns="0" rIns="0" bIns="0" rtlCol="0" anchor="t"/>
          <a:lstStyle/>
          <a:p>
            <a:pPr marL="0" indent="0">
              <a:lnSpc>
                <a:spcPct val="110000"/>
              </a:lnSpc>
              <a:buNone/>
            </a:pPr>
            <a:r>
              <a:rPr lang="en-US" sz="850" dirty="0">
                <a:solidFill>
                  <a:srgbClr val="CBD5E1"/>
                </a:solidFill>
                <a:latin typeface="Calibri" pitchFamily="34" charset="0"/>
                <a:ea typeface="Calibri" pitchFamily="34" charset="-122"/>
                <a:cs typeface="Calibri" pitchFamily="34" charset="-120"/>
              </a:rPr>
              <a:t>MITRE ATT&amp;CK Framework (2025). T1566.001: Spearphishing Attachment; T1059: Command and Scripting Interpreter; T1016: System Network Configuration Discovery; T1057: Process Discovery; T1041: Exfiltration Over C2 Channel; T1071.001: Web Protocols; T1573: Encrypted Channel.</a:t>
            </a:r>
            <a:endParaRPr lang="en-US" sz="850" dirty="0"/>
          </a:p>
        </p:txBody>
      </p:sp>
      <p:sp>
        <p:nvSpPr>
          <p:cNvPr id="10" name="Text 8"/>
          <p:cNvSpPr/>
          <p:nvPr/>
        </p:nvSpPr>
        <p:spPr>
          <a:xfrm>
            <a:off x="731520" y="2606040"/>
            <a:ext cx="8046720" cy="457200"/>
          </a:xfrm>
          <a:prstGeom prst="rect">
            <a:avLst/>
          </a:prstGeom>
          <a:noFill/>
          <a:ln/>
        </p:spPr>
        <p:txBody>
          <a:bodyPr wrap="square" lIns="0" tIns="0" rIns="0" bIns="0" rtlCol="0" anchor="t"/>
          <a:lstStyle/>
          <a:p>
            <a:pPr marL="0" indent="0">
              <a:lnSpc>
                <a:spcPct val="110000"/>
              </a:lnSpc>
              <a:buNone/>
            </a:pPr>
            <a:r>
              <a:rPr lang="en-US" sz="850" dirty="0">
                <a:solidFill>
                  <a:srgbClr val="CBD5E1"/>
                </a:solidFill>
                <a:latin typeface="Calibri" pitchFamily="34" charset="0"/>
                <a:ea typeface="Calibri" pitchFamily="34" charset="-122"/>
                <a:cs typeface="Calibri" pitchFamily="34" charset="-120"/>
              </a:rPr>
              <a:t>Wireshark Foundation (2025). Wireshark Display Filter Reference and HTTP Object Export documentation. Available at: wireshark.org</a:t>
            </a:r>
            <a:endParaRPr lang="en-US" sz="850" dirty="0"/>
          </a:p>
        </p:txBody>
      </p:sp>
      <p:sp>
        <p:nvSpPr>
          <p:cNvPr id="11" name="Text 9"/>
          <p:cNvSpPr/>
          <p:nvPr/>
        </p:nvSpPr>
        <p:spPr>
          <a:xfrm>
            <a:off x="731520" y="3108960"/>
            <a:ext cx="8046720" cy="457200"/>
          </a:xfrm>
          <a:prstGeom prst="rect">
            <a:avLst/>
          </a:prstGeom>
          <a:noFill/>
          <a:ln/>
        </p:spPr>
        <p:txBody>
          <a:bodyPr wrap="square" lIns="0" tIns="0" rIns="0" bIns="0" rtlCol="0" anchor="t"/>
          <a:lstStyle/>
          <a:p>
            <a:pPr marL="0" indent="0">
              <a:lnSpc>
                <a:spcPct val="110000"/>
              </a:lnSpc>
              <a:buNone/>
            </a:pPr>
            <a:r>
              <a:rPr lang="en-US" sz="850" dirty="0">
                <a:solidFill>
                  <a:srgbClr val="CBD5E1"/>
                </a:solidFill>
                <a:latin typeface="Calibri" pitchFamily="34" charset="0"/>
                <a:ea typeface="Calibri" pitchFamily="34" charset="-122"/>
                <a:cs typeface="Calibri" pitchFamily="34" charset="-120"/>
              </a:rPr>
              <a:t>Security Onion Solutions (2025). Security Onion 2.4 documentation: Alerts, Hunt, and PCAP analysis modules. Available at: securityonionsolutions.com</a:t>
            </a:r>
            <a:endParaRPr lang="en-US" sz="850" dirty="0"/>
          </a:p>
        </p:txBody>
      </p:sp>
      <p:sp>
        <p:nvSpPr>
          <p:cNvPr id="12" name="Text 10"/>
          <p:cNvSpPr/>
          <p:nvPr/>
        </p:nvSpPr>
        <p:spPr>
          <a:xfrm>
            <a:off x="731520" y="3611880"/>
            <a:ext cx="8046720" cy="457200"/>
          </a:xfrm>
          <a:prstGeom prst="rect">
            <a:avLst/>
          </a:prstGeom>
          <a:noFill/>
          <a:ln/>
        </p:spPr>
        <p:txBody>
          <a:bodyPr wrap="square" lIns="0" tIns="0" rIns="0" bIns="0" rtlCol="0" anchor="t"/>
          <a:lstStyle/>
          <a:p>
            <a:pPr marL="0" indent="0">
              <a:lnSpc>
                <a:spcPct val="110000"/>
              </a:lnSpc>
              <a:buNone/>
            </a:pPr>
            <a:r>
              <a:rPr lang="en-US" sz="850" dirty="0">
                <a:solidFill>
                  <a:srgbClr val="CBD5E1"/>
                </a:solidFill>
                <a:latin typeface="Calibri" pitchFamily="34" charset="0"/>
                <a:ea typeface="Calibri" pitchFamily="34" charset="-122"/>
                <a:cs typeface="Calibri" pitchFamily="34" charset="-120"/>
              </a:rPr>
              <a:t>Netresec (2025). NetworkMiner: Network Forensic Analysis Tool, host enumeration, file extraction, and certificate analysis. Available at: netresec.com</a:t>
            </a:r>
            <a:endParaRPr lang="en-US" sz="850" dirty="0"/>
          </a:p>
        </p:txBody>
      </p:sp>
      <p:sp>
        <p:nvSpPr>
          <p:cNvPr id="13" name="Text 11"/>
          <p:cNvSpPr/>
          <p:nvPr/>
        </p:nvSpPr>
        <p:spPr>
          <a:xfrm>
            <a:off x="731520" y="4114800"/>
            <a:ext cx="8046720" cy="457200"/>
          </a:xfrm>
          <a:prstGeom prst="rect">
            <a:avLst/>
          </a:prstGeom>
          <a:noFill/>
          <a:ln/>
        </p:spPr>
        <p:txBody>
          <a:bodyPr wrap="square" lIns="0" tIns="0" rIns="0" bIns="0" rtlCol="0" anchor="t"/>
          <a:lstStyle/>
          <a:p>
            <a:pPr marL="0" indent="0">
              <a:lnSpc>
                <a:spcPct val="110000"/>
              </a:lnSpc>
              <a:buNone/>
            </a:pPr>
            <a:r>
              <a:rPr lang="en-US" sz="850" dirty="0">
                <a:solidFill>
                  <a:srgbClr val="CBD5E1"/>
                </a:solidFill>
                <a:latin typeface="Calibri" pitchFamily="34" charset="0"/>
                <a:ea typeface="Calibri" pitchFamily="34" charset="-122"/>
                <a:cs typeface="Calibri" pitchFamily="34" charset="-120"/>
              </a:rPr>
              <a:t>Malpedia / MITRE. TrickBot: Banking Trojan and modular malware platform. Known indicators: User-Agent Ghost, Internet Widgits Pty Ltd certificates, /rob/ URI patterns for C2 check-ins.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3427</Words>
  <Application>Microsoft Macintosh PowerPoint</Application>
  <PresentationFormat>On-screen Show (16:9)</PresentationFormat>
  <Paragraphs>350</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11 Investigation: TrickBot Trojan Infection</dc:title>
  <dc:subject>PptxGenJS Presentation</dc:subject>
  <dc:creator>Jobayer &amp; Ari</dc:creator>
  <cp:lastModifiedBy>Bhuiyan, Jobayer A</cp:lastModifiedBy>
  <cp:revision>2</cp:revision>
  <dcterms:created xsi:type="dcterms:W3CDTF">2026-04-10T04:38:36Z</dcterms:created>
  <dcterms:modified xsi:type="dcterms:W3CDTF">2026-04-10T04:48:15Z</dcterms:modified>
</cp:coreProperties>
</file>