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57" r:id="rId5"/>
    <p:sldId id="258" r:id="rId6"/>
    <p:sldId id="261" r:id="rId7"/>
    <p:sldId id="263" r:id="rId8"/>
    <p:sldId id="275" r:id="rId9"/>
    <p:sldId id="273" r:id="rId10"/>
    <p:sldId id="277" r:id="rId11"/>
    <p:sldId id="262" r:id="rId12"/>
    <p:sldId id="276" r:id="rId13"/>
    <p:sldId id="269" r:id="rId14"/>
    <p:sldId id="270" r:id="rId15"/>
    <p:sldId id="271" r:id="rId16"/>
    <p:sldId id="272" r:id="rId17"/>
    <p:sldId id="264" r:id="rId18"/>
    <p:sldId id="266" r:id="rId19"/>
    <p:sldId id="265" r:id="rId20"/>
    <p:sldId id="278" r:id="rId21"/>
    <p:sldId id="279" r:id="rId22"/>
    <p:sldId id="280" r:id="rId23"/>
    <p:sldId id="28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B5F7A8-55D0-3B4B-9457-559AC3822C80}" v="7" dt="2026-04-03T23:42:02.323"/>
    <p1510:client id="{33114A19-5F74-3E4B-8458-6EE217806390}" v="12" dt="2026-04-03T04:24:43.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710"/>
    <p:restoredTop sz="94707"/>
  </p:normalViewPr>
  <p:slideViewPr>
    <p:cSldViewPr snapToGrid="0">
      <p:cViewPr varScale="1">
        <p:scale>
          <a:sx n="135" d="100"/>
          <a:sy n="135" d="100"/>
        </p:scale>
        <p:origin x="17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iyan, Jobayer A" userId="c537c22d-720c-4cfb-817c-9edc3ac16a57" providerId="ADAL" clId="{4CA3B4E3-BB4D-556B-9674-56AC0DAB1221}"/>
    <pc:docChg chg="undo custSel modSld">
      <pc:chgData name="Bhuiyan, Jobayer A" userId="c537c22d-720c-4cfb-817c-9edc3ac16a57" providerId="ADAL" clId="{4CA3B4E3-BB4D-556B-9674-56AC0DAB1221}" dt="2026-04-03T23:42:03.073" v="18" actId="478"/>
      <pc:docMkLst>
        <pc:docMk/>
      </pc:docMkLst>
      <pc:sldChg chg="modSp mod">
        <pc:chgData name="Bhuiyan, Jobayer A" userId="c537c22d-720c-4cfb-817c-9edc3ac16a57" providerId="ADAL" clId="{4CA3B4E3-BB4D-556B-9674-56AC0DAB1221}" dt="2026-04-03T07:31:36.830" v="1" actId="20577"/>
        <pc:sldMkLst>
          <pc:docMk/>
          <pc:sldMk cId="2625747656" sldId="256"/>
        </pc:sldMkLst>
        <pc:spChg chg="mod">
          <ac:chgData name="Bhuiyan, Jobayer A" userId="c537c22d-720c-4cfb-817c-9edc3ac16a57" providerId="ADAL" clId="{4CA3B4E3-BB4D-556B-9674-56AC0DAB1221}" dt="2026-04-03T07:31:36.830" v="1" actId="20577"/>
          <ac:spMkLst>
            <pc:docMk/>
            <pc:sldMk cId="2625747656" sldId="256"/>
            <ac:spMk id="7" creationId="{00000000-0000-0000-0000-000000000000}"/>
          </ac:spMkLst>
        </pc:spChg>
      </pc:sldChg>
      <pc:sldChg chg="addSp delSp modSp mod">
        <pc:chgData name="Bhuiyan, Jobayer A" userId="c537c22d-720c-4cfb-817c-9edc3ac16a57" providerId="ADAL" clId="{4CA3B4E3-BB4D-556B-9674-56AC0DAB1221}" dt="2026-04-03T23:42:03.073" v="18" actId="478"/>
        <pc:sldMkLst>
          <pc:docMk/>
          <pc:sldMk cId="1390867346" sldId="257"/>
        </pc:sldMkLst>
        <pc:picChg chg="add del">
          <ac:chgData name="Bhuiyan, Jobayer A" userId="c537c22d-720c-4cfb-817c-9edc3ac16a57" providerId="ADAL" clId="{4CA3B4E3-BB4D-556B-9674-56AC0DAB1221}" dt="2026-04-03T23:42:03.073" v="18" actId="478"/>
          <ac:picMkLst>
            <pc:docMk/>
            <pc:sldMk cId="1390867346" sldId="257"/>
            <ac:picMk id="22" creationId="{736E54CB-AFBD-A6D9-C925-392943A773DA}"/>
          </ac:picMkLst>
        </pc:picChg>
        <pc:picChg chg="add mod">
          <ac:chgData name="Bhuiyan, Jobayer A" userId="c537c22d-720c-4cfb-817c-9edc3ac16a57" providerId="ADAL" clId="{4CA3B4E3-BB4D-556B-9674-56AC0DAB1221}" dt="2026-04-03T23:42:02.322" v="17"/>
          <ac:picMkLst>
            <pc:docMk/>
            <pc:sldMk cId="1390867346" sldId="257"/>
            <ac:picMk id="23" creationId="{766AE004-8071-E271-1B8C-1D46E9C61CFE}"/>
          </ac:picMkLst>
        </pc:picChg>
      </pc:sldChg>
      <pc:sldChg chg="modSp mod">
        <pc:chgData name="Bhuiyan, Jobayer A" userId="c537c22d-720c-4cfb-817c-9edc3ac16a57" providerId="ADAL" clId="{4CA3B4E3-BB4D-556B-9674-56AC0DAB1221}" dt="2026-04-03T07:32:16.355" v="3" actId="14100"/>
        <pc:sldMkLst>
          <pc:docMk/>
          <pc:sldMk cId="2685541280" sldId="262"/>
        </pc:sldMkLst>
        <pc:picChg chg="mod">
          <ac:chgData name="Bhuiyan, Jobayer A" userId="c537c22d-720c-4cfb-817c-9edc3ac16a57" providerId="ADAL" clId="{4CA3B4E3-BB4D-556B-9674-56AC0DAB1221}" dt="2026-04-03T07:32:16.355" v="3" actId="14100"/>
          <ac:picMkLst>
            <pc:docMk/>
            <pc:sldMk cId="2685541280" sldId="262"/>
            <ac:picMk id="10" creationId="{D048C876-EA07-D4AA-E2B2-CE3C40AF181F}"/>
          </ac:picMkLst>
        </pc:picChg>
      </pc:sldChg>
      <pc:sldChg chg="modSp mod">
        <pc:chgData name="Bhuiyan, Jobayer A" userId="c537c22d-720c-4cfb-817c-9edc3ac16a57" providerId="ADAL" clId="{4CA3B4E3-BB4D-556B-9674-56AC0DAB1221}" dt="2026-04-03T07:42:51.944" v="10" actId="14100"/>
        <pc:sldMkLst>
          <pc:docMk/>
          <pc:sldMk cId="3280293466" sldId="266"/>
        </pc:sldMkLst>
        <pc:spChg chg="mod">
          <ac:chgData name="Bhuiyan, Jobayer A" userId="c537c22d-720c-4cfb-817c-9edc3ac16a57" providerId="ADAL" clId="{4CA3B4E3-BB4D-556B-9674-56AC0DAB1221}" dt="2026-04-03T07:41:28.574" v="7" actId="1076"/>
          <ac:spMkLst>
            <pc:docMk/>
            <pc:sldMk cId="3280293466" sldId="266"/>
            <ac:spMk id="6" creationId="{00000000-0000-0000-0000-000000000000}"/>
          </ac:spMkLst>
        </pc:spChg>
        <pc:spChg chg="mod">
          <ac:chgData name="Bhuiyan, Jobayer A" userId="c537c22d-720c-4cfb-817c-9edc3ac16a57" providerId="ADAL" clId="{4CA3B4E3-BB4D-556B-9674-56AC0DAB1221}" dt="2026-04-03T07:41:23.710" v="6" actId="1076"/>
          <ac:spMkLst>
            <pc:docMk/>
            <pc:sldMk cId="3280293466" sldId="266"/>
            <ac:spMk id="7" creationId="{00000000-0000-0000-0000-000000000000}"/>
          </ac:spMkLst>
        </pc:spChg>
        <pc:spChg chg="mod">
          <ac:chgData name="Bhuiyan, Jobayer A" userId="c537c22d-720c-4cfb-817c-9edc3ac16a57" providerId="ADAL" clId="{4CA3B4E3-BB4D-556B-9674-56AC0DAB1221}" dt="2026-04-03T07:41:33.498" v="8" actId="1076"/>
          <ac:spMkLst>
            <pc:docMk/>
            <pc:sldMk cId="3280293466" sldId="266"/>
            <ac:spMk id="8" creationId="{00000000-0000-0000-0000-000000000000}"/>
          </ac:spMkLst>
        </pc:spChg>
        <pc:picChg chg="mod">
          <ac:chgData name="Bhuiyan, Jobayer A" userId="c537c22d-720c-4cfb-817c-9edc3ac16a57" providerId="ADAL" clId="{4CA3B4E3-BB4D-556B-9674-56AC0DAB1221}" dt="2026-04-03T07:42:51.944" v="10" actId="14100"/>
          <ac:picMkLst>
            <pc:docMk/>
            <pc:sldMk cId="3280293466" sldId="266"/>
            <ac:picMk id="10" creationId="{7C24680E-C54E-6630-8123-ECBF3C7FF24C}"/>
          </ac:picMkLst>
        </pc:picChg>
      </pc:sldChg>
      <pc:sldChg chg="modSp mod">
        <pc:chgData name="Bhuiyan, Jobayer A" userId="c537c22d-720c-4cfb-817c-9edc3ac16a57" providerId="ADAL" clId="{4CA3B4E3-BB4D-556B-9674-56AC0DAB1221}" dt="2026-04-03T07:32:36.231" v="4" actId="14100"/>
        <pc:sldMkLst>
          <pc:docMk/>
          <pc:sldMk cId="2763514548" sldId="269"/>
        </pc:sldMkLst>
        <pc:picChg chg="mod">
          <ac:chgData name="Bhuiyan, Jobayer A" userId="c537c22d-720c-4cfb-817c-9edc3ac16a57" providerId="ADAL" clId="{4CA3B4E3-BB4D-556B-9674-56AC0DAB1221}" dt="2026-04-03T07:32:36.231" v="4" actId="14100"/>
          <ac:picMkLst>
            <pc:docMk/>
            <pc:sldMk cId="2763514548" sldId="269"/>
            <ac:picMk id="10" creationId="{61D47208-D0E1-9CAB-2996-EE84905038B4}"/>
          </ac:picMkLst>
        </pc:picChg>
      </pc:sldChg>
      <pc:sldChg chg="modSp mod">
        <pc:chgData name="Bhuiyan, Jobayer A" userId="c537c22d-720c-4cfb-817c-9edc3ac16a57" providerId="ADAL" clId="{4CA3B4E3-BB4D-556B-9674-56AC0DAB1221}" dt="2026-04-03T07:32:46.157" v="5" actId="14100"/>
        <pc:sldMkLst>
          <pc:docMk/>
          <pc:sldMk cId="2426367643" sldId="270"/>
        </pc:sldMkLst>
        <pc:picChg chg="mod">
          <ac:chgData name="Bhuiyan, Jobayer A" userId="c537c22d-720c-4cfb-817c-9edc3ac16a57" providerId="ADAL" clId="{4CA3B4E3-BB4D-556B-9674-56AC0DAB1221}" dt="2026-04-03T07:32:46.157" v="5" actId="14100"/>
          <ac:picMkLst>
            <pc:docMk/>
            <pc:sldMk cId="2426367643" sldId="270"/>
            <ac:picMk id="8" creationId="{2C2B0878-DF89-B0FF-D1FF-6D900FD662C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73917-D21D-CDA3-0CE1-B6BB6BF9B9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4D3A70-450E-6BC2-3059-BBADE66337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578F21-D163-3B0B-CBFD-BD8133AD3BAE}"/>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3AD6757C-A445-1D76-4199-9ACFBA28B9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0731EB-143D-7960-DDD7-DE879D79419E}"/>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655683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FE316-C555-BCC8-C55A-86F1D01354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0BC5E6-87FA-A46E-EA00-6A448DEE80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6F71C-5884-200A-5CF0-9E2BF75342D0}"/>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9FEE50BA-F940-1E57-4364-D3038AF222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095A1D-73B6-E15C-37AC-EE85801549CC}"/>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129286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7A91-A331-7F12-E078-82898230F6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92E2D0-667E-AB0C-E127-2B400B84D7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E15461-2884-4224-8AAD-2F98ED0C302F}"/>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B743DBC8-210E-13C5-6AD2-C0964C51BA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FEDA03-F109-7691-60AB-31A2633CFF5C}"/>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1133151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28A0D-21A7-A06B-A907-140C4B150A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4BD545-ED8B-5224-24CE-213F670716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067CD9-BC91-6577-B262-8301757D58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EADCAA-A9DA-AD93-609B-B48766050E16}"/>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6" name="Footer Placeholder 5">
            <a:extLst>
              <a:ext uri="{FF2B5EF4-FFF2-40B4-BE49-F238E27FC236}">
                <a16:creationId xmlns:a16="http://schemas.microsoft.com/office/drawing/2014/main" id="{CDFB1B61-EF11-817A-2F0C-A8D8B106D5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92C740-1CAF-96D7-0944-5749632C2860}"/>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4198413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36961-31DF-C842-0C98-D0F77C3147C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74C84C-B38C-98A1-A133-DD392B01C3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C23345-9D35-E455-3856-C94D7AB69F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B1FAAE-1B77-A2AC-1E7B-4C32CC5A46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D988E-83C7-34B9-AFD8-6D7575D75D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DD30C-4839-2A55-4FE0-998E07C27AF4}"/>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8" name="Footer Placeholder 7">
            <a:extLst>
              <a:ext uri="{FF2B5EF4-FFF2-40B4-BE49-F238E27FC236}">
                <a16:creationId xmlns:a16="http://schemas.microsoft.com/office/drawing/2014/main" id="{84C70078-8AD0-CB96-28F5-028EC045B8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2129C93-D39B-2C21-004C-95FFED23B203}"/>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428599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1EC02-A8FD-77E8-2157-A7F87BD578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2F25CD-8ECF-3C26-A235-86DB315669D0}"/>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4" name="Footer Placeholder 3">
            <a:extLst>
              <a:ext uri="{FF2B5EF4-FFF2-40B4-BE49-F238E27FC236}">
                <a16:creationId xmlns:a16="http://schemas.microsoft.com/office/drawing/2014/main" id="{4B0BA21A-3CF6-7455-45D8-88F02A91E1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5F5981-1B4C-371C-A203-BBEBE49CE96B}"/>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3224645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08EBDF-3FB9-4D15-1AD1-A36BF0D9366B}"/>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3" name="Footer Placeholder 2">
            <a:extLst>
              <a:ext uri="{FF2B5EF4-FFF2-40B4-BE49-F238E27FC236}">
                <a16:creationId xmlns:a16="http://schemas.microsoft.com/office/drawing/2014/main" id="{544DAC7C-0321-AB5D-6C2F-B9C341D4D8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7622B5-A541-D036-DD45-68A783E86FF3}"/>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3862423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EEB4-7F8D-3F8E-4091-392FF46F3A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83D392-D863-A1DF-3F35-B095C78D4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CDCE92-58A3-62D6-9F74-53BBACDE5F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4A9103-D5FE-79BD-E794-78C9296F7E0F}"/>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6" name="Footer Placeholder 5">
            <a:extLst>
              <a:ext uri="{FF2B5EF4-FFF2-40B4-BE49-F238E27FC236}">
                <a16:creationId xmlns:a16="http://schemas.microsoft.com/office/drawing/2014/main" id="{49110A8A-2F7C-98C5-D232-A1B715EA52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2776F1-5BBD-0812-4823-6C87463B1A9B}"/>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496111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9FB09-C1F0-EBDE-7138-2A8D610E64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06F139-B5D0-0B97-0095-EF34158874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5FDA7D-92FC-3E79-905D-E97C6BA56F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A7B0FE-B339-73FB-D5BE-28DBF46CB02D}"/>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6" name="Footer Placeholder 5">
            <a:extLst>
              <a:ext uri="{FF2B5EF4-FFF2-40B4-BE49-F238E27FC236}">
                <a16:creationId xmlns:a16="http://schemas.microsoft.com/office/drawing/2014/main" id="{364ED650-8A1A-2909-DABB-7A779CB854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8586F6-9418-BFA2-C005-BC16E49BD741}"/>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321023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29D7B-CCCE-377B-095A-EB1F8BBE0E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A335EE-8CB7-2B2A-3646-AE0E32B628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12123-E339-9201-D618-398D9BDE8A77}"/>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B0CCB34D-4AD5-6288-8E6F-8ACFF1C245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17E15A-C3BD-B755-E6E0-344012BB27CF}"/>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2304658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57BE27-4C1C-7BD7-59A4-5E173FE4BE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68BFB1-D744-98A1-F7D1-1173616BB5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D6D2C-7E02-2841-2064-7D5B99591D61}"/>
              </a:ext>
            </a:extLst>
          </p:cNvPr>
          <p:cNvSpPr>
            <a:spLocks noGrp="1"/>
          </p:cNvSpPr>
          <p:nvPr>
            <p:ph type="dt" sz="half" idx="10"/>
          </p:nvPr>
        </p:nvSpPr>
        <p:spPr/>
        <p:txBody>
          <a:body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74571A15-3566-DFB8-4111-82540CF0CA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A6EE8-2094-4089-0424-8C957F728E7D}"/>
              </a:ext>
            </a:extLst>
          </p:cNvPr>
          <p:cNvSpPr>
            <a:spLocks noGrp="1"/>
          </p:cNvSpPr>
          <p:nvPr>
            <p:ph type="sldNum" sz="quarter" idx="12"/>
          </p:nvPr>
        </p:nvSpPr>
        <p:spPr/>
        <p:txBody>
          <a:bodyPr/>
          <a:lstStyle/>
          <a:p>
            <a:fld id="{890BE664-5DDE-4341-95AB-33A14D758121}" type="slidenum">
              <a:rPr lang="en-US" smtClean="0"/>
              <a:t>‹#›</a:t>
            </a:fld>
            <a:endParaRPr lang="en-US"/>
          </a:p>
        </p:txBody>
      </p:sp>
    </p:spTree>
    <p:extLst>
      <p:ext uri="{BB962C8B-B14F-4D97-AF65-F5344CB8AC3E}">
        <p14:creationId xmlns:p14="http://schemas.microsoft.com/office/powerpoint/2010/main" val="3163418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365EFE-E67B-5598-6704-F4EFBD5BEE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F61654-97AA-167D-A867-02462BF4A1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A254B7-FFC3-B952-AD97-AF5727D572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742AFC-D009-EB40-BEE0-B101B3076083}" type="datetimeFigureOut">
              <a:rPr lang="en-US" smtClean="0"/>
              <a:t>4/3/26</a:t>
            </a:fld>
            <a:endParaRPr lang="en-US"/>
          </a:p>
        </p:txBody>
      </p:sp>
      <p:sp>
        <p:nvSpPr>
          <p:cNvPr id="5" name="Footer Placeholder 4">
            <a:extLst>
              <a:ext uri="{FF2B5EF4-FFF2-40B4-BE49-F238E27FC236}">
                <a16:creationId xmlns:a16="http://schemas.microsoft.com/office/drawing/2014/main" id="{04C900C7-BF48-C5F1-DB05-A062885672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1F1177F-BC3E-247F-BEAF-3D670477E2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0BE664-5DDE-4341-95AB-33A14D758121}" type="slidenum">
              <a:rPr lang="en-US" smtClean="0"/>
              <a:t>‹#›</a:t>
            </a:fld>
            <a:endParaRPr lang="en-US"/>
          </a:p>
        </p:txBody>
      </p:sp>
    </p:spTree>
    <p:extLst>
      <p:ext uri="{BB962C8B-B14F-4D97-AF65-F5344CB8AC3E}">
        <p14:creationId xmlns:p14="http://schemas.microsoft.com/office/powerpoint/2010/main" val="2626721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84848"/>
            <a:ext cx="12192000" cy="73152"/>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10728960" cy="457200"/>
          </a:xfrm>
          <a:prstGeom prst="rect">
            <a:avLst/>
          </a:prstGeom>
          <a:noFill/>
        </p:spPr>
        <p:txBody>
          <a:bodyPr wrap="square">
            <a:spAutoFit/>
          </a:bodyPr>
          <a:lstStyle/>
          <a:p>
            <a:pPr algn="ctr"/>
            <a:r>
              <a:rPr sz="1600" b="1" i="0">
                <a:solidFill>
                  <a:srgbClr val="CADCFC"/>
                </a:solidFill>
              </a:rPr>
              <a:t>WEEK 9 INVESTIGATION</a:t>
            </a:r>
          </a:p>
        </p:txBody>
      </p:sp>
      <p:sp>
        <p:nvSpPr>
          <p:cNvPr id="5" name="TextBox 4"/>
          <p:cNvSpPr txBox="1"/>
          <p:nvPr/>
        </p:nvSpPr>
        <p:spPr>
          <a:xfrm>
            <a:off x="457200" y="1600200"/>
            <a:ext cx="11277600" cy="1463040"/>
          </a:xfrm>
          <a:prstGeom prst="rect">
            <a:avLst/>
          </a:prstGeom>
          <a:noFill/>
        </p:spPr>
        <p:txBody>
          <a:bodyPr wrap="square">
            <a:spAutoFit/>
          </a:bodyPr>
          <a:lstStyle/>
          <a:p>
            <a:pPr algn="ctr"/>
            <a:r>
              <a:rPr sz="4200" b="1" i="0">
                <a:solidFill>
                  <a:srgbClr val="FFFFFF"/>
                </a:solidFill>
              </a:rPr>
              <a:t>Cerber Ransomware Infection
via RIG Exploit Kit</a:t>
            </a:r>
          </a:p>
        </p:txBody>
      </p:sp>
      <p:sp>
        <p:nvSpPr>
          <p:cNvPr id="6" name="Rectangle 5"/>
          <p:cNvSpPr/>
          <p:nvPr/>
        </p:nvSpPr>
        <p:spPr>
          <a:xfrm>
            <a:off x="3200400" y="3246120"/>
            <a:ext cx="5791200" cy="4572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3429000"/>
            <a:ext cx="11277600" cy="723275"/>
          </a:xfrm>
          <a:prstGeom prst="rect">
            <a:avLst/>
          </a:prstGeom>
          <a:noFill/>
        </p:spPr>
        <p:txBody>
          <a:bodyPr wrap="square">
            <a:spAutoFit/>
          </a:bodyPr>
          <a:lstStyle/>
          <a:p>
            <a:pPr algn="ctr"/>
            <a:r>
              <a:rPr sz="1500" b="0" i="0">
                <a:solidFill>
                  <a:srgbClr val="CADCFC"/>
                </a:solidFill>
              </a:rPr>
              <a:t>Team Members: Jobayer &amp; Ari</a:t>
            </a:r>
          </a:p>
          <a:p>
            <a:pPr algn="ctr"/>
            <a:r>
              <a:rPr sz="1300" b="0" i="0">
                <a:solidFill>
                  <a:srgbClr val="88AACC"/>
                </a:solidFill>
              </a:rPr>
              <a:t>Date: 04/03/2026  |  Course: Network Forensics</a:t>
            </a:r>
          </a:p>
          <a:p>
            <a:pPr algn="ctr"/>
            <a:r>
              <a:rPr sz="1300" b="0" i="0">
                <a:solidFill>
                  <a:srgbClr val="88AACC"/>
                </a:solidFill>
              </a:rPr>
              <a:t>Assignment: Team PCAP Analysis — Week 9</a:t>
            </a:r>
          </a:p>
        </p:txBody>
      </p:sp>
    </p:spTree>
    <p:extLst>
      <p:ext uri="{BB962C8B-B14F-4D97-AF65-F5344CB8AC3E}">
        <p14:creationId xmlns:p14="http://schemas.microsoft.com/office/powerpoint/2010/main" val="2625747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Abstract</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Investigation overview and key findings</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371600"/>
            <a:ext cx="11460480" cy="4389120"/>
          </a:xfrm>
          <a:prstGeom prst="rect">
            <a:avLst/>
          </a:prstGeom>
          <a:noFill/>
        </p:spPr>
        <p:txBody>
          <a:bodyPr wrap="square">
            <a:spAutoFit/>
          </a:bodyPr>
          <a:lstStyle/>
          <a:p>
            <a:pPr algn="l"/>
            <a:r>
              <a:rPr sz="1300" b="0" i="0">
                <a:solidFill>
                  <a:srgbClr val="404040"/>
                </a:solidFill>
              </a:rPr>
              <a:t>This investigation analyzed a PCAP file captured on 2017-01-27 containing network traffic from host 172.16.4.193 (STEWIE-PC), a Windows 7 machine on the 172.16.4.0/24 network.</a:t>
            </a:r>
          </a:p>
          <a:p>
            <a:pPr algn="l">
              <a:spcBef>
                <a:spcPts val="400"/>
              </a:spcBef>
            </a:pPr>
            <a:endParaRPr sz="1300" b="0" i="0">
              <a:solidFill>
                <a:srgbClr val="404040"/>
              </a:solidFill>
            </a:endParaRPr>
          </a:p>
          <a:p>
            <a:pPr algn="l"/>
            <a:r>
              <a:rPr sz="1300" b="0" i="0">
                <a:solidFill>
                  <a:srgbClr val="404040"/>
                </a:solidFill>
              </a:rPr>
              <a:t>STEWIE-PC was infected with Cerber ransomware following a drive-by download attack. The infection chain began at a compromised WordPress site (www.homeimprovement.com), proceeded through an evil redirector (retrotip.visionurbana.com.ve), and delivered the RIG exploit kit via C2 server tyu.benme.com (194.87.234.129).</a:t>
            </a:r>
          </a:p>
          <a:p>
            <a:pPr algn="l">
              <a:spcBef>
                <a:spcPts val="400"/>
              </a:spcBef>
            </a:pPr>
            <a:endParaRPr sz="1300" b="0" i="0">
              <a:solidFill>
                <a:srgbClr val="404040"/>
              </a:solidFill>
            </a:endParaRPr>
          </a:p>
          <a:p>
            <a:pPr algn="l"/>
            <a:r>
              <a:rPr sz="1300" b="0" i="0">
                <a:solidFill>
                  <a:srgbClr val="404040"/>
                </a:solidFill>
              </a:rPr>
              <a:t>Flash exploits and Windows executables were dropped. The ransomware loaded a payment portal and displayed a Bitcoin ransom demand. The full attack chain was captured in under 7 minutes across 6,033 packets.</a:t>
            </a:r>
          </a:p>
          <a:p>
            <a:pPr algn="l">
              <a:spcBef>
                <a:spcPts val="400"/>
              </a:spcBef>
            </a:pPr>
            <a:endParaRPr sz="1300" b="0" i="0">
              <a:solidFill>
                <a:srgbClr val="404040"/>
              </a:solidFill>
            </a:endParaRPr>
          </a:p>
          <a:p>
            <a:pPr algn="l"/>
            <a:r>
              <a:rPr sz="1300" b="0" i="0">
                <a:solidFill>
                  <a:srgbClr val="404040"/>
                </a:solidFill>
              </a:rPr>
              <a:t>Key tools used: Security Onion (Suricata IDS), Wireshark, NetworkMiner, and VirusTotal. All IOCs were validated; false positive probability is extremely low.</a:t>
            </a:r>
          </a:p>
        </p:txBody>
      </p:sp>
      <p:sp>
        <p:nvSpPr>
          <p:cNvPr id="7" name="Rectangle 6"/>
          <p:cNvSpPr/>
          <p:nvPr/>
        </p:nvSpPr>
        <p:spPr>
          <a:xfrm>
            <a:off x="320040" y="5852160"/>
            <a:ext cx="2286000" cy="77724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5897880"/>
            <a:ext cx="2286000" cy="411480"/>
          </a:xfrm>
          <a:prstGeom prst="rect">
            <a:avLst/>
          </a:prstGeom>
          <a:noFill/>
        </p:spPr>
        <p:txBody>
          <a:bodyPr wrap="square">
            <a:spAutoFit/>
          </a:bodyPr>
          <a:lstStyle/>
          <a:p>
            <a:pPr algn="ctr"/>
            <a:r>
              <a:rPr sz="2200" b="1" i="0">
                <a:solidFill>
                  <a:srgbClr val="FFFFFF"/>
                </a:solidFill>
              </a:rPr>
              <a:t>6,033</a:t>
            </a:r>
          </a:p>
        </p:txBody>
      </p:sp>
      <p:sp>
        <p:nvSpPr>
          <p:cNvPr id="9" name="TextBox 8"/>
          <p:cNvSpPr txBox="1"/>
          <p:nvPr/>
        </p:nvSpPr>
        <p:spPr>
          <a:xfrm>
            <a:off x="320040" y="6272784"/>
            <a:ext cx="2286000" cy="292608"/>
          </a:xfrm>
          <a:prstGeom prst="rect">
            <a:avLst/>
          </a:prstGeom>
          <a:noFill/>
        </p:spPr>
        <p:txBody>
          <a:bodyPr wrap="square">
            <a:spAutoFit/>
          </a:bodyPr>
          <a:lstStyle/>
          <a:p>
            <a:pPr algn="ctr"/>
            <a:r>
              <a:rPr sz="1100" b="0" i="0">
                <a:solidFill>
                  <a:srgbClr val="CADCFC"/>
                </a:solidFill>
              </a:rPr>
              <a:t>Total Packets</a:t>
            </a:r>
          </a:p>
        </p:txBody>
      </p:sp>
      <p:sp>
        <p:nvSpPr>
          <p:cNvPr id="10" name="Rectangle 9"/>
          <p:cNvSpPr/>
          <p:nvPr/>
        </p:nvSpPr>
        <p:spPr>
          <a:xfrm>
            <a:off x="2770632" y="5852160"/>
            <a:ext cx="2286000" cy="77724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70632" y="5897880"/>
            <a:ext cx="2286000" cy="411480"/>
          </a:xfrm>
          <a:prstGeom prst="rect">
            <a:avLst/>
          </a:prstGeom>
          <a:noFill/>
        </p:spPr>
        <p:txBody>
          <a:bodyPr wrap="square">
            <a:spAutoFit/>
          </a:bodyPr>
          <a:lstStyle/>
          <a:p>
            <a:pPr algn="ctr"/>
            <a:r>
              <a:rPr sz="2200" b="1" i="0">
                <a:solidFill>
                  <a:srgbClr val="FFFFFF"/>
                </a:solidFill>
              </a:rPr>
              <a:t>7 min</a:t>
            </a:r>
          </a:p>
        </p:txBody>
      </p:sp>
      <p:sp>
        <p:nvSpPr>
          <p:cNvPr id="12" name="TextBox 11"/>
          <p:cNvSpPr txBox="1"/>
          <p:nvPr/>
        </p:nvSpPr>
        <p:spPr>
          <a:xfrm>
            <a:off x="2770632" y="6272784"/>
            <a:ext cx="2286000" cy="292608"/>
          </a:xfrm>
          <a:prstGeom prst="rect">
            <a:avLst/>
          </a:prstGeom>
          <a:noFill/>
        </p:spPr>
        <p:txBody>
          <a:bodyPr wrap="square">
            <a:spAutoFit/>
          </a:bodyPr>
          <a:lstStyle/>
          <a:p>
            <a:pPr algn="ctr"/>
            <a:r>
              <a:rPr sz="1100" b="0" i="0">
                <a:solidFill>
                  <a:srgbClr val="CADCFC"/>
                </a:solidFill>
              </a:rPr>
              <a:t>Attack Duration</a:t>
            </a:r>
          </a:p>
        </p:txBody>
      </p:sp>
      <p:sp>
        <p:nvSpPr>
          <p:cNvPr id="13" name="Rectangle 12"/>
          <p:cNvSpPr/>
          <p:nvPr/>
        </p:nvSpPr>
        <p:spPr>
          <a:xfrm>
            <a:off x="5221224" y="5852160"/>
            <a:ext cx="2286000" cy="77724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221224" y="5897880"/>
            <a:ext cx="2286000" cy="411480"/>
          </a:xfrm>
          <a:prstGeom prst="rect">
            <a:avLst/>
          </a:prstGeom>
          <a:noFill/>
        </p:spPr>
        <p:txBody>
          <a:bodyPr wrap="square">
            <a:spAutoFit/>
          </a:bodyPr>
          <a:lstStyle/>
          <a:p>
            <a:pPr algn="ctr"/>
            <a:r>
              <a:rPr sz="2200" b="1" i="0">
                <a:solidFill>
                  <a:srgbClr val="FFFFFF"/>
                </a:solidFill>
              </a:rPr>
              <a:t>6</a:t>
            </a:r>
          </a:p>
        </p:txBody>
      </p:sp>
      <p:sp>
        <p:nvSpPr>
          <p:cNvPr id="15" name="TextBox 14"/>
          <p:cNvSpPr txBox="1"/>
          <p:nvPr/>
        </p:nvSpPr>
        <p:spPr>
          <a:xfrm>
            <a:off x="5221224" y="6272784"/>
            <a:ext cx="2286000" cy="292608"/>
          </a:xfrm>
          <a:prstGeom prst="rect">
            <a:avLst/>
          </a:prstGeom>
          <a:noFill/>
        </p:spPr>
        <p:txBody>
          <a:bodyPr wrap="square">
            <a:spAutoFit/>
          </a:bodyPr>
          <a:lstStyle/>
          <a:p>
            <a:pPr algn="ctr"/>
            <a:r>
              <a:rPr sz="1100" b="0" i="0">
                <a:solidFill>
                  <a:srgbClr val="CADCFC"/>
                </a:solidFill>
              </a:rPr>
              <a:t>Attack Stages</a:t>
            </a:r>
          </a:p>
        </p:txBody>
      </p:sp>
      <p:sp>
        <p:nvSpPr>
          <p:cNvPr id="16" name="Rectangle 15"/>
          <p:cNvSpPr/>
          <p:nvPr/>
        </p:nvSpPr>
        <p:spPr>
          <a:xfrm>
            <a:off x="7671816" y="5852160"/>
            <a:ext cx="2286000" cy="77724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71816" y="5897880"/>
            <a:ext cx="2286000" cy="411480"/>
          </a:xfrm>
          <a:prstGeom prst="rect">
            <a:avLst/>
          </a:prstGeom>
          <a:noFill/>
        </p:spPr>
        <p:txBody>
          <a:bodyPr wrap="square">
            <a:spAutoFit/>
          </a:bodyPr>
          <a:lstStyle/>
          <a:p>
            <a:pPr algn="ctr"/>
            <a:r>
              <a:rPr sz="2200" b="1" i="0">
                <a:solidFill>
                  <a:srgbClr val="FFFFFF"/>
                </a:solidFill>
              </a:rPr>
              <a:t>High</a:t>
            </a:r>
          </a:p>
        </p:txBody>
      </p:sp>
      <p:sp>
        <p:nvSpPr>
          <p:cNvPr id="18" name="TextBox 17"/>
          <p:cNvSpPr txBox="1"/>
          <p:nvPr/>
        </p:nvSpPr>
        <p:spPr>
          <a:xfrm>
            <a:off x="7671816" y="6272784"/>
            <a:ext cx="2286000" cy="292608"/>
          </a:xfrm>
          <a:prstGeom prst="rect">
            <a:avLst/>
          </a:prstGeom>
          <a:noFill/>
        </p:spPr>
        <p:txBody>
          <a:bodyPr wrap="square">
            <a:spAutoFit/>
          </a:bodyPr>
          <a:lstStyle/>
          <a:p>
            <a:pPr algn="ctr"/>
            <a:r>
              <a:rPr sz="1100" b="0" i="0">
                <a:solidFill>
                  <a:srgbClr val="CADCFC"/>
                </a:solidFill>
              </a:rPr>
              <a:t>Alert Confidence</a:t>
            </a:r>
          </a:p>
        </p:txBody>
      </p:sp>
      <p:sp>
        <p:nvSpPr>
          <p:cNvPr id="19" name="TextBox 18"/>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2459765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Introduction</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Background, objective, scope, and toolset</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417320"/>
            <a:ext cx="420624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417320"/>
            <a:ext cx="4206240" cy="34747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29768" y="1472184"/>
            <a:ext cx="4023360" cy="256032"/>
          </a:xfrm>
          <a:prstGeom prst="rect">
            <a:avLst/>
          </a:prstGeom>
          <a:noFill/>
        </p:spPr>
        <p:txBody>
          <a:bodyPr wrap="square">
            <a:spAutoFit/>
          </a:bodyPr>
          <a:lstStyle/>
          <a:p>
            <a:pPr algn="l"/>
            <a:r>
              <a:rPr sz="1300" b="1" i="0">
                <a:solidFill>
                  <a:srgbClr val="FFFFFF"/>
                </a:solidFill>
              </a:rPr>
              <a:t>Background &amp; Objective</a:t>
            </a:r>
          </a:p>
        </p:txBody>
      </p:sp>
      <p:sp>
        <p:nvSpPr>
          <p:cNvPr id="9" name="Rectangle 8"/>
          <p:cNvSpPr/>
          <p:nvPr/>
        </p:nvSpPr>
        <p:spPr>
          <a:xfrm>
            <a:off x="429768" y="1874520"/>
            <a:ext cx="54864"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 y="1837944"/>
            <a:ext cx="3822192" cy="1005840"/>
          </a:xfrm>
          <a:prstGeom prst="rect">
            <a:avLst/>
          </a:prstGeom>
          <a:noFill/>
        </p:spPr>
        <p:txBody>
          <a:bodyPr wrap="square">
            <a:spAutoFit/>
          </a:bodyPr>
          <a:lstStyle/>
          <a:p>
            <a:pPr algn="l"/>
            <a:r>
              <a:rPr sz="1200" b="0" i="0">
                <a:solidFill>
                  <a:srgbClr val="404040"/>
                </a:solidFill>
              </a:rPr>
              <a:t>A PCAP file from 2017-01-27 was analyzed to investigate a reported malware infection on an internal Windows host.</a:t>
            </a:r>
          </a:p>
        </p:txBody>
      </p:sp>
      <p:sp>
        <p:nvSpPr>
          <p:cNvPr id="11" name="Rectangle 10"/>
          <p:cNvSpPr/>
          <p:nvPr/>
        </p:nvSpPr>
        <p:spPr>
          <a:xfrm>
            <a:off x="429768" y="2953512"/>
            <a:ext cx="54864"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72" y="2916936"/>
            <a:ext cx="3822192" cy="1005840"/>
          </a:xfrm>
          <a:prstGeom prst="rect">
            <a:avLst/>
          </a:prstGeom>
          <a:noFill/>
        </p:spPr>
        <p:txBody>
          <a:bodyPr wrap="square">
            <a:spAutoFit/>
          </a:bodyPr>
          <a:lstStyle/>
          <a:p>
            <a:pPr algn="l"/>
            <a:r>
              <a:rPr sz="1200" b="0" i="0">
                <a:solidFill>
                  <a:srgbClr val="404040"/>
                </a:solidFill>
              </a:rPr>
              <a:t>Objective: Identify the malware type, trace the full attack chain from initial access to ransomware deployment, extract all IOCs, and evaluate IDS alert accuracy.</a:t>
            </a:r>
          </a:p>
        </p:txBody>
      </p:sp>
      <p:sp>
        <p:nvSpPr>
          <p:cNvPr id="13" name="Rectangle 12"/>
          <p:cNvSpPr/>
          <p:nvPr/>
        </p:nvSpPr>
        <p:spPr>
          <a:xfrm>
            <a:off x="429768" y="4032504"/>
            <a:ext cx="54864"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76072" y="3995928"/>
            <a:ext cx="3822192" cy="1005840"/>
          </a:xfrm>
          <a:prstGeom prst="rect">
            <a:avLst/>
          </a:prstGeom>
          <a:noFill/>
        </p:spPr>
        <p:txBody>
          <a:bodyPr wrap="square">
            <a:spAutoFit/>
          </a:bodyPr>
          <a:lstStyle/>
          <a:p>
            <a:pPr algn="l"/>
            <a:r>
              <a:rPr sz="1200" b="0" i="0">
                <a:solidFill>
                  <a:srgbClr val="404040"/>
                </a:solidFill>
              </a:rPr>
              <a:t>Scope: Single host 172.16.4.193 (STEWIE-PC) on the 172.16.4.0/24 network. Timeframe: 22:53–23:00 UTC. 6,033 packets captured. No lateral movement detected.</a:t>
            </a:r>
          </a:p>
        </p:txBody>
      </p:sp>
      <p:sp>
        <p:nvSpPr>
          <p:cNvPr id="15" name="Rectangle 14"/>
          <p:cNvSpPr/>
          <p:nvPr/>
        </p:nvSpPr>
        <p:spPr>
          <a:xfrm>
            <a:off x="4663440" y="1417320"/>
            <a:ext cx="420624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663440" y="1417320"/>
            <a:ext cx="4206240" cy="347472"/>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73168" y="1472184"/>
            <a:ext cx="4023360" cy="256032"/>
          </a:xfrm>
          <a:prstGeom prst="rect">
            <a:avLst/>
          </a:prstGeom>
          <a:noFill/>
        </p:spPr>
        <p:txBody>
          <a:bodyPr wrap="square">
            <a:spAutoFit/>
          </a:bodyPr>
          <a:lstStyle/>
          <a:p>
            <a:pPr algn="l"/>
            <a:r>
              <a:rPr sz="1300" b="1" i="0">
                <a:solidFill>
                  <a:srgbClr val="FFFFFF"/>
                </a:solidFill>
              </a:rPr>
              <a:t>Tools Used</a:t>
            </a:r>
          </a:p>
        </p:txBody>
      </p:sp>
      <p:sp>
        <p:nvSpPr>
          <p:cNvPr id="18" name="TextBox 17"/>
          <p:cNvSpPr txBox="1"/>
          <p:nvPr/>
        </p:nvSpPr>
        <p:spPr>
          <a:xfrm>
            <a:off x="4828032" y="1874520"/>
            <a:ext cx="3931920" cy="256032"/>
          </a:xfrm>
          <a:prstGeom prst="rect">
            <a:avLst/>
          </a:prstGeom>
          <a:noFill/>
        </p:spPr>
        <p:txBody>
          <a:bodyPr wrap="square">
            <a:spAutoFit/>
          </a:bodyPr>
          <a:lstStyle/>
          <a:p>
            <a:pPr algn="l"/>
            <a:r>
              <a:rPr sz="1200" b="1" i="0">
                <a:solidFill>
                  <a:srgbClr val="0E2841"/>
                </a:solidFill>
              </a:rPr>
              <a:t>Security Onion (Suricata IDS)</a:t>
            </a:r>
          </a:p>
        </p:txBody>
      </p:sp>
      <p:sp>
        <p:nvSpPr>
          <p:cNvPr id="19" name="TextBox 18"/>
          <p:cNvSpPr txBox="1"/>
          <p:nvPr/>
        </p:nvSpPr>
        <p:spPr>
          <a:xfrm>
            <a:off x="4828032" y="2121408"/>
            <a:ext cx="3931920" cy="502920"/>
          </a:xfrm>
          <a:prstGeom prst="rect">
            <a:avLst/>
          </a:prstGeom>
          <a:noFill/>
        </p:spPr>
        <p:txBody>
          <a:bodyPr wrap="square">
            <a:spAutoFit/>
          </a:bodyPr>
          <a:lstStyle/>
          <a:p>
            <a:pPr algn="l"/>
            <a:r>
              <a:rPr sz="1100" b="0" i="0">
                <a:solidFill>
                  <a:srgbClr val="404040"/>
                </a:solidFill>
              </a:rPr>
              <a:t>Alert dashboard — grouped alerts by source IP and signature severity</a:t>
            </a:r>
          </a:p>
        </p:txBody>
      </p:sp>
      <p:sp>
        <p:nvSpPr>
          <p:cNvPr id="20" name="TextBox 19"/>
          <p:cNvSpPr txBox="1"/>
          <p:nvPr/>
        </p:nvSpPr>
        <p:spPr>
          <a:xfrm>
            <a:off x="4828032" y="2743200"/>
            <a:ext cx="3931920" cy="256032"/>
          </a:xfrm>
          <a:prstGeom prst="rect">
            <a:avLst/>
          </a:prstGeom>
          <a:noFill/>
        </p:spPr>
        <p:txBody>
          <a:bodyPr wrap="square">
            <a:spAutoFit/>
          </a:bodyPr>
          <a:lstStyle/>
          <a:p>
            <a:pPr algn="l"/>
            <a:r>
              <a:rPr sz="1200" b="1" i="0">
                <a:solidFill>
                  <a:srgbClr val="0E2841"/>
                </a:solidFill>
              </a:rPr>
              <a:t>Wireshark / PCAP Analysis</a:t>
            </a:r>
          </a:p>
        </p:txBody>
      </p:sp>
      <p:sp>
        <p:nvSpPr>
          <p:cNvPr id="21" name="TextBox 20"/>
          <p:cNvSpPr txBox="1"/>
          <p:nvPr/>
        </p:nvSpPr>
        <p:spPr>
          <a:xfrm>
            <a:off x="4828032" y="2990088"/>
            <a:ext cx="3931920" cy="502920"/>
          </a:xfrm>
          <a:prstGeom prst="rect">
            <a:avLst/>
          </a:prstGeom>
          <a:noFill/>
        </p:spPr>
        <p:txBody>
          <a:bodyPr wrap="square">
            <a:spAutoFit/>
          </a:bodyPr>
          <a:lstStyle/>
          <a:p>
            <a:pPr algn="l"/>
            <a:r>
              <a:rPr sz="1100" b="0" i="0">
                <a:solidFill>
                  <a:srgbClr val="404040"/>
                </a:solidFill>
              </a:rPr>
              <a:t>Packet-level inspection; HTTP stream reconstruction; export objects</a:t>
            </a:r>
          </a:p>
        </p:txBody>
      </p:sp>
      <p:sp>
        <p:nvSpPr>
          <p:cNvPr id="22" name="TextBox 21"/>
          <p:cNvSpPr txBox="1"/>
          <p:nvPr/>
        </p:nvSpPr>
        <p:spPr>
          <a:xfrm>
            <a:off x="4828032" y="3611880"/>
            <a:ext cx="3931920" cy="256032"/>
          </a:xfrm>
          <a:prstGeom prst="rect">
            <a:avLst/>
          </a:prstGeom>
          <a:noFill/>
        </p:spPr>
        <p:txBody>
          <a:bodyPr wrap="square">
            <a:spAutoFit/>
          </a:bodyPr>
          <a:lstStyle/>
          <a:p>
            <a:pPr algn="l"/>
            <a:r>
              <a:rPr sz="1200" b="1" i="0">
                <a:solidFill>
                  <a:srgbClr val="0E2841"/>
                </a:solidFill>
              </a:rPr>
              <a:t>NetworkMiner</a:t>
            </a:r>
          </a:p>
        </p:txBody>
      </p:sp>
      <p:sp>
        <p:nvSpPr>
          <p:cNvPr id="23" name="TextBox 22"/>
          <p:cNvSpPr txBox="1"/>
          <p:nvPr/>
        </p:nvSpPr>
        <p:spPr>
          <a:xfrm>
            <a:off x="4828032" y="3858768"/>
            <a:ext cx="3931920" cy="502920"/>
          </a:xfrm>
          <a:prstGeom prst="rect">
            <a:avLst/>
          </a:prstGeom>
          <a:noFill/>
        </p:spPr>
        <p:txBody>
          <a:bodyPr wrap="square">
            <a:spAutoFit/>
          </a:bodyPr>
          <a:lstStyle/>
          <a:p>
            <a:pPr algn="l"/>
            <a:r>
              <a:rPr sz="1100" b="0" i="0">
                <a:solidFill>
                  <a:srgbClr val="404040"/>
                </a:solidFill>
              </a:rPr>
              <a:t>Host enumeration, OS fingerprinting, MAC addresses, session mapping</a:t>
            </a:r>
          </a:p>
        </p:txBody>
      </p:sp>
      <p:sp>
        <p:nvSpPr>
          <p:cNvPr id="24" name="TextBox 23"/>
          <p:cNvSpPr txBox="1"/>
          <p:nvPr/>
        </p:nvSpPr>
        <p:spPr>
          <a:xfrm>
            <a:off x="4828032" y="4480560"/>
            <a:ext cx="3931920" cy="256032"/>
          </a:xfrm>
          <a:prstGeom prst="rect">
            <a:avLst/>
          </a:prstGeom>
          <a:noFill/>
        </p:spPr>
        <p:txBody>
          <a:bodyPr wrap="square">
            <a:spAutoFit/>
          </a:bodyPr>
          <a:lstStyle/>
          <a:p>
            <a:pPr algn="l"/>
            <a:r>
              <a:rPr sz="1200" b="1" i="0">
                <a:solidFill>
                  <a:srgbClr val="0E2841"/>
                </a:solidFill>
              </a:rPr>
              <a:t>VirusTotal</a:t>
            </a:r>
          </a:p>
        </p:txBody>
      </p:sp>
      <p:sp>
        <p:nvSpPr>
          <p:cNvPr id="25" name="TextBox 24"/>
          <p:cNvSpPr txBox="1"/>
          <p:nvPr/>
        </p:nvSpPr>
        <p:spPr>
          <a:xfrm>
            <a:off x="4828032" y="4727448"/>
            <a:ext cx="3931920" cy="502920"/>
          </a:xfrm>
          <a:prstGeom prst="rect">
            <a:avLst/>
          </a:prstGeom>
          <a:noFill/>
        </p:spPr>
        <p:txBody>
          <a:bodyPr wrap="square">
            <a:spAutoFit/>
          </a:bodyPr>
          <a:lstStyle/>
          <a:p>
            <a:pPr algn="l"/>
            <a:r>
              <a:rPr sz="1100" b="0" i="0">
                <a:solidFill>
                  <a:srgbClr val="404040"/>
                </a:solidFill>
              </a:rPr>
              <a:t>IOC validation — IPs, domains, and file hashes cross-referenced against 94 vendors</a:t>
            </a:r>
          </a:p>
        </p:txBody>
      </p:sp>
      <p:sp>
        <p:nvSpPr>
          <p:cNvPr id="26" name="TextBox 25"/>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1429335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The Network</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Internal topology and external connections identified from PCAP</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Content Placeholder 3">
            <a:extLst>
              <a:ext uri="{FF2B5EF4-FFF2-40B4-BE49-F238E27FC236}">
                <a16:creationId xmlns:a16="http://schemas.microsoft.com/office/drawing/2014/main" id="{736E54CB-AFBD-A6D9-C925-392943A773DA}"/>
              </a:ext>
            </a:extLst>
          </p:cNvPr>
          <p:cNvPicPr>
            <a:picLocks noChangeAspect="1"/>
          </p:cNvPicPr>
          <p:nvPr/>
        </p:nvPicPr>
        <p:blipFill>
          <a:blip r:embed="rId2"/>
          <a:srcRect r="11250" b="3"/>
          <a:stretch>
            <a:fillRect/>
          </a:stretch>
        </p:blipFill>
        <p:spPr>
          <a:xfrm>
            <a:off x="137160" y="1371600"/>
            <a:ext cx="5943600" cy="4572000"/>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6" name="Rectangle 5"/>
          <p:cNvSpPr/>
          <p:nvPr/>
        </p:nvSpPr>
        <p:spPr>
          <a:xfrm>
            <a:off x="6400800" y="1371600"/>
            <a:ext cx="260604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0" y="1371600"/>
            <a:ext cx="2606040" cy="347472"/>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426464"/>
            <a:ext cx="2423160" cy="256032"/>
          </a:xfrm>
          <a:prstGeom prst="rect">
            <a:avLst/>
          </a:prstGeom>
          <a:noFill/>
        </p:spPr>
        <p:txBody>
          <a:bodyPr wrap="square">
            <a:spAutoFit/>
          </a:bodyPr>
          <a:lstStyle/>
          <a:p>
            <a:pPr algn="l"/>
            <a:r>
              <a:rPr sz="1200" b="1" i="0">
                <a:solidFill>
                  <a:srgbClr val="FFFFFF"/>
                </a:solidFill>
              </a:rPr>
              <a:t>Network Summary</a:t>
            </a:r>
          </a:p>
        </p:txBody>
      </p:sp>
      <p:sp>
        <p:nvSpPr>
          <p:cNvPr id="9" name="TextBox 8"/>
          <p:cNvSpPr txBox="1"/>
          <p:nvPr/>
        </p:nvSpPr>
        <p:spPr>
          <a:xfrm>
            <a:off x="6510528" y="1828800"/>
            <a:ext cx="2423160" cy="201168"/>
          </a:xfrm>
          <a:prstGeom prst="rect">
            <a:avLst/>
          </a:prstGeom>
          <a:noFill/>
        </p:spPr>
        <p:txBody>
          <a:bodyPr wrap="square">
            <a:spAutoFit/>
          </a:bodyPr>
          <a:lstStyle/>
          <a:p>
            <a:pPr algn="l"/>
            <a:r>
              <a:rPr sz="1000" b="1" i="0">
                <a:solidFill>
                  <a:srgbClr val="156082"/>
                </a:solidFill>
              </a:rPr>
              <a:t>Subnet:</a:t>
            </a:r>
          </a:p>
        </p:txBody>
      </p:sp>
      <p:sp>
        <p:nvSpPr>
          <p:cNvPr id="10" name="TextBox 9"/>
          <p:cNvSpPr txBox="1"/>
          <p:nvPr/>
        </p:nvSpPr>
        <p:spPr>
          <a:xfrm>
            <a:off x="6510528" y="2011680"/>
            <a:ext cx="2423160" cy="457200"/>
          </a:xfrm>
          <a:prstGeom prst="rect">
            <a:avLst/>
          </a:prstGeom>
          <a:noFill/>
        </p:spPr>
        <p:txBody>
          <a:bodyPr wrap="square">
            <a:spAutoFit/>
          </a:bodyPr>
          <a:lstStyle/>
          <a:p>
            <a:pPr algn="l"/>
            <a:r>
              <a:rPr sz="1000" b="0" i="0">
                <a:solidFill>
                  <a:srgbClr val="404040"/>
                </a:solidFill>
              </a:rPr>
              <a:t>172.16.4.0/24 (SOHO flat network)</a:t>
            </a:r>
          </a:p>
        </p:txBody>
      </p:sp>
      <p:sp>
        <p:nvSpPr>
          <p:cNvPr id="11" name="TextBox 10"/>
          <p:cNvSpPr txBox="1"/>
          <p:nvPr/>
        </p:nvSpPr>
        <p:spPr>
          <a:xfrm>
            <a:off x="6510528" y="2487168"/>
            <a:ext cx="2423160" cy="201168"/>
          </a:xfrm>
          <a:prstGeom prst="rect">
            <a:avLst/>
          </a:prstGeom>
          <a:noFill/>
        </p:spPr>
        <p:txBody>
          <a:bodyPr wrap="square">
            <a:spAutoFit/>
          </a:bodyPr>
          <a:lstStyle/>
          <a:p>
            <a:pPr algn="l"/>
            <a:r>
              <a:rPr sz="1000" b="1" i="0">
                <a:solidFill>
                  <a:srgbClr val="156082"/>
                </a:solidFill>
              </a:rPr>
              <a:t>Victim Host:</a:t>
            </a:r>
          </a:p>
        </p:txBody>
      </p:sp>
      <p:sp>
        <p:nvSpPr>
          <p:cNvPr id="12" name="TextBox 11"/>
          <p:cNvSpPr txBox="1"/>
          <p:nvPr/>
        </p:nvSpPr>
        <p:spPr>
          <a:xfrm>
            <a:off x="6510528" y="2670048"/>
            <a:ext cx="2423160" cy="457200"/>
          </a:xfrm>
          <a:prstGeom prst="rect">
            <a:avLst/>
          </a:prstGeom>
          <a:noFill/>
        </p:spPr>
        <p:txBody>
          <a:bodyPr wrap="square">
            <a:spAutoFit/>
          </a:bodyPr>
          <a:lstStyle/>
          <a:p>
            <a:pPr algn="l"/>
            <a:r>
              <a:rPr sz="1000" b="0" i="0">
                <a:solidFill>
                  <a:srgbClr val="404040"/>
                </a:solidFill>
              </a:rPr>
              <a:t>STEWIE-PC — 172.16.4.193
Windows 7, Dell NIC
MAC: 5C:26:0A:02:A8:E4</a:t>
            </a:r>
          </a:p>
        </p:txBody>
      </p:sp>
      <p:sp>
        <p:nvSpPr>
          <p:cNvPr id="13" name="TextBox 12"/>
          <p:cNvSpPr txBox="1"/>
          <p:nvPr/>
        </p:nvSpPr>
        <p:spPr>
          <a:xfrm>
            <a:off x="6510528" y="3145536"/>
            <a:ext cx="2423160" cy="201168"/>
          </a:xfrm>
          <a:prstGeom prst="rect">
            <a:avLst/>
          </a:prstGeom>
          <a:noFill/>
        </p:spPr>
        <p:txBody>
          <a:bodyPr wrap="square">
            <a:spAutoFit/>
          </a:bodyPr>
          <a:lstStyle/>
          <a:p>
            <a:pPr algn="l"/>
            <a:r>
              <a:rPr sz="1000" b="1" i="0">
                <a:solidFill>
                  <a:srgbClr val="156082"/>
                </a:solidFill>
              </a:rPr>
              <a:t>Gateway:</a:t>
            </a:r>
          </a:p>
        </p:txBody>
      </p:sp>
      <p:sp>
        <p:nvSpPr>
          <p:cNvPr id="14" name="TextBox 13"/>
          <p:cNvSpPr txBox="1"/>
          <p:nvPr/>
        </p:nvSpPr>
        <p:spPr>
          <a:xfrm>
            <a:off x="6510528" y="3328416"/>
            <a:ext cx="2423160" cy="457200"/>
          </a:xfrm>
          <a:prstGeom prst="rect">
            <a:avLst/>
          </a:prstGeom>
          <a:noFill/>
        </p:spPr>
        <p:txBody>
          <a:bodyPr wrap="square">
            <a:spAutoFit/>
          </a:bodyPr>
          <a:lstStyle/>
          <a:p>
            <a:pPr algn="l"/>
            <a:r>
              <a:rPr sz="1000" b="0" i="0">
                <a:solidFill>
                  <a:srgbClr val="404040"/>
                </a:solidFill>
              </a:rPr>
              <a:t>172.16.4.1 — DNS + NAT</a:t>
            </a:r>
          </a:p>
        </p:txBody>
      </p:sp>
      <p:sp>
        <p:nvSpPr>
          <p:cNvPr id="15" name="TextBox 14"/>
          <p:cNvSpPr txBox="1"/>
          <p:nvPr/>
        </p:nvSpPr>
        <p:spPr>
          <a:xfrm>
            <a:off x="6510528" y="3803904"/>
            <a:ext cx="2423160" cy="201168"/>
          </a:xfrm>
          <a:prstGeom prst="rect">
            <a:avLst/>
          </a:prstGeom>
          <a:noFill/>
        </p:spPr>
        <p:txBody>
          <a:bodyPr wrap="square">
            <a:spAutoFit/>
          </a:bodyPr>
          <a:lstStyle/>
          <a:p>
            <a:pPr algn="l"/>
            <a:r>
              <a:rPr sz="1000" b="1" i="0">
                <a:solidFill>
                  <a:srgbClr val="156082"/>
                </a:solidFill>
              </a:rPr>
              <a:t>C2 Server:</a:t>
            </a:r>
          </a:p>
        </p:txBody>
      </p:sp>
      <p:sp>
        <p:nvSpPr>
          <p:cNvPr id="16" name="TextBox 15"/>
          <p:cNvSpPr txBox="1"/>
          <p:nvPr/>
        </p:nvSpPr>
        <p:spPr>
          <a:xfrm>
            <a:off x="6510528" y="3986784"/>
            <a:ext cx="2423160" cy="457200"/>
          </a:xfrm>
          <a:prstGeom prst="rect">
            <a:avLst/>
          </a:prstGeom>
          <a:noFill/>
        </p:spPr>
        <p:txBody>
          <a:bodyPr wrap="square">
            <a:spAutoFit/>
          </a:bodyPr>
          <a:lstStyle/>
          <a:p>
            <a:pPr algn="l"/>
            <a:r>
              <a:rPr sz="1000" b="0" i="0">
                <a:solidFill>
                  <a:srgbClr val="404040"/>
                </a:solidFill>
              </a:rPr>
              <a:t>tyu.benme.com
194.87.234.129 (RU)</a:t>
            </a:r>
          </a:p>
        </p:txBody>
      </p:sp>
      <p:sp>
        <p:nvSpPr>
          <p:cNvPr id="17" name="TextBox 16"/>
          <p:cNvSpPr txBox="1"/>
          <p:nvPr/>
        </p:nvSpPr>
        <p:spPr>
          <a:xfrm>
            <a:off x="6510528" y="4462272"/>
            <a:ext cx="2423160" cy="201168"/>
          </a:xfrm>
          <a:prstGeom prst="rect">
            <a:avLst/>
          </a:prstGeom>
          <a:noFill/>
        </p:spPr>
        <p:txBody>
          <a:bodyPr wrap="square">
            <a:spAutoFit/>
          </a:bodyPr>
          <a:lstStyle/>
          <a:p>
            <a:pPr algn="l"/>
            <a:r>
              <a:rPr sz="1000" b="1" i="0">
                <a:solidFill>
                  <a:srgbClr val="156082"/>
                </a:solidFill>
              </a:rPr>
              <a:t>Dropper:</a:t>
            </a:r>
          </a:p>
        </p:txBody>
      </p:sp>
      <p:sp>
        <p:nvSpPr>
          <p:cNvPr id="18" name="TextBox 17"/>
          <p:cNvSpPr txBox="1"/>
          <p:nvPr/>
        </p:nvSpPr>
        <p:spPr>
          <a:xfrm>
            <a:off x="6510528" y="4645152"/>
            <a:ext cx="2423160" cy="457200"/>
          </a:xfrm>
          <a:prstGeom prst="rect">
            <a:avLst/>
          </a:prstGeom>
          <a:noFill/>
        </p:spPr>
        <p:txBody>
          <a:bodyPr wrap="square">
            <a:spAutoFit/>
          </a:bodyPr>
          <a:lstStyle/>
          <a:p>
            <a:pPr algn="l"/>
            <a:r>
              <a:rPr sz="1000" b="0" i="0">
                <a:solidFill>
                  <a:srgbClr val="404040"/>
                </a:solidFill>
              </a:rPr>
              <a:t>spotsbill.com
5.188.223.104</a:t>
            </a:r>
          </a:p>
        </p:txBody>
      </p:sp>
      <p:sp>
        <p:nvSpPr>
          <p:cNvPr id="19" name="TextBox 18"/>
          <p:cNvSpPr txBox="1"/>
          <p:nvPr/>
        </p:nvSpPr>
        <p:spPr>
          <a:xfrm>
            <a:off x="6510528" y="5120640"/>
            <a:ext cx="2423160" cy="201168"/>
          </a:xfrm>
          <a:prstGeom prst="rect">
            <a:avLst/>
          </a:prstGeom>
          <a:noFill/>
        </p:spPr>
        <p:txBody>
          <a:bodyPr wrap="square">
            <a:spAutoFit/>
          </a:bodyPr>
          <a:lstStyle/>
          <a:p>
            <a:pPr algn="l"/>
            <a:r>
              <a:rPr sz="1000" b="1" i="0">
                <a:solidFill>
                  <a:srgbClr val="156082"/>
                </a:solidFill>
              </a:rPr>
              <a:t>Ransom Portal:</a:t>
            </a:r>
          </a:p>
        </p:txBody>
      </p:sp>
      <p:sp>
        <p:nvSpPr>
          <p:cNvPr id="20" name="TextBox 19"/>
          <p:cNvSpPr txBox="1"/>
          <p:nvPr/>
        </p:nvSpPr>
        <p:spPr>
          <a:xfrm>
            <a:off x="6510528" y="5303520"/>
            <a:ext cx="2423160" cy="457200"/>
          </a:xfrm>
          <a:prstGeom prst="rect">
            <a:avLst/>
          </a:prstGeom>
          <a:noFill/>
        </p:spPr>
        <p:txBody>
          <a:bodyPr wrap="square">
            <a:spAutoFit/>
          </a:bodyPr>
          <a:lstStyle/>
          <a:p>
            <a:pPr algn="l"/>
            <a:r>
              <a:rPr sz="1000" b="0" i="0">
                <a:solidFill>
                  <a:srgbClr val="404040"/>
                </a:solidFill>
              </a:rPr>
              <a:t>p27dokhpz2n7nvgr
.1jw2lx.top</a:t>
            </a:r>
          </a:p>
        </p:txBody>
      </p:sp>
      <p:sp>
        <p:nvSpPr>
          <p:cNvPr id="21" name="TextBox 20"/>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1390867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Methodology</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Analytical process used to reconstruct the attack</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0040" y="1417320"/>
            <a:ext cx="4480560"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20040" y="1417320"/>
            <a:ext cx="384048" cy="1463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920240"/>
            <a:ext cx="384048" cy="502920"/>
          </a:xfrm>
          <a:prstGeom prst="rect">
            <a:avLst/>
          </a:prstGeom>
          <a:noFill/>
        </p:spPr>
        <p:txBody>
          <a:bodyPr wrap="square">
            <a:spAutoFit/>
          </a:bodyPr>
          <a:lstStyle/>
          <a:p>
            <a:pPr algn="ctr"/>
            <a:r>
              <a:rPr sz="2200" b="1" i="0">
                <a:solidFill>
                  <a:srgbClr val="FFFFFF"/>
                </a:solidFill>
              </a:rPr>
              <a:t>1</a:t>
            </a:r>
          </a:p>
        </p:txBody>
      </p:sp>
      <p:sp>
        <p:nvSpPr>
          <p:cNvPr id="9" name="TextBox 8"/>
          <p:cNvSpPr txBox="1"/>
          <p:nvPr/>
        </p:nvSpPr>
        <p:spPr>
          <a:xfrm>
            <a:off x="795528" y="1508760"/>
            <a:ext cx="3913632" cy="320040"/>
          </a:xfrm>
          <a:prstGeom prst="rect">
            <a:avLst/>
          </a:prstGeom>
          <a:noFill/>
        </p:spPr>
        <p:txBody>
          <a:bodyPr wrap="square">
            <a:spAutoFit/>
          </a:bodyPr>
          <a:lstStyle/>
          <a:p>
            <a:pPr algn="l"/>
            <a:r>
              <a:rPr sz="1300" b="1" i="0">
                <a:solidFill>
                  <a:srgbClr val="0E2841"/>
                </a:solidFill>
              </a:rPr>
              <a:t>Alert Triage</a:t>
            </a:r>
          </a:p>
        </p:txBody>
      </p:sp>
      <p:sp>
        <p:nvSpPr>
          <p:cNvPr id="10" name="TextBox 9"/>
          <p:cNvSpPr txBox="1"/>
          <p:nvPr/>
        </p:nvSpPr>
        <p:spPr>
          <a:xfrm>
            <a:off x="795528" y="1801368"/>
            <a:ext cx="3913632" cy="987552"/>
          </a:xfrm>
          <a:prstGeom prst="rect">
            <a:avLst/>
          </a:prstGeom>
          <a:noFill/>
        </p:spPr>
        <p:txBody>
          <a:bodyPr wrap="square">
            <a:spAutoFit/>
          </a:bodyPr>
          <a:lstStyle/>
          <a:p>
            <a:pPr algn="l"/>
            <a:r>
              <a:rPr sz="1050" b="0" i="0">
                <a:solidFill>
                  <a:srgbClr val="404040"/>
                </a:solidFill>
              </a:rPr>
              <a:t>Reviewed Security Onion Alerts dashboard. Grouped alerts by source IP and rule name. Identified highest-severity Suricata signatures (RIG EK ×15, Evil Redirector, Cerber Ransomware) as the starting point.</a:t>
            </a:r>
          </a:p>
        </p:txBody>
      </p:sp>
      <p:sp>
        <p:nvSpPr>
          <p:cNvPr id="11" name="Rectangle 10"/>
          <p:cNvSpPr/>
          <p:nvPr/>
        </p:nvSpPr>
        <p:spPr>
          <a:xfrm>
            <a:off x="4965192" y="1417320"/>
            <a:ext cx="4480560"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965192" y="1417320"/>
            <a:ext cx="384048" cy="1463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65192" y="1920240"/>
            <a:ext cx="384048" cy="502920"/>
          </a:xfrm>
          <a:prstGeom prst="rect">
            <a:avLst/>
          </a:prstGeom>
          <a:noFill/>
        </p:spPr>
        <p:txBody>
          <a:bodyPr wrap="square">
            <a:spAutoFit/>
          </a:bodyPr>
          <a:lstStyle/>
          <a:p>
            <a:pPr algn="ctr"/>
            <a:r>
              <a:rPr sz="2200" b="1" i="0">
                <a:solidFill>
                  <a:srgbClr val="FFFFFF"/>
                </a:solidFill>
              </a:rPr>
              <a:t>2</a:t>
            </a:r>
          </a:p>
        </p:txBody>
      </p:sp>
      <p:sp>
        <p:nvSpPr>
          <p:cNvPr id="14" name="TextBox 13"/>
          <p:cNvSpPr txBox="1"/>
          <p:nvPr/>
        </p:nvSpPr>
        <p:spPr>
          <a:xfrm>
            <a:off x="5440680" y="1508760"/>
            <a:ext cx="3913632" cy="320040"/>
          </a:xfrm>
          <a:prstGeom prst="rect">
            <a:avLst/>
          </a:prstGeom>
          <a:noFill/>
        </p:spPr>
        <p:txBody>
          <a:bodyPr wrap="square">
            <a:spAutoFit/>
          </a:bodyPr>
          <a:lstStyle/>
          <a:p>
            <a:pPr algn="l"/>
            <a:r>
              <a:rPr sz="1300" b="1" i="0">
                <a:solidFill>
                  <a:srgbClr val="0E2841"/>
                </a:solidFill>
              </a:rPr>
              <a:t>OSINT Validation</a:t>
            </a:r>
          </a:p>
        </p:txBody>
      </p:sp>
      <p:sp>
        <p:nvSpPr>
          <p:cNvPr id="15" name="TextBox 14"/>
          <p:cNvSpPr txBox="1"/>
          <p:nvPr/>
        </p:nvSpPr>
        <p:spPr>
          <a:xfrm>
            <a:off x="5440680" y="1801368"/>
            <a:ext cx="3913632" cy="987552"/>
          </a:xfrm>
          <a:prstGeom prst="rect">
            <a:avLst/>
          </a:prstGeom>
          <a:noFill/>
        </p:spPr>
        <p:txBody>
          <a:bodyPr wrap="square">
            <a:spAutoFit/>
          </a:bodyPr>
          <a:lstStyle/>
          <a:p>
            <a:pPr algn="l"/>
            <a:r>
              <a:rPr sz="1050" b="0" i="0">
                <a:solidFill>
                  <a:srgbClr val="404040"/>
                </a:solidFill>
              </a:rPr>
              <a:t>Queried each IOC (IPs and domains) in VirusTotal. Obtained independent vendor verdicts to confirm or rule out false positives. Key IPs verified against 94-vendor engine consensus.</a:t>
            </a:r>
          </a:p>
        </p:txBody>
      </p:sp>
      <p:sp>
        <p:nvSpPr>
          <p:cNvPr id="16" name="Rectangle 15"/>
          <p:cNvSpPr/>
          <p:nvPr/>
        </p:nvSpPr>
        <p:spPr>
          <a:xfrm>
            <a:off x="320040" y="3044952"/>
            <a:ext cx="4480560"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20040" y="3044952"/>
            <a:ext cx="384048" cy="1463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3547872"/>
            <a:ext cx="384048" cy="502920"/>
          </a:xfrm>
          <a:prstGeom prst="rect">
            <a:avLst/>
          </a:prstGeom>
          <a:noFill/>
        </p:spPr>
        <p:txBody>
          <a:bodyPr wrap="square">
            <a:spAutoFit/>
          </a:bodyPr>
          <a:lstStyle/>
          <a:p>
            <a:pPr algn="ctr"/>
            <a:r>
              <a:rPr sz="2200" b="1" i="0">
                <a:solidFill>
                  <a:srgbClr val="FFFFFF"/>
                </a:solidFill>
              </a:rPr>
              <a:t>3</a:t>
            </a:r>
          </a:p>
        </p:txBody>
      </p:sp>
      <p:sp>
        <p:nvSpPr>
          <p:cNvPr id="19" name="TextBox 18"/>
          <p:cNvSpPr txBox="1"/>
          <p:nvPr/>
        </p:nvSpPr>
        <p:spPr>
          <a:xfrm>
            <a:off x="795528" y="3136392"/>
            <a:ext cx="3913632" cy="320040"/>
          </a:xfrm>
          <a:prstGeom prst="rect">
            <a:avLst/>
          </a:prstGeom>
          <a:noFill/>
        </p:spPr>
        <p:txBody>
          <a:bodyPr wrap="square">
            <a:spAutoFit/>
          </a:bodyPr>
          <a:lstStyle/>
          <a:p>
            <a:pPr algn="l"/>
            <a:r>
              <a:rPr sz="1300" b="1" i="0">
                <a:solidFill>
                  <a:srgbClr val="0E2841"/>
                </a:solidFill>
              </a:rPr>
              <a:t>PCAP Deep-Dive</a:t>
            </a:r>
          </a:p>
        </p:txBody>
      </p:sp>
      <p:sp>
        <p:nvSpPr>
          <p:cNvPr id="20" name="TextBox 19"/>
          <p:cNvSpPr txBox="1"/>
          <p:nvPr/>
        </p:nvSpPr>
        <p:spPr>
          <a:xfrm>
            <a:off x="795528" y="3429000"/>
            <a:ext cx="3913632" cy="987552"/>
          </a:xfrm>
          <a:prstGeom prst="rect">
            <a:avLst/>
          </a:prstGeom>
          <a:noFill/>
        </p:spPr>
        <p:txBody>
          <a:bodyPr wrap="square">
            <a:spAutoFit/>
          </a:bodyPr>
          <a:lstStyle/>
          <a:p>
            <a:pPr algn="l"/>
            <a:r>
              <a:rPr sz="1050" b="0" i="0">
                <a:solidFill>
                  <a:srgbClr val="404040"/>
                </a:solidFill>
              </a:rPr>
              <a:t>Applied Wireshark display filters (ip.addr, http, dns) to isolate malicious traffic. Reconstructed HTTP streams to identify payload delivery and C2 beaconing. Used Export Objects to extract dropped executables.</a:t>
            </a:r>
          </a:p>
        </p:txBody>
      </p:sp>
      <p:sp>
        <p:nvSpPr>
          <p:cNvPr id="21" name="Rectangle 20"/>
          <p:cNvSpPr/>
          <p:nvPr/>
        </p:nvSpPr>
        <p:spPr>
          <a:xfrm>
            <a:off x="4965192" y="3044952"/>
            <a:ext cx="4480560"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965192" y="3044952"/>
            <a:ext cx="384048" cy="1463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65192" y="3547872"/>
            <a:ext cx="384048" cy="502920"/>
          </a:xfrm>
          <a:prstGeom prst="rect">
            <a:avLst/>
          </a:prstGeom>
          <a:noFill/>
        </p:spPr>
        <p:txBody>
          <a:bodyPr wrap="square">
            <a:spAutoFit/>
          </a:bodyPr>
          <a:lstStyle/>
          <a:p>
            <a:pPr algn="ctr"/>
            <a:r>
              <a:rPr sz="2200" b="1" i="0">
                <a:solidFill>
                  <a:srgbClr val="FFFFFF"/>
                </a:solidFill>
              </a:rPr>
              <a:t>4</a:t>
            </a:r>
          </a:p>
        </p:txBody>
      </p:sp>
      <p:sp>
        <p:nvSpPr>
          <p:cNvPr id="24" name="TextBox 23"/>
          <p:cNvSpPr txBox="1"/>
          <p:nvPr/>
        </p:nvSpPr>
        <p:spPr>
          <a:xfrm>
            <a:off x="5440680" y="3136392"/>
            <a:ext cx="3913632" cy="320040"/>
          </a:xfrm>
          <a:prstGeom prst="rect">
            <a:avLst/>
          </a:prstGeom>
          <a:noFill/>
        </p:spPr>
        <p:txBody>
          <a:bodyPr wrap="square">
            <a:spAutoFit/>
          </a:bodyPr>
          <a:lstStyle/>
          <a:p>
            <a:pPr algn="l"/>
            <a:r>
              <a:rPr sz="1300" b="1" i="0">
                <a:solidFill>
                  <a:srgbClr val="0E2841"/>
                </a:solidFill>
              </a:rPr>
              <a:t>Host Enumeration</a:t>
            </a:r>
          </a:p>
        </p:txBody>
      </p:sp>
      <p:sp>
        <p:nvSpPr>
          <p:cNvPr id="25" name="TextBox 24"/>
          <p:cNvSpPr txBox="1"/>
          <p:nvPr/>
        </p:nvSpPr>
        <p:spPr>
          <a:xfrm>
            <a:off x="5440680" y="3429000"/>
            <a:ext cx="3913632" cy="987552"/>
          </a:xfrm>
          <a:prstGeom prst="rect">
            <a:avLst/>
          </a:prstGeom>
          <a:noFill/>
        </p:spPr>
        <p:txBody>
          <a:bodyPr wrap="square">
            <a:spAutoFit/>
          </a:bodyPr>
          <a:lstStyle/>
          <a:p>
            <a:pPr algn="l"/>
            <a:r>
              <a:rPr sz="1050" b="0" i="0">
                <a:solidFill>
                  <a:srgbClr val="404040"/>
                </a:solidFill>
              </a:rPr>
              <a:t>Loaded PCAP into NetworkMiner to identify hostnames, OS fingerprints, MAC addresses, and all outgoing sessions from the infected host (69 total sessions mapped).</a:t>
            </a:r>
          </a:p>
        </p:txBody>
      </p:sp>
      <p:sp>
        <p:nvSpPr>
          <p:cNvPr id="26" name="Rectangle 25"/>
          <p:cNvSpPr/>
          <p:nvPr/>
        </p:nvSpPr>
        <p:spPr>
          <a:xfrm>
            <a:off x="320040" y="4672584"/>
            <a:ext cx="4480560"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20040" y="4672584"/>
            <a:ext cx="384048" cy="1463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20040" y="5175504"/>
            <a:ext cx="384048" cy="502920"/>
          </a:xfrm>
          <a:prstGeom prst="rect">
            <a:avLst/>
          </a:prstGeom>
          <a:noFill/>
        </p:spPr>
        <p:txBody>
          <a:bodyPr wrap="square">
            <a:spAutoFit/>
          </a:bodyPr>
          <a:lstStyle/>
          <a:p>
            <a:pPr algn="ctr"/>
            <a:r>
              <a:rPr sz="2200" b="1" i="0">
                <a:solidFill>
                  <a:srgbClr val="FFFFFF"/>
                </a:solidFill>
              </a:rPr>
              <a:t>5</a:t>
            </a:r>
          </a:p>
        </p:txBody>
      </p:sp>
      <p:sp>
        <p:nvSpPr>
          <p:cNvPr id="29" name="TextBox 28"/>
          <p:cNvSpPr txBox="1"/>
          <p:nvPr/>
        </p:nvSpPr>
        <p:spPr>
          <a:xfrm>
            <a:off x="795528" y="4764024"/>
            <a:ext cx="3913632" cy="320040"/>
          </a:xfrm>
          <a:prstGeom prst="rect">
            <a:avLst/>
          </a:prstGeom>
          <a:noFill/>
        </p:spPr>
        <p:txBody>
          <a:bodyPr wrap="square">
            <a:spAutoFit/>
          </a:bodyPr>
          <a:lstStyle/>
          <a:p>
            <a:pPr algn="l"/>
            <a:r>
              <a:rPr sz="1300" b="1" i="0">
                <a:solidFill>
                  <a:srgbClr val="0E2841"/>
                </a:solidFill>
              </a:rPr>
              <a:t>IOC Extraction</a:t>
            </a:r>
          </a:p>
        </p:txBody>
      </p:sp>
      <p:sp>
        <p:nvSpPr>
          <p:cNvPr id="30" name="TextBox 29"/>
          <p:cNvSpPr txBox="1"/>
          <p:nvPr/>
        </p:nvSpPr>
        <p:spPr>
          <a:xfrm>
            <a:off x="795528" y="5056632"/>
            <a:ext cx="3913632" cy="987552"/>
          </a:xfrm>
          <a:prstGeom prst="rect">
            <a:avLst/>
          </a:prstGeom>
          <a:noFill/>
        </p:spPr>
        <p:txBody>
          <a:bodyPr wrap="square">
            <a:spAutoFit/>
          </a:bodyPr>
          <a:lstStyle/>
          <a:p>
            <a:pPr algn="l"/>
            <a:r>
              <a:rPr sz="1050" b="0" i="0">
                <a:solidFill>
                  <a:srgbClr val="404040"/>
                </a:solidFill>
              </a:rPr>
              <a:t>Extracted all IP addresses, domains, Bitcoin wallet addresses, victim GUIDs, file hashes, and MITRE ATT&amp;CK technique mappings from correlated evidence across all tools.</a:t>
            </a:r>
          </a:p>
        </p:txBody>
      </p:sp>
      <p:sp>
        <p:nvSpPr>
          <p:cNvPr id="31" name="Rectangle 30"/>
          <p:cNvSpPr/>
          <p:nvPr/>
        </p:nvSpPr>
        <p:spPr>
          <a:xfrm>
            <a:off x="4965192" y="4672584"/>
            <a:ext cx="4480560" cy="1463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965192" y="4672584"/>
            <a:ext cx="384048" cy="1463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65192" y="5175504"/>
            <a:ext cx="384048" cy="502920"/>
          </a:xfrm>
          <a:prstGeom prst="rect">
            <a:avLst/>
          </a:prstGeom>
          <a:noFill/>
        </p:spPr>
        <p:txBody>
          <a:bodyPr wrap="square">
            <a:spAutoFit/>
          </a:bodyPr>
          <a:lstStyle/>
          <a:p>
            <a:pPr algn="ctr"/>
            <a:r>
              <a:rPr sz="2200" b="1" i="0">
                <a:solidFill>
                  <a:srgbClr val="FFFFFF"/>
                </a:solidFill>
              </a:rPr>
              <a:t>6</a:t>
            </a:r>
          </a:p>
        </p:txBody>
      </p:sp>
      <p:sp>
        <p:nvSpPr>
          <p:cNvPr id="34" name="TextBox 33"/>
          <p:cNvSpPr txBox="1"/>
          <p:nvPr/>
        </p:nvSpPr>
        <p:spPr>
          <a:xfrm>
            <a:off x="5440680" y="4764024"/>
            <a:ext cx="3913632" cy="320040"/>
          </a:xfrm>
          <a:prstGeom prst="rect">
            <a:avLst/>
          </a:prstGeom>
          <a:noFill/>
        </p:spPr>
        <p:txBody>
          <a:bodyPr wrap="square">
            <a:spAutoFit/>
          </a:bodyPr>
          <a:lstStyle/>
          <a:p>
            <a:pPr algn="l"/>
            <a:r>
              <a:rPr sz="1300" b="1" i="0">
                <a:solidFill>
                  <a:srgbClr val="0E2841"/>
                </a:solidFill>
              </a:rPr>
              <a:t>Timeline Construction</a:t>
            </a:r>
          </a:p>
        </p:txBody>
      </p:sp>
      <p:sp>
        <p:nvSpPr>
          <p:cNvPr id="35" name="TextBox 34"/>
          <p:cNvSpPr txBox="1"/>
          <p:nvPr/>
        </p:nvSpPr>
        <p:spPr>
          <a:xfrm>
            <a:off x="5440680" y="5056632"/>
            <a:ext cx="3913632" cy="987552"/>
          </a:xfrm>
          <a:prstGeom prst="rect">
            <a:avLst/>
          </a:prstGeom>
          <a:noFill/>
        </p:spPr>
        <p:txBody>
          <a:bodyPr wrap="square">
            <a:spAutoFit/>
          </a:bodyPr>
          <a:lstStyle/>
          <a:p>
            <a:pPr algn="l"/>
            <a:r>
              <a:rPr sz="1050" b="0" i="0">
                <a:solidFill>
                  <a:srgbClr val="404040"/>
                </a:solidFill>
              </a:rPr>
              <a:t>Cross-referenced packet timestamps, DNS queries, HTTP requests, and IDS alerts to build a precise UTC timeline from initial access (22:53) through ransomware portal load (22:55).</a:t>
            </a:r>
          </a:p>
        </p:txBody>
      </p:sp>
      <p:sp>
        <p:nvSpPr>
          <p:cNvPr id="36" name="TextBox 35"/>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1205767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Timeline of Events</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All times UTC — 2017-01-27  |  Capture: 22:53:08 – 23:00 UTC</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Content Placeholder 3">
            <a:extLst>
              <a:ext uri="{FF2B5EF4-FFF2-40B4-BE49-F238E27FC236}">
                <a16:creationId xmlns:a16="http://schemas.microsoft.com/office/drawing/2014/main" id="{EFC7542A-50E9-1447-618E-B33E31077234}"/>
              </a:ext>
            </a:extLst>
          </p:cNvPr>
          <p:cNvPicPr>
            <a:picLocks noGrp="1" noChangeAspect="1"/>
          </p:cNvPicPr>
          <p:nvPr>
            <p:ph idx="1"/>
          </p:nvPr>
        </p:nvPicPr>
        <p:blipFill>
          <a:blip r:embed="rId2"/>
          <a:stretch>
            <a:fillRect/>
          </a:stretch>
        </p:blipFill>
        <p:spPr>
          <a:xfrm>
            <a:off x="228600" y="1353312"/>
            <a:ext cx="8869680" cy="4572000"/>
          </a:xfrm>
          <a:prstGeom prst="rect">
            <a:avLst/>
          </a:prstGeom>
        </p:spPr>
      </p:pic>
      <p:sp>
        <p:nvSpPr>
          <p:cNvPr id="6" name="TextBox 5"/>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2833191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Indicators of Compromise (IOCs)</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All IOCs extracted from PCAP and validated via VirusTotal</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Content Placeholder 3" descr="A blue and white table with text&#10;&#10;AI-generated content may be incorrect.">
            <a:extLst>
              <a:ext uri="{FF2B5EF4-FFF2-40B4-BE49-F238E27FC236}">
                <a16:creationId xmlns:a16="http://schemas.microsoft.com/office/drawing/2014/main" id="{8EE5417C-DC37-9F86-014C-00F3CCF48D4A}"/>
              </a:ext>
            </a:extLst>
          </p:cNvPr>
          <p:cNvPicPr>
            <a:picLocks noGrp="1" noChangeAspect="1"/>
          </p:cNvPicPr>
          <p:nvPr>
            <p:ph idx="1"/>
          </p:nvPr>
        </p:nvPicPr>
        <p:blipFill>
          <a:blip r:embed="rId2"/>
          <a:stretch>
            <a:fillRect/>
          </a:stretch>
        </p:blipFill>
        <p:spPr>
          <a:xfrm>
            <a:off x="274320" y="1371600"/>
            <a:ext cx="6858000" cy="4389120"/>
          </a:xfrm>
          <a:prstGeom prst="rect">
            <a:avLst/>
          </a:prstGeom>
        </p:spPr>
      </p:pic>
      <p:sp>
        <p:nvSpPr>
          <p:cNvPr id="6" name="Rectangle 5"/>
          <p:cNvSpPr/>
          <p:nvPr/>
        </p:nvSpPr>
        <p:spPr>
          <a:xfrm>
            <a:off x="7269480" y="1371600"/>
            <a:ext cx="182880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269480" y="1371600"/>
            <a:ext cx="1828800" cy="347472"/>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60920" y="1426464"/>
            <a:ext cx="1645920" cy="256032"/>
          </a:xfrm>
          <a:prstGeom prst="rect">
            <a:avLst/>
          </a:prstGeom>
          <a:noFill/>
        </p:spPr>
        <p:txBody>
          <a:bodyPr wrap="square">
            <a:spAutoFit/>
          </a:bodyPr>
          <a:lstStyle/>
          <a:p>
            <a:pPr algn="l"/>
            <a:r>
              <a:rPr sz="1200" b="1" i="0">
                <a:solidFill>
                  <a:srgbClr val="FFFFFF"/>
                </a:solidFill>
              </a:rPr>
              <a:t>Additional IOCs</a:t>
            </a:r>
          </a:p>
        </p:txBody>
      </p:sp>
      <p:sp>
        <p:nvSpPr>
          <p:cNvPr id="9" name="TextBox 8"/>
          <p:cNvSpPr txBox="1"/>
          <p:nvPr/>
        </p:nvSpPr>
        <p:spPr>
          <a:xfrm>
            <a:off x="7379208" y="1828800"/>
            <a:ext cx="1645920" cy="201168"/>
          </a:xfrm>
          <a:prstGeom prst="rect">
            <a:avLst/>
          </a:prstGeom>
          <a:noFill/>
        </p:spPr>
        <p:txBody>
          <a:bodyPr wrap="square">
            <a:spAutoFit/>
          </a:bodyPr>
          <a:lstStyle/>
          <a:p>
            <a:pPr algn="l"/>
            <a:r>
              <a:rPr sz="1000" b="1" i="0">
                <a:solidFill>
                  <a:srgbClr val="156082"/>
                </a:solidFill>
              </a:rPr>
              <a:t>Bitcoin:</a:t>
            </a:r>
          </a:p>
        </p:txBody>
      </p:sp>
      <p:sp>
        <p:nvSpPr>
          <p:cNvPr id="10" name="TextBox 9"/>
          <p:cNvSpPr txBox="1"/>
          <p:nvPr/>
        </p:nvSpPr>
        <p:spPr>
          <a:xfrm>
            <a:off x="7379208" y="2029968"/>
            <a:ext cx="1645920" cy="594360"/>
          </a:xfrm>
          <a:prstGeom prst="rect">
            <a:avLst/>
          </a:prstGeom>
          <a:noFill/>
        </p:spPr>
        <p:txBody>
          <a:bodyPr wrap="square">
            <a:spAutoFit/>
          </a:bodyPr>
          <a:lstStyle/>
          <a:p>
            <a:pPr algn="l"/>
            <a:r>
              <a:rPr sz="950" b="0" i="0">
                <a:solidFill>
                  <a:srgbClr val="404040"/>
                </a:solidFill>
              </a:rPr>
              <a:t>17gd1msp5FnMcEMF
1MitTNSsYs7w7AQyCt</a:t>
            </a:r>
          </a:p>
        </p:txBody>
      </p:sp>
      <p:sp>
        <p:nvSpPr>
          <p:cNvPr id="11" name="TextBox 10"/>
          <p:cNvSpPr txBox="1"/>
          <p:nvPr/>
        </p:nvSpPr>
        <p:spPr>
          <a:xfrm>
            <a:off x="7379208" y="2724912"/>
            <a:ext cx="1645920" cy="201168"/>
          </a:xfrm>
          <a:prstGeom prst="rect">
            <a:avLst/>
          </a:prstGeom>
          <a:noFill/>
        </p:spPr>
        <p:txBody>
          <a:bodyPr wrap="square">
            <a:spAutoFit/>
          </a:bodyPr>
          <a:lstStyle/>
          <a:p>
            <a:pPr algn="l"/>
            <a:r>
              <a:rPr sz="1000" b="1" i="0">
                <a:solidFill>
                  <a:srgbClr val="156082"/>
                </a:solidFill>
              </a:rPr>
              <a:t>GUID:</a:t>
            </a:r>
          </a:p>
        </p:txBody>
      </p:sp>
      <p:sp>
        <p:nvSpPr>
          <p:cNvPr id="12" name="TextBox 11"/>
          <p:cNvSpPr txBox="1"/>
          <p:nvPr/>
        </p:nvSpPr>
        <p:spPr>
          <a:xfrm>
            <a:off x="7379208" y="2926080"/>
            <a:ext cx="1645920" cy="594360"/>
          </a:xfrm>
          <a:prstGeom prst="rect">
            <a:avLst/>
          </a:prstGeom>
          <a:noFill/>
        </p:spPr>
        <p:txBody>
          <a:bodyPr wrap="square">
            <a:spAutoFit/>
          </a:bodyPr>
          <a:lstStyle/>
          <a:p>
            <a:pPr algn="l"/>
            <a:r>
              <a:rPr sz="950" b="0" i="0">
                <a:solidFill>
                  <a:srgbClr val="404040"/>
                </a:solidFill>
              </a:rPr>
              <a:t>EE7E-AD39-7D8C
-080C-18BF</a:t>
            </a:r>
          </a:p>
        </p:txBody>
      </p:sp>
      <p:sp>
        <p:nvSpPr>
          <p:cNvPr id="13" name="TextBox 12"/>
          <p:cNvSpPr txBox="1"/>
          <p:nvPr/>
        </p:nvSpPr>
        <p:spPr>
          <a:xfrm>
            <a:off x="7379208" y="3621024"/>
            <a:ext cx="1645920" cy="201168"/>
          </a:xfrm>
          <a:prstGeom prst="rect">
            <a:avLst/>
          </a:prstGeom>
          <a:noFill/>
        </p:spPr>
        <p:txBody>
          <a:bodyPr wrap="square">
            <a:spAutoFit/>
          </a:bodyPr>
          <a:lstStyle/>
          <a:p>
            <a:pPr algn="l"/>
            <a:r>
              <a:rPr sz="1000" b="1" i="0">
                <a:solidFill>
                  <a:srgbClr val="156082"/>
                </a:solidFill>
              </a:rPr>
              <a:t>MITRE:</a:t>
            </a:r>
          </a:p>
        </p:txBody>
      </p:sp>
      <p:sp>
        <p:nvSpPr>
          <p:cNvPr id="14" name="TextBox 13"/>
          <p:cNvSpPr txBox="1"/>
          <p:nvPr/>
        </p:nvSpPr>
        <p:spPr>
          <a:xfrm>
            <a:off x="7379208" y="3822192"/>
            <a:ext cx="1645920" cy="594360"/>
          </a:xfrm>
          <a:prstGeom prst="rect">
            <a:avLst/>
          </a:prstGeom>
          <a:noFill/>
        </p:spPr>
        <p:txBody>
          <a:bodyPr wrap="square">
            <a:spAutoFit/>
          </a:bodyPr>
          <a:lstStyle/>
          <a:p>
            <a:pPr algn="l"/>
            <a:r>
              <a:rPr sz="950" b="0" i="0">
                <a:solidFill>
                  <a:srgbClr val="404040"/>
                </a:solidFill>
              </a:rPr>
              <a:t>T1189 Drive-by
T1203 Client Exploit
T1071 App Layer C2
T1486 Data Encrypted</a:t>
            </a:r>
          </a:p>
        </p:txBody>
      </p:sp>
      <p:sp>
        <p:nvSpPr>
          <p:cNvPr id="15" name="TextBox 14"/>
          <p:cNvSpPr txBox="1"/>
          <p:nvPr/>
        </p:nvSpPr>
        <p:spPr>
          <a:xfrm>
            <a:off x="7379208" y="4517136"/>
            <a:ext cx="1645920" cy="201168"/>
          </a:xfrm>
          <a:prstGeom prst="rect">
            <a:avLst/>
          </a:prstGeom>
          <a:noFill/>
        </p:spPr>
        <p:txBody>
          <a:bodyPr wrap="square">
            <a:spAutoFit/>
          </a:bodyPr>
          <a:lstStyle/>
          <a:p>
            <a:pPr algn="l"/>
            <a:r>
              <a:rPr sz="1000" b="1" i="0">
                <a:solidFill>
                  <a:srgbClr val="156082"/>
                </a:solidFill>
              </a:rPr>
              <a:t>Malware:</a:t>
            </a:r>
          </a:p>
        </p:txBody>
      </p:sp>
      <p:sp>
        <p:nvSpPr>
          <p:cNvPr id="16" name="TextBox 15"/>
          <p:cNvSpPr txBox="1"/>
          <p:nvPr/>
        </p:nvSpPr>
        <p:spPr>
          <a:xfrm>
            <a:off x="7379208" y="4718304"/>
            <a:ext cx="1645920" cy="594360"/>
          </a:xfrm>
          <a:prstGeom prst="rect">
            <a:avLst/>
          </a:prstGeom>
          <a:noFill/>
        </p:spPr>
        <p:txBody>
          <a:bodyPr wrap="square">
            <a:spAutoFit/>
          </a:bodyPr>
          <a:lstStyle/>
          <a:p>
            <a:pPr algn="l"/>
            <a:r>
              <a:rPr sz="950" b="0" i="0">
                <a:solidFill>
                  <a:srgbClr val="404040"/>
                </a:solidFill>
              </a:rPr>
              <a:t>Cerber Ransomware
RIG Exploit Kit</a:t>
            </a:r>
          </a:p>
        </p:txBody>
      </p:sp>
      <p:sp>
        <p:nvSpPr>
          <p:cNvPr id="17" name="TextBox 16"/>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4048886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113" y="690"/>
            <a:ext cx="10515600" cy="883824"/>
          </a:xfrm>
        </p:spPr>
        <p:txBody>
          <a:bodyPr>
            <a:normAutofit/>
          </a:bodyPr>
          <a:lstStyle/>
          <a:p>
            <a:r>
              <a:rPr sz="2000" b="1">
                <a:solidFill>
                  <a:srgbClr val="0E2841"/>
                </a:solidFill>
              </a:rPr>
              <a:t>Analysis: Drive-By Attack to Ransomware Sequence</a:t>
            </a:r>
            <a:endParaRPr lang="en-US" sz="3200"/>
          </a:p>
        </p:txBody>
      </p:sp>
      <p:graphicFrame>
        <p:nvGraphicFramePr>
          <p:cNvPr id="3" name="Table 2"/>
          <p:cNvGraphicFramePr>
            <a:graphicFrameLocks noGrp="1"/>
          </p:cNvGraphicFramePr>
          <p:nvPr>
            <p:extLst>
              <p:ext uri="{D42A27DB-BD31-4B8C-83A1-F6EECF244321}">
                <p14:modId xmlns:p14="http://schemas.microsoft.com/office/powerpoint/2010/main" val="1309589813"/>
              </p:ext>
            </p:extLst>
          </p:nvPr>
        </p:nvGraphicFramePr>
        <p:xfrm>
          <a:off x="91440" y="777240"/>
          <a:ext cx="11976970" cy="6217920"/>
        </p:xfrm>
        <a:graphic>
          <a:graphicData uri="http://schemas.openxmlformats.org/drawingml/2006/table">
            <a:tbl>
              <a:tblPr firstRow="1" bandRow="1">
                <a:tableStyleId>{5C22544A-7EE6-4342-B048-85BDC9FD1C3A}</a:tableStyleId>
              </a:tblPr>
              <a:tblGrid>
                <a:gridCol w="2395394">
                  <a:extLst>
                    <a:ext uri="{9D8B030D-6E8A-4147-A177-3AD203B41FA5}">
                      <a16:colId xmlns:a16="http://schemas.microsoft.com/office/drawing/2014/main" val="20000"/>
                    </a:ext>
                  </a:extLst>
                </a:gridCol>
                <a:gridCol w="2395394">
                  <a:extLst>
                    <a:ext uri="{9D8B030D-6E8A-4147-A177-3AD203B41FA5}">
                      <a16:colId xmlns:a16="http://schemas.microsoft.com/office/drawing/2014/main" val="20001"/>
                    </a:ext>
                  </a:extLst>
                </a:gridCol>
                <a:gridCol w="2395394">
                  <a:extLst>
                    <a:ext uri="{9D8B030D-6E8A-4147-A177-3AD203B41FA5}">
                      <a16:colId xmlns:a16="http://schemas.microsoft.com/office/drawing/2014/main" val="20002"/>
                    </a:ext>
                  </a:extLst>
                </a:gridCol>
                <a:gridCol w="2395394">
                  <a:extLst>
                    <a:ext uri="{9D8B030D-6E8A-4147-A177-3AD203B41FA5}">
                      <a16:colId xmlns:a16="http://schemas.microsoft.com/office/drawing/2014/main" val="20003"/>
                    </a:ext>
                  </a:extLst>
                </a:gridCol>
                <a:gridCol w="2395394">
                  <a:extLst>
                    <a:ext uri="{9D8B030D-6E8A-4147-A177-3AD203B41FA5}">
                      <a16:colId xmlns:a16="http://schemas.microsoft.com/office/drawing/2014/main" val="20004"/>
                    </a:ext>
                  </a:extLst>
                </a:gridCol>
              </a:tblGrid>
              <a:tr h="475488">
                <a:tc>
                  <a:txBody>
                    <a:bodyPr/>
                    <a:lstStyle/>
                    <a:p>
                      <a:r>
                        <a:t>Step</a:t>
                      </a:r>
                    </a:p>
                  </a:txBody>
                  <a:tcPr/>
                </a:tc>
                <a:tc>
                  <a:txBody>
                    <a:bodyPr/>
                    <a:lstStyle/>
                    <a:p>
                      <a:r>
                        <a:t>Stage</a:t>
                      </a:r>
                    </a:p>
                  </a:txBody>
                  <a:tcPr/>
                </a:tc>
                <a:tc>
                  <a:txBody>
                    <a:bodyPr/>
                    <a:lstStyle/>
                    <a:p>
                      <a:r>
                        <a:t>Domain / Indicator</a:t>
                      </a:r>
                    </a:p>
                  </a:txBody>
                  <a:tcPr/>
                </a:tc>
                <a:tc>
                  <a:txBody>
                    <a:bodyPr/>
                    <a:lstStyle/>
                    <a:p>
                      <a:r>
                        <a:t>Activity</a:t>
                      </a:r>
                    </a:p>
                  </a:txBody>
                  <a:tcPr/>
                </a:tc>
                <a:tc>
                  <a:txBody>
                    <a:bodyPr/>
                    <a:lstStyle/>
                    <a:p>
                      <a:r>
                        <a:t>Purpose / Outcome</a:t>
                      </a:r>
                    </a:p>
                  </a:txBody>
                  <a:tcPr/>
                </a:tc>
                <a:extLst>
                  <a:ext uri="{0D108BD9-81ED-4DB2-BD59-A6C34878D82A}">
                    <a16:rowId xmlns:a16="http://schemas.microsoft.com/office/drawing/2014/main" val="10000"/>
                  </a:ext>
                </a:extLst>
              </a:tr>
              <a:tr h="420624">
                <a:tc>
                  <a:txBody>
                    <a:bodyPr/>
                    <a:lstStyle/>
                    <a:p>
                      <a:r>
                        <a:t>1</a:t>
                      </a:r>
                    </a:p>
                  </a:txBody>
                  <a:tcPr/>
                </a:tc>
                <a:tc>
                  <a:txBody>
                    <a:bodyPr/>
                    <a:lstStyle/>
                    <a:p>
                      <a:r>
                        <a:t>Initial Access</a:t>
                      </a:r>
                    </a:p>
                  </a:txBody>
                  <a:tcPr/>
                </a:tc>
                <a:tc>
                  <a:txBody>
                    <a:bodyPr/>
                    <a:lstStyle/>
                    <a:p>
                      <a:r>
                        <a:t>homeimprovement.com</a:t>
                      </a:r>
                    </a:p>
                  </a:txBody>
                  <a:tcPr/>
                </a:tc>
                <a:tc>
                  <a:txBody>
                    <a:bodyPr/>
                    <a:lstStyle/>
                    <a:p>
                      <a:r>
                        <a:t>User visits site</a:t>
                      </a:r>
                    </a:p>
                  </a:txBody>
                  <a:tcPr/>
                </a:tc>
                <a:tc>
                  <a:txBody>
                    <a:bodyPr/>
                    <a:lstStyle/>
                    <a:p>
                      <a:r>
                        <a:t>Entry point (benign/malvertising)</a:t>
                      </a:r>
                    </a:p>
                  </a:txBody>
                  <a:tcPr/>
                </a:tc>
                <a:extLst>
                  <a:ext uri="{0D108BD9-81ED-4DB2-BD59-A6C34878D82A}">
                    <a16:rowId xmlns:a16="http://schemas.microsoft.com/office/drawing/2014/main" val="10001"/>
                  </a:ext>
                </a:extLst>
              </a:tr>
              <a:tr h="420624">
                <a:tc>
                  <a:txBody>
                    <a:bodyPr/>
                    <a:lstStyle/>
                    <a:p>
                      <a:r>
                        <a:t>2</a:t>
                      </a:r>
                    </a:p>
                  </a:txBody>
                  <a:tcPr/>
                </a:tc>
                <a:tc>
                  <a:txBody>
                    <a:bodyPr/>
                    <a:lstStyle/>
                    <a:p>
                      <a:r>
                        <a:t>Redirection</a:t>
                      </a:r>
                    </a:p>
                  </a:txBody>
                  <a:tcPr/>
                </a:tc>
                <a:tc>
                  <a:txBody>
                    <a:bodyPr/>
                    <a:lstStyle/>
                    <a:p>
                      <a:r>
                        <a:t>tyu.benme.com</a:t>
                      </a:r>
                    </a:p>
                  </a:txBody>
                  <a:tcPr/>
                </a:tc>
                <a:tc>
                  <a:txBody>
                    <a:bodyPr/>
                    <a:lstStyle/>
                    <a:p>
                      <a:r>
                        <a:t>Silent redirect</a:t>
                      </a:r>
                    </a:p>
                  </a:txBody>
                  <a:tcPr/>
                </a:tc>
                <a:tc>
                  <a:txBody>
                    <a:bodyPr/>
                    <a:lstStyle/>
                    <a:p>
                      <a:r>
                        <a:t>Attacker-controlled redirect</a:t>
                      </a:r>
                    </a:p>
                  </a:txBody>
                  <a:tcPr/>
                </a:tc>
                <a:extLst>
                  <a:ext uri="{0D108BD9-81ED-4DB2-BD59-A6C34878D82A}">
                    <a16:rowId xmlns:a16="http://schemas.microsoft.com/office/drawing/2014/main" val="10002"/>
                  </a:ext>
                </a:extLst>
              </a:tr>
              <a:tr h="420624">
                <a:tc>
                  <a:txBody>
                    <a:bodyPr/>
                    <a:lstStyle/>
                    <a:p>
                      <a:r>
                        <a:t>3</a:t>
                      </a:r>
                    </a:p>
                  </a:txBody>
                  <a:tcPr/>
                </a:tc>
                <a:tc>
                  <a:txBody>
                    <a:bodyPr/>
                    <a:lstStyle/>
                    <a:p>
                      <a:r>
                        <a:t>Exploit Kit Landing</a:t>
                      </a:r>
                    </a:p>
                  </a:txBody>
                  <a:tcPr/>
                </a:tc>
                <a:tc>
                  <a:txBody>
                    <a:bodyPr/>
                    <a:lstStyle/>
                    <a:p>
                      <a:r>
                        <a:t>spotsbill.com</a:t>
                      </a:r>
                    </a:p>
                  </a:txBody>
                  <a:tcPr/>
                </a:tc>
                <a:tc>
                  <a:txBody>
                    <a:bodyPr/>
                    <a:lstStyle/>
                    <a:p>
                      <a:r>
                        <a:t>Landing page loads</a:t>
                      </a:r>
                    </a:p>
                  </a:txBody>
                  <a:tcPr/>
                </a:tc>
                <a:tc>
                  <a:txBody>
                    <a:bodyPr/>
                    <a:lstStyle/>
                    <a:p>
                      <a:r>
                        <a:t>System fingerprinting (EK staging)</a:t>
                      </a:r>
                    </a:p>
                  </a:txBody>
                  <a:tcPr/>
                </a:tc>
                <a:extLst>
                  <a:ext uri="{0D108BD9-81ED-4DB2-BD59-A6C34878D82A}">
                    <a16:rowId xmlns:a16="http://schemas.microsoft.com/office/drawing/2014/main" val="10003"/>
                  </a:ext>
                </a:extLst>
              </a:tr>
              <a:tr h="420624">
                <a:tc>
                  <a:txBody>
                    <a:bodyPr/>
                    <a:lstStyle/>
                    <a:p>
                      <a:r>
                        <a:t>4</a:t>
                      </a:r>
                    </a:p>
                  </a:txBody>
                  <a:tcPr/>
                </a:tc>
                <a:tc>
                  <a:txBody>
                    <a:bodyPr/>
                    <a:lstStyle/>
                    <a:p>
                      <a:r>
                        <a:t>Infrastructure</a:t>
                      </a:r>
                    </a:p>
                  </a:txBody>
                  <a:tcPr/>
                </a:tc>
                <a:tc>
                  <a:txBody>
                    <a:bodyPr/>
                    <a:lstStyle/>
                    <a:p>
                      <a:r>
                        <a:t>api.blockcypher.com</a:t>
                      </a:r>
                    </a:p>
                  </a:txBody>
                  <a:tcPr/>
                </a:tc>
                <a:tc>
                  <a:txBody>
                    <a:bodyPr/>
                    <a:lstStyle/>
                    <a:p>
                      <a:r>
                        <a:t>Background requests</a:t>
                      </a:r>
                    </a:p>
                  </a:txBody>
                  <a:tcPr/>
                </a:tc>
                <a:tc>
                  <a:txBody>
                    <a:bodyPr/>
                    <a:lstStyle/>
                    <a:p>
                      <a:r>
                        <a:t>Blends with legit traffic</a:t>
                      </a:r>
                    </a:p>
                  </a:txBody>
                  <a:tcPr/>
                </a:tc>
                <a:extLst>
                  <a:ext uri="{0D108BD9-81ED-4DB2-BD59-A6C34878D82A}">
                    <a16:rowId xmlns:a16="http://schemas.microsoft.com/office/drawing/2014/main" val="10004"/>
                  </a:ext>
                </a:extLst>
              </a:tr>
              <a:tr h="420624">
                <a:tc>
                  <a:txBody>
                    <a:bodyPr/>
                    <a:lstStyle/>
                    <a:p>
                      <a:r>
                        <a:t>5</a:t>
                      </a:r>
                    </a:p>
                  </a:txBody>
                  <a:tcPr/>
                </a:tc>
                <a:tc>
                  <a:txBody>
                    <a:bodyPr/>
                    <a:lstStyle/>
                    <a:p>
                      <a:r>
                        <a:t>Exploit Delivery</a:t>
                      </a:r>
                    </a:p>
                  </a:txBody>
                  <a:tcPr/>
                </a:tc>
                <a:tc>
                  <a:txBody>
                    <a:bodyPr/>
                    <a:lstStyle/>
                    <a:p>
                      <a:r>
                        <a:t>p27d0khpz2n7nvgr.1jw2lx.top</a:t>
                      </a:r>
                    </a:p>
                  </a:txBody>
                  <a:tcPr/>
                </a:tc>
                <a:tc>
                  <a:txBody>
                    <a:bodyPr/>
                    <a:lstStyle/>
                    <a:p>
                      <a:r>
                        <a:t>Multiple requests</a:t>
                      </a:r>
                    </a:p>
                  </a:txBody>
                  <a:tcPr/>
                </a:tc>
                <a:tc>
                  <a:txBody>
                    <a:bodyPr/>
                    <a:lstStyle/>
                    <a:p>
                      <a:r>
                        <a:t>RIG exploit kit delivery</a:t>
                      </a:r>
                    </a:p>
                  </a:txBody>
                  <a:tcPr/>
                </a:tc>
                <a:extLst>
                  <a:ext uri="{0D108BD9-81ED-4DB2-BD59-A6C34878D82A}">
                    <a16:rowId xmlns:a16="http://schemas.microsoft.com/office/drawing/2014/main" val="10005"/>
                  </a:ext>
                </a:extLst>
              </a:tr>
              <a:tr h="420624">
                <a:tc>
                  <a:txBody>
                    <a:bodyPr/>
                    <a:lstStyle/>
                    <a:p>
                      <a:r>
                        <a:t>6</a:t>
                      </a:r>
                    </a:p>
                  </a:txBody>
                  <a:tcPr/>
                </a:tc>
                <a:tc>
                  <a:txBody>
                    <a:bodyPr/>
                    <a:lstStyle/>
                    <a:p>
                      <a:r>
                        <a:t>Exploitation</a:t>
                      </a:r>
                    </a:p>
                  </a:txBody>
                  <a:tcPr/>
                </a:tc>
                <a:tc>
                  <a:txBody>
                    <a:bodyPr/>
                    <a:lstStyle/>
                    <a:p>
                      <a:r>
                        <a:t>RIG EK URI Struct</a:t>
                      </a:r>
                    </a:p>
                  </a:txBody>
                  <a:tcPr/>
                </a:tc>
                <a:tc>
                  <a:txBody>
                    <a:bodyPr/>
                    <a:lstStyle/>
                    <a:p>
                      <a:r>
                        <a:t>Exploit triggered</a:t>
                      </a:r>
                    </a:p>
                  </a:txBody>
                  <a:tcPr/>
                </a:tc>
                <a:tc>
                  <a:txBody>
                    <a:bodyPr/>
                    <a:lstStyle/>
                    <a:p>
                      <a:r>
                        <a:t>Vulnerability exploited</a:t>
                      </a:r>
                    </a:p>
                  </a:txBody>
                  <a:tcPr/>
                </a:tc>
                <a:extLst>
                  <a:ext uri="{0D108BD9-81ED-4DB2-BD59-A6C34878D82A}">
                    <a16:rowId xmlns:a16="http://schemas.microsoft.com/office/drawing/2014/main" val="10006"/>
                  </a:ext>
                </a:extLst>
              </a:tr>
              <a:tr h="420624">
                <a:tc>
                  <a:txBody>
                    <a:bodyPr/>
                    <a:lstStyle/>
                    <a:p>
                      <a:r>
                        <a:t>7</a:t>
                      </a:r>
                    </a:p>
                  </a:txBody>
                  <a:tcPr/>
                </a:tc>
                <a:tc>
                  <a:txBody>
                    <a:bodyPr/>
                    <a:lstStyle/>
                    <a:p>
                      <a:r>
                        <a:t>Payload Assist</a:t>
                      </a:r>
                    </a:p>
                  </a:txBody>
                  <a:tcPr/>
                </a:tc>
                <a:tc>
                  <a:txBody>
                    <a:bodyPr/>
                    <a:lstStyle/>
                    <a:p>
                      <a:r>
                        <a:t>fpdownload2.macromedia.com</a:t>
                      </a:r>
                    </a:p>
                  </a:txBody>
                  <a:tcPr/>
                </a:tc>
                <a:tc>
                  <a:txBody>
                    <a:bodyPr/>
                    <a:lstStyle/>
                    <a:p>
                      <a:r>
                        <a:t>Flash interaction</a:t>
                      </a:r>
                    </a:p>
                  </a:txBody>
                  <a:tcPr/>
                </a:tc>
                <a:tc>
                  <a:txBody>
                    <a:bodyPr/>
                    <a:lstStyle/>
                    <a:p>
                      <a:r>
                        <a:t>Exploit support</a:t>
                      </a:r>
                    </a:p>
                  </a:txBody>
                  <a:tcPr/>
                </a:tc>
                <a:extLst>
                  <a:ext uri="{0D108BD9-81ED-4DB2-BD59-A6C34878D82A}">
                    <a16:rowId xmlns:a16="http://schemas.microsoft.com/office/drawing/2014/main" val="10007"/>
                  </a:ext>
                </a:extLst>
              </a:tr>
              <a:tr h="420624">
                <a:tc>
                  <a:txBody>
                    <a:bodyPr/>
                    <a:lstStyle/>
                    <a:p>
                      <a:r>
                        <a:t>8</a:t>
                      </a:r>
                    </a:p>
                  </a:txBody>
                  <a:tcPr/>
                </a:tc>
                <a:tc>
                  <a:txBody>
                    <a:bodyPr/>
                    <a:lstStyle/>
                    <a:p>
                      <a:r>
                        <a:t>Payload Download</a:t>
                      </a:r>
                    </a:p>
                  </a:txBody>
                  <a:tcPr/>
                </a:tc>
                <a:tc>
                  <a:txBody>
                    <a:bodyPr/>
                    <a:lstStyle/>
                    <a:p>
                      <a:r>
                        <a:t>tyu.benme.com</a:t>
                      </a:r>
                    </a:p>
                  </a:txBody>
                  <a:tcPr/>
                </a:tc>
                <a:tc>
                  <a:txBody>
                    <a:bodyPr/>
                    <a:lstStyle/>
                    <a:p>
                      <a:r>
                        <a:t>Executable delivered</a:t>
                      </a:r>
                    </a:p>
                  </a:txBody>
                  <a:tcPr/>
                </a:tc>
                <a:tc>
                  <a:txBody>
                    <a:bodyPr/>
                    <a:lstStyle/>
                    <a:p>
                      <a:r>
                        <a:t>Malware downloaded</a:t>
                      </a:r>
                    </a:p>
                  </a:txBody>
                  <a:tcPr/>
                </a:tc>
                <a:extLst>
                  <a:ext uri="{0D108BD9-81ED-4DB2-BD59-A6C34878D82A}">
                    <a16:rowId xmlns:a16="http://schemas.microsoft.com/office/drawing/2014/main" val="10008"/>
                  </a:ext>
                </a:extLst>
              </a:tr>
              <a:tr h="420624">
                <a:tc>
                  <a:txBody>
                    <a:bodyPr/>
                    <a:lstStyle/>
                    <a:p>
                      <a:r>
                        <a:t>9</a:t>
                      </a:r>
                    </a:p>
                  </a:txBody>
                  <a:tcPr/>
                </a:tc>
                <a:tc>
                  <a:txBody>
                    <a:bodyPr/>
                    <a:lstStyle/>
                    <a:p>
                      <a:r>
                        <a:t>C2 Communication</a:t>
                      </a:r>
                    </a:p>
                  </a:txBody>
                  <a:tcPr/>
                </a:tc>
                <a:tc>
                  <a:txBody>
                    <a:bodyPr/>
                    <a:lstStyle/>
                    <a:p>
                      <a:r>
                        <a:t>p27d0khpz2n7nvgr.1jw2lx.top</a:t>
                      </a:r>
                    </a:p>
                  </a:txBody>
                  <a:tcPr/>
                </a:tc>
                <a:tc>
                  <a:txBody>
                    <a:bodyPr/>
                    <a:lstStyle/>
                    <a:p>
                      <a:r>
                        <a:t>Beaconing activity</a:t>
                      </a:r>
                    </a:p>
                  </a:txBody>
                  <a:tcPr/>
                </a:tc>
                <a:tc>
                  <a:txBody>
                    <a:bodyPr/>
                    <a:lstStyle/>
                    <a:p>
                      <a:r>
                        <a:t>Attacker communication</a:t>
                      </a:r>
                    </a:p>
                  </a:txBody>
                  <a:tcPr/>
                </a:tc>
                <a:extLst>
                  <a:ext uri="{0D108BD9-81ED-4DB2-BD59-A6C34878D82A}">
                    <a16:rowId xmlns:a16="http://schemas.microsoft.com/office/drawing/2014/main" val="10009"/>
                  </a:ext>
                </a:extLst>
              </a:tr>
              <a:tr h="420624">
                <a:tc>
                  <a:txBody>
                    <a:bodyPr/>
                    <a:lstStyle/>
                    <a:p>
                      <a:r>
                        <a:t>10</a:t>
                      </a:r>
                    </a:p>
                  </a:txBody>
                  <a:tcPr/>
                </a:tc>
                <a:tc>
                  <a:txBody>
                    <a:bodyPr/>
                    <a:lstStyle/>
                    <a:p>
                      <a:r>
                        <a:t>Impact</a:t>
                      </a:r>
                    </a:p>
                  </a:txBody>
                  <a:tcPr/>
                </a:tc>
                <a:tc>
                  <a:txBody>
                    <a:bodyPr/>
                    <a:lstStyle/>
                    <a:p>
                      <a:r>
                        <a:t>Cerber Indicators</a:t>
                      </a:r>
                    </a:p>
                  </a:txBody>
                  <a:tcPr/>
                </a:tc>
                <a:tc>
                  <a:txBody>
                    <a:bodyPr/>
                    <a:lstStyle/>
                    <a:p>
                      <a:r>
                        <a:t>Ransomware runs</a:t>
                      </a:r>
                    </a:p>
                  </a:txBody>
                  <a:tcPr/>
                </a:tc>
                <a:tc>
                  <a:txBody>
                    <a:bodyPr/>
                    <a:lstStyle/>
                    <a:p>
                      <a:r>
                        <a:t>System encrypted</a:t>
                      </a:r>
                    </a:p>
                  </a:txBody>
                  <a:tcPr/>
                </a:tc>
                <a:extLst>
                  <a:ext uri="{0D108BD9-81ED-4DB2-BD59-A6C34878D82A}">
                    <a16:rowId xmlns:a16="http://schemas.microsoft.com/office/drawing/2014/main" val="10010"/>
                  </a:ext>
                </a:extLst>
              </a:tr>
            </a:tbl>
          </a:graphicData>
        </a:graphic>
      </p:graphicFrame>
      <p:sp>
        <p:nvSpPr>
          <p:cNvPr id="4" name="TextBox 3"/>
          <p:cNvSpPr txBox="1"/>
          <p:nvPr/>
        </p:nvSpPr>
        <p:spPr>
          <a:xfrm>
            <a:off x="182880" y="6510528"/>
            <a:ext cx="11826240" cy="320040"/>
          </a:xfrm>
          <a:prstGeom prst="rect">
            <a:avLst/>
          </a:prstGeom>
          <a:noFill/>
        </p:spPr>
        <p:txBody>
          <a:bodyPr wrap="square">
            <a:spAutoFit/>
          </a:bodyPr>
          <a:lstStyle/>
          <a:p>
            <a:pPr algn="ctr"/>
            <a:r>
              <a:rPr sz="2000" b="1" i="0">
                <a:solidFill>
                  <a:srgbClr val="0E2841"/>
                </a:solidFill>
              </a:rPr>
              <a:t>Week 9 PCAP Analysis  |  Cerber Ransomware / RIG Exploit Kit  |  Network Forensics</a:t>
            </a:r>
          </a:p>
        </p:txBody>
      </p:sp>
      <p:sp>
        <p:nvSpPr>
          <p:cNvPr id="5" name="Rectangle 4"/>
          <p:cNvSpPr/>
          <p:nvPr/>
        </p:nvSpPr>
        <p:spPr>
          <a:xfrm>
            <a:off x="0" y="6446520"/>
            <a:ext cx="1219200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510528"/>
            <a:ext cx="11826240" cy="320040"/>
          </a:xfrm>
          <a:prstGeom prst="rect">
            <a:avLst/>
          </a:prstGeom>
          <a:noFill/>
        </p:spPr>
        <p:txBody>
          <a:bodyPr wrap="none">
            <a:spAutoFit/>
          </a:bodyPr>
          <a:lstStyle/>
          <a:p>
            <a:pPr algn="ctr"/>
            <a:r>
              <a:rPr sz="900" b="0">
                <a:solidFill>
                  <a:srgbClr val="888888"/>
                </a:solidFill>
              </a:rPr>
              <a:t>Week 9 PCAP Analysis  |  Cerber Ransomware / RIG Exploit Kit  |  Network Forensics</a:t>
            </a:r>
          </a:p>
        </p:txBody>
      </p:sp>
    </p:spTree>
    <p:extLst>
      <p:ext uri="{BB962C8B-B14F-4D97-AF65-F5344CB8AC3E}">
        <p14:creationId xmlns:p14="http://schemas.microsoft.com/office/powerpoint/2010/main" val="2487790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Analysis &amp; Interpretation</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Attack flow, exfiltrated data, and false positive assessment</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 y="1371600"/>
            <a:ext cx="4389120" cy="4389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82880" y="1371600"/>
            <a:ext cx="4389120" cy="34747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92608" y="1426464"/>
            <a:ext cx="4206240" cy="256032"/>
          </a:xfrm>
          <a:prstGeom prst="rect">
            <a:avLst/>
          </a:prstGeom>
          <a:noFill/>
        </p:spPr>
        <p:txBody>
          <a:bodyPr wrap="square">
            <a:spAutoFit/>
          </a:bodyPr>
          <a:lstStyle/>
          <a:p>
            <a:pPr algn="l"/>
            <a:r>
              <a:rPr sz="1300" b="1" i="0">
                <a:solidFill>
                  <a:srgbClr val="FFFFFF"/>
                </a:solidFill>
              </a:rPr>
              <a:t>Attack Flow Summary</a:t>
            </a:r>
          </a:p>
        </p:txBody>
      </p:sp>
      <p:sp>
        <p:nvSpPr>
          <p:cNvPr id="9" name="TextBox 8"/>
          <p:cNvSpPr txBox="1"/>
          <p:nvPr/>
        </p:nvSpPr>
        <p:spPr>
          <a:xfrm>
            <a:off x="292608" y="1810512"/>
            <a:ext cx="4160520" cy="3858768"/>
          </a:xfrm>
          <a:prstGeom prst="rect">
            <a:avLst/>
          </a:prstGeom>
          <a:noFill/>
        </p:spPr>
        <p:txBody>
          <a:bodyPr wrap="square">
            <a:spAutoFit/>
          </a:bodyPr>
          <a:lstStyle/>
          <a:p>
            <a:pPr algn="l"/>
            <a:r>
              <a:rPr sz="1100" b="0" i="0">
                <a:solidFill>
                  <a:srgbClr val="404040"/>
                </a:solidFill>
              </a:rPr>
              <a:t>The attack targeted STEWIE-PC (172.16.4.193) via a drive-by download. The user visited the compromised site homeimprovement.com, which silently injected an iframe pointing to tyu.benme.com (RIG Exploit Kit C2).
The RIG EK fingerprinted the browser (SeaMonkey UA string with WOW64, .NET CLR, Media Center 6.0) and delivered three 16kB Flash exploits and two Windows executables (165kB, 500kB) via application/x-msdownload.
After payload drop, the host resolved the randomized .top domain p27dokhpz2n7nvgr.1jw2lx.top (198.105.121.50) — the Cerber ransom portal. Victim GUID EE7E-AD39-7D8C-080C-18BF was assigned and a Bitcoin payment page loaded.
Files Downloaded: Flash exploits ×3 (16kB each), executables ×2 from tyu.benme.com. Data exfiltrated: browser UA, plugin flags, system fingerprint via encoded GET parameters.</a:t>
            </a:r>
          </a:p>
        </p:txBody>
      </p:sp>
      <p:sp>
        <p:nvSpPr>
          <p:cNvPr id="10" name="Rectangle 9"/>
          <p:cNvSpPr/>
          <p:nvPr/>
        </p:nvSpPr>
        <p:spPr>
          <a:xfrm>
            <a:off x="4754880" y="1371600"/>
            <a:ext cx="4389120" cy="2084831"/>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754880" y="1371600"/>
            <a:ext cx="4389120" cy="347472"/>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64608" y="1426464"/>
            <a:ext cx="4206240" cy="256032"/>
          </a:xfrm>
          <a:prstGeom prst="rect">
            <a:avLst/>
          </a:prstGeom>
          <a:noFill/>
        </p:spPr>
        <p:txBody>
          <a:bodyPr wrap="square">
            <a:spAutoFit/>
          </a:bodyPr>
          <a:lstStyle/>
          <a:p>
            <a:pPr algn="l"/>
            <a:r>
              <a:rPr sz="1300" b="1" i="0">
                <a:solidFill>
                  <a:srgbClr val="FFFFFF"/>
                </a:solidFill>
              </a:rPr>
              <a:t>MITRE ATT&amp;CK Techniques</a:t>
            </a:r>
          </a:p>
        </p:txBody>
      </p:sp>
      <p:sp>
        <p:nvSpPr>
          <p:cNvPr id="13" name="Rectangle 12"/>
          <p:cNvSpPr/>
          <p:nvPr/>
        </p:nvSpPr>
        <p:spPr>
          <a:xfrm>
            <a:off x="4864608" y="1810512"/>
            <a:ext cx="502920" cy="256032"/>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64608" y="1810512"/>
            <a:ext cx="502920" cy="256032"/>
          </a:xfrm>
          <a:prstGeom prst="rect">
            <a:avLst/>
          </a:prstGeom>
          <a:noFill/>
        </p:spPr>
        <p:txBody>
          <a:bodyPr wrap="square">
            <a:spAutoFit/>
          </a:bodyPr>
          <a:lstStyle/>
          <a:p>
            <a:pPr algn="ctr"/>
            <a:r>
              <a:rPr sz="900" b="1" i="0">
                <a:solidFill>
                  <a:srgbClr val="FFFFFF"/>
                </a:solidFill>
              </a:rPr>
              <a:t>T1189</a:t>
            </a:r>
          </a:p>
        </p:txBody>
      </p:sp>
      <p:sp>
        <p:nvSpPr>
          <p:cNvPr id="15" name="TextBox 14"/>
          <p:cNvSpPr txBox="1"/>
          <p:nvPr/>
        </p:nvSpPr>
        <p:spPr>
          <a:xfrm>
            <a:off x="5440680" y="1810512"/>
            <a:ext cx="3566160" cy="320040"/>
          </a:xfrm>
          <a:prstGeom prst="rect">
            <a:avLst/>
          </a:prstGeom>
          <a:noFill/>
        </p:spPr>
        <p:txBody>
          <a:bodyPr wrap="square">
            <a:spAutoFit/>
          </a:bodyPr>
          <a:lstStyle/>
          <a:p>
            <a:pPr algn="l"/>
            <a:r>
              <a:rPr sz="1000" b="0" i="0">
                <a:solidFill>
                  <a:srgbClr val="404040"/>
                </a:solidFill>
              </a:rPr>
              <a:t>Drive-by Compromise — homeimprovement.com iframe injection</a:t>
            </a:r>
          </a:p>
        </p:txBody>
      </p:sp>
      <p:sp>
        <p:nvSpPr>
          <p:cNvPr id="16" name="Rectangle 15"/>
          <p:cNvSpPr/>
          <p:nvPr/>
        </p:nvSpPr>
        <p:spPr>
          <a:xfrm>
            <a:off x="4864608" y="2212848"/>
            <a:ext cx="502920" cy="256032"/>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64608" y="2212848"/>
            <a:ext cx="502920" cy="256032"/>
          </a:xfrm>
          <a:prstGeom prst="rect">
            <a:avLst/>
          </a:prstGeom>
          <a:noFill/>
        </p:spPr>
        <p:txBody>
          <a:bodyPr wrap="square">
            <a:spAutoFit/>
          </a:bodyPr>
          <a:lstStyle/>
          <a:p>
            <a:pPr algn="ctr"/>
            <a:r>
              <a:rPr sz="900" b="1" i="0">
                <a:solidFill>
                  <a:srgbClr val="FFFFFF"/>
                </a:solidFill>
              </a:rPr>
              <a:t>T1203</a:t>
            </a:r>
          </a:p>
        </p:txBody>
      </p:sp>
      <p:sp>
        <p:nvSpPr>
          <p:cNvPr id="18" name="TextBox 17"/>
          <p:cNvSpPr txBox="1"/>
          <p:nvPr/>
        </p:nvSpPr>
        <p:spPr>
          <a:xfrm>
            <a:off x="5440680" y="2212848"/>
            <a:ext cx="3566160" cy="320040"/>
          </a:xfrm>
          <a:prstGeom prst="rect">
            <a:avLst/>
          </a:prstGeom>
          <a:noFill/>
        </p:spPr>
        <p:txBody>
          <a:bodyPr wrap="square">
            <a:spAutoFit/>
          </a:bodyPr>
          <a:lstStyle/>
          <a:p>
            <a:pPr algn="l"/>
            <a:r>
              <a:rPr sz="1000" b="0" i="0">
                <a:solidFill>
                  <a:srgbClr val="404040"/>
                </a:solidFill>
              </a:rPr>
              <a:t>Client Exploitation — Flash Player exploited by RIG EK</a:t>
            </a:r>
          </a:p>
        </p:txBody>
      </p:sp>
      <p:sp>
        <p:nvSpPr>
          <p:cNvPr id="19" name="Rectangle 18"/>
          <p:cNvSpPr/>
          <p:nvPr/>
        </p:nvSpPr>
        <p:spPr>
          <a:xfrm>
            <a:off x="4864608" y="2615184"/>
            <a:ext cx="502920" cy="256032"/>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64608" y="2615184"/>
            <a:ext cx="502920" cy="256032"/>
          </a:xfrm>
          <a:prstGeom prst="rect">
            <a:avLst/>
          </a:prstGeom>
          <a:noFill/>
        </p:spPr>
        <p:txBody>
          <a:bodyPr wrap="square">
            <a:spAutoFit/>
          </a:bodyPr>
          <a:lstStyle/>
          <a:p>
            <a:pPr algn="ctr"/>
            <a:r>
              <a:rPr sz="900" b="1" i="0">
                <a:solidFill>
                  <a:srgbClr val="FFFFFF"/>
                </a:solidFill>
              </a:rPr>
              <a:t>T1071</a:t>
            </a:r>
          </a:p>
        </p:txBody>
      </p:sp>
      <p:sp>
        <p:nvSpPr>
          <p:cNvPr id="21" name="TextBox 20"/>
          <p:cNvSpPr txBox="1"/>
          <p:nvPr/>
        </p:nvSpPr>
        <p:spPr>
          <a:xfrm>
            <a:off x="5440680" y="2615184"/>
            <a:ext cx="3566160" cy="320040"/>
          </a:xfrm>
          <a:prstGeom prst="rect">
            <a:avLst/>
          </a:prstGeom>
          <a:noFill/>
        </p:spPr>
        <p:txBody>
          <a:bodyPr wrap="square">
            <a:spAutoFit/>
          </a:bodyPr>
          <a:lstStyle/>
          <a:p>
            <a:pPr algn="l"/>
            <a:r>
              <a:rPr sz="1000" b="0" i="0">
                <a:solidFill>
                  <a:srgbClr val="404040"/>
                </a:solidFill>
              </a:rPr>
              <a:t>App Layer Protocol — HTTP C2 beaconing to tyu.benme.com</a:t>
            </a:r>
          </a:p>
        </p:txBody>
      </p:sp>
      <p:sp>
        <p:nvSpPr>
          <p:cNvPr id="22" name="Rectangle 21"/>
          <p:cNvSpPr/>
          <p:nvPr/>
        </p:nvSpPr>
        <p:spPr>
          <a:xfrm>
            <a:off x="4864608" y="3017520"/>
            <a:ext cx="502920" cy="256032"/>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64608" y="3017520"/>
            <a:ext cx="502920" cy="256032"/>
          </a:xfrm>
          <a:prstGeom prst="rect">
            <a:avLst/>
          </a:prstGeom>
          <a:noFill/>
        </p:spPr>
        <p:txBody>
          <a:bodyPr wrap="square">
            <a:spAutoFit/>
          </a:bodyPr>
          <a:lstStyle/>
          <a:p>
            <a:pPr algn="ctr"/>
            <a:r>
              <a:rPr sz="900" b="1" i="0">
                <a:solidFill>
                  <a:srgbClr val="FFFFFF"/>
                </a:solidFill>
              </a:rPr>
              <a:t>T1486</a:t>
            </a:r>
          </a:p>
        </p:txBody>
      </p:sp>
      <p:sp>
        <p:nvSpPr>
          <p:cNvPr id="24" name="TextBox 23"/>
          <p:cNvSpPr txBox="1"/>
          <p:nvPr/>
        </p:nvSpPr>
        <p:spPr>
          <a:xfrm>
            <a:off x="5440680" y="3017520"/>
            <a:ext cx="3566160" cy="320040"/>
          </a:xfrm>
          <a:prstGeom prst="rect">
            <a:avLst/>
          </a:prstGeom>
          <a:noFill/>
        </p:spPr>
        <p:txBody>
          <a:bodyPr wrap="square">
            <a:spAutoFit/>
          </a:bodyPr>
          <a:lstStyle/>
          <a:p>
            <a:pPr algn="l"/>
            <a:r>
              <a:rPr sz="1000" b="0" i="0">
                <a:solidFill>
                  <a:srgbClr val="404040"/>
                </a:solidFill>
              </a:rPr>
              <a:t>Data Encrypted for Impact — Cerber file encryption + ransom demand</a:t>
            </a:r>
          </a:p>
        </p:txBody>
      </p:sp>
      <p:sp>
        <p:nvSpPr>
          <p:cNvPr id="25" name="Rectangle 24"/>
          <p:cNvSpPr/>
          <p:nvPr/>
        </p:nvSpPr>
        <p:spPr>
          <a:xfrm>
            <a:off x="4754880" y="3547872"/>
            <a:ext cx="4389120" cy="21945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754880" y="3547872"/>
            <a:ext cx="4389120" cy="347472"/>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64608" y="3602736"/>
            <a:ext cx="4206240" cy="256032"/>
          </a:xfrm>
          <a:prstGeom prst="rect">
            <a:avLst/>
          </a:prstGeom>
          <a:noFill/>
        </p:spPr>
        <p:txBody>
          <a:bodyPr wrap="square">
            <a:spAutoFit/>
          </a:bodyPr>
          <a:lstStyle/>
          <a:p>
            <a:pPr algn="l"/>
            <a:r>
              <a:rPr sz="1300" b="1" i="0">
                <a:solidFill>
                  <a:srgbClr val="FFFFFF"/>
                </a:solidFill>
              </a:rPr>
              <a:t>False Positive Assessment</a:t>
            </a:r>
          </a:p>
        </p:txBody>
      </p:sp>
      <p:sp>
        <p:nvSpPr>
          <p:cNvPr id="28" name="TextBox 27"/>
          <p:cNvSpPr txBox="1"/>
          <p:nvPr/>
        </p:nvSpPr>
        <p:spPr>
          <a:xfrm>
            <a:off x="4864608" y="3986784"/>
            <a:ext cx="4160520" cy="1691640"/>
          </a:xfrm>
          <a:prstGeom prst="rect">
            <a:avLst/>
          </a:prstGeom>
          <a:noFill/>
        </p:spPr>
        <p:txBody>
          <a:bodyPr wrap="square">
            <a:spAutoFit/>
          </a:bodyPr>
          <a:lstStyle/>
          <a:p>
            <a:pPr algn="l"/>
            <a:r>
              <a:rPr sz="1050" b="0" i="0">
                <a:solidFill>
                  <a:srgbClr val="404040"/>
                </a:solidFill>
              </a:rPr>
              <a:t>15× RIG EK URI Struct alerts — repetition at scale rules out coincidence. Multiple independent Suricata rules corroborate the same event chain. All critical rule confidence ratings: High.
spotsbill.com: 11/94 VT vendors flagged — not a false positive. Three IPs appear clean on VT but were analyzed 4–7 years ago; IP reassignment likely explains the discrepancy. Overall false positive probability: extremely low.</a:t>
            </a:r>
          </a:p>
        </p:txBody>
      </p:sp>
      <p:sp>
        <p:nvSpPr>
          <p:cNvPr id="29" name="TextBox 28"/>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986249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of Infection — C2 Server Validation</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VirusTotal confirms 194.87.234.129 as RIG Exploit Kit C2</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2">
            <a:extLst>
              <a:ext uri="{FF2B5EF4-FFF2-40B4-BE49-F238E27FC236}">
                <a16:creationId xmlns:a16="http://schemas.microsoft.com/office/drawing/2014/main" id="{66787D6B-A650-21BD-D695-06E6F4638E0B}"/>
              </a:ext>
            </a:extLst>
          </p:cNvPr>
          <p:cNvPicPr>
            <a:picLocks noChangeAspect="1"/>
          </p:cNvPicPr>
          <p:nvPr/>
        </p:nvPicPr>
        <p:blipFill>
          <a:blip r:embed="rId2"/>
          <a:stretch>
            <a:fillRect/>
          </a:stretch>
        </p:blipFill>
        <p:spPr>
          <a:xfrm>
            <a:off x="228600" y="1371600"/>
            <a:ext cx="7132320" cy="3291840"/>
          </a:xfrm>
          <a:prstGeom prst="rect">
            <a:avLst/>
          </a:prstGeom>
        </p:spPr>
      </p:pic>
      <p:sp>
        <p:nvSpPr>
          <p:cNvPr id="6" name="Rectangle 5"/>
          <p:cNvSpPr/>
          <p:nvPr/>
        </p:nvSpPr>
        <p:spPr>
          <a:xfrm>
            <a:off x="7498079" y="1371600"/>
            <a:ext cx="160020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98079" y="1371600"/>
            <a:ext cx="1600200" cy="320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89520" y="1426464"/>
            <a:ext cx="1417320" cy="228600"/>
          </a:xfrm>
          <a:prstGeom prst="rect">
            <a:avLst/>
          </a:prstGeom>
          <a:noFill/>
        </p:spPr>
        <p:txBody>
          <a:bodyPr wrap="square">
            <a:spAutoFit/>
          </a:bodyPr>
          <a:lstStyle/>
          <a:p>
            <a:pPr algn="l"/>
            <a:r>
              <a:rPr sz="1100" b="1" i="0">
                <a:solidFill>
                  <a:srgbClr val="FFFFFF"/>
                </a:solidFill>
              </a:rPr>
              <a:t>Finding</a:t>
            </a:r>
          </a:p>
        </p:txBody>
      </p:sp>
      <p:sp>
        <p:nvSpPr>
          <p:cNvPr id="9" name="TextBox 8"/>
          <p:cNvSpPr txBox="1"/>
          <p:nvPr/>
        </p:nvSpPr>
        <p:spPr>
          <a:xfrm>
            <a:off x="7607808" y="1773936"/>
            <a:ext cx="1463040" cy="2743200"/>
          </a:xfrm>
          <a:prstGeom prst="rect">
            <a:avLst/>
          </a:prstGeom>
          <a:noFill/>
        </p:spPr>
        <p:txBody>
          <a:bodyPr wrap="square">
            <a:spAutoFit/>
          </a:bodyPr>
          <a:lstStyle/>
          <a:p>
            <a:pPr algn="l"/>
            <a:r>
              <a:rPr sz="950" b="0" i="0">
                <a:solidFill>
                  <a:srgbClr val="404040"/>
                </a:solidFill>
              </a:rPr>
              <a:t>VirusTotal flagged 194.87.234.129 as malicious (Webroot: Malicious). This IP belongs to JSC Mediasoft ekspert (Russia, AS 48347). Suricata independently identified this as the RIG EK C2 landing page with High severity. Corroborated by Security Onion alert: ET EXPLOIT_KIT RIG EK Landing.</a:t>
            </a:r>
          </a:p>
        </p:txBody>
      </p:sp>
      <p:sp>
        <p:nvSpPr>
          <p:cNvPr id="10" name="TextBox 9"/>
          <p:cNvSpPr txBox="1"/>
          <p:nvPr/>
        </p:nvSpPr>
        <p:spPr>
          <a:xfrm>
            <a:off x="228600" y="4754880"/>
            <a:ext cx="7132320" cy="457200"/>
          </a:xfrm>
          <a:prstGeom prst="rect">
            <a:avLst/>
          </a:prstGeom>
          <a:noFill/>
        </p:spPr>
        <p:txBody>
          <a:bodyPr wrap="square">
            <a:spAutoFit/>
          </a:bodyPr>
          <a:lstStyle/>
          <a:p>
            <a:pPr algn="ctr"/>
            <a:r>
              <a:rPr sz="1000" b="0" i="1">
                <a:solidFill>
                  <a:srgbClr val="555555"/>
                </a:solidFill>
              </a:rPr>
              <a:t>Fig 1: VirusTotal report for 194.87.234.129 (tyu.benme.com) — confirms RIG EK C2 server, flagged malicious by Webroot. Corroborated by Suricata ET EXPLOIT_KIT RIG EK Landing alert.</a:t>
            </a:r>
          </a:p>
        </p:txBody>
      </p:sp>
      <p:sp>
        <p:nvSpPr>
          <p:cNvPr id="11" name="TextBox 10"/>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3215759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Evil Redirector &amp; Payload Delivery</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Stages 1–3: compromised WordPress → evil redirect → RIG EK payload drop</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4" descr="A screenshot of a computer&#10;&#10;AI-generated content may be incorrect.">
            <a:extLst>
              <a:ext uri="{FF2B5EF4-FFF2-40B4-BE49-F238E27FC236}">
                <a16:creationId xmlns:a16="http://schemas.microsoft.com/office/drawing/2014/main" id="{E0430B8E-E6DE-8CFD-807E-2E0F571B1D00}"/>
              </a:ext>
            </a:extLst>
          </p:cNvPr>
          <p:cNvPicPr>
            <a:picLocks noChangeAspect="1"/>
          </p:cNvPicPr>
          <p:nvPr/>
        </p:nvPicPr>
        <p:blipFill>
          <a:blip r:embed="rId2"/>
          <a:stretch>
            <a:fillRect/>
          </a:stretch>
        </p:blipFill>
        <p:spPr>
          <a:xfrm>
            <a:off x="182880" y="1371600"/>
            <a:ext cx="5349240" cy="3474720"/>
          </a:xfrm>
          <a:prstGeom prst="rect">
            <a:avLst/>
          </a:prstGeom>
        </p:spPr>
      </p:pic>
      <p:pic>
        <p:nvPicPr>
          <p:cNvPr id="10" name="Content Placeholder 3" descr="A screenshot of a computer&#10;&#10;AI-generated content may be incorrect.">
            <a:extLst>
              <a:ext uri="{FF2B5EF4-FFF2-40B4-BE49-F238E27FC236}">
                <a16:creationId xmlns:a16="http://schemas.microsoft.com/office/drawing/2014/main" id="{D048C876-EA07-D4AA-E2B2-CE3C40AF181F}"/>
              </a:ext>
            </a:extLst>
          </p:cNvPr>
          <p:cNvPicPr>
            <a:picLocks noGrp="1" noChangeAspect="1"/>
          </p:cNvPicPr>
          <p:nvPr>
            <p:ph idx="1"/>
          </p:nvPr>
        </p:nvPicPr>
        <p:blipFill>
          <a:blip r:embed="rId3"/>
          <a:stretch>
            <a:fillRect/>
          </a:stretch>
        </p:blipFill>
        <p:spPr>
          <a:xfrm>
            <a:off x="5623559" y="1371599"/>
            <a:ext cx="5668217" cy="3567379"/>
          </a:xfrm>
          <a:prstGeom prst="rect">
            <a:avLst/>
          </a:prstGeom>
        </p:spPr>
      </p:pic>
      <p:sp>
        <p:nvSpPr>
          <p:cNvPr id="6" name="TextBox 5"/>
          <p:cNvSpPr txBox="1"/>
          <p:nvPr/>
        </p:nvSpPr>
        <p:spPr>
          <a:xfrm>
            <a:off x="182880" y="4919472"/>
            <a:ext cx="5349240" cy="457200"/>
          </a:xfrm>
          <a:prstGeom prst="rect">
            <a:avLst/>
          </a:prstGeom>
          <a:noFill/>
        </p:spPr>
        <p:txBody>
          <a:bodyPr wrap="square">
            <a:spAutoFit/>
          </a:bodyPr>
          <a:lstStyle/>
          <a:p>
            <a:pPr algn="ctr"/>
            <a:r>
              <a:rPr sz="950" b="0" i="1">
                <a:solidFill>
                  <a:srgbClr val="555555"/>
                </a:solidFill>
              </a:rPr>
              <a:t>Fig 2: Wireshark HTTP stream — homeimprovement.com response containing iframe src pointing to http://tyu.BENME.COM — the RIG EK C2 redirector. This confirms Stage 1→2 of the attack chain.</a:t>
            </a:r>
          </a:p>
        </p:txBody>
      </p:sp>
      <p:sp>
        <p:nvSpPr>
          <p:cNvPr id="7" name="TextBox 6"/>
          <p:cNvSpPr txBox="1"/>
          <p:nvPr/>
        </p:nvSpPr>
        <p:spPr>
          <a:xfrm>
            <a:off x="5623560" y="4919472"/>
            <a:ext cx="3429000" cy="457200"/>
          </a:xfrm>
          <a:prstGeom prst="rect">
            <a:avLst/>
          </a:prstGeom>
          <a:noFill/>
        </p:spPr>
        <p:txBody>
          <a:bodyPr wrap="square">
            <a:spAutoFit/>
          </a:bodyPr>
          <a:lstStyle/>
          <a:p>
            <a:pPr algn="ctr"/>
            <a:r>
              <a:rPr sz="950" b="0" i="1">
                <a:solidFill>
                  <a:srgbClr val="555555"/>
                </a:solidFill>
              </a:rPr>
              <a:t>Fig 3: Wireshark HTTP Export Objects — tyu.benme.com serving application/x-msdownload (executable) and application/x-shockwave-flash (exploit). Confirms payload drop via RIG EK.</a:t>
            </a:r>
          </a:p>
        </p:txBody>
      </p:sp>
      <p:sp>
        <p:nvSpPr>
          <p:cNvPr id="8" name="TextBox 7"/>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2685541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Ransomware DNS Beacon</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Stage 5: DNS query for Cerber ransom portal domain</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Content Placeholder 3">
            <a:extLst>
              <a:ext uri="{FF2B5EF4-FFF2-40B4-BE49-F238E27FC236}">
                <a16:creationId xmlns:a16="http://schemas.microsoft.com/office/drawing/2014/main" id="{118D2290-C273-897E-5FA2-4DF0894B42AB}"/>
              </a:ext>
            </a:extLst>
          </p:cNvPr>
          <p:cNvPicPr>
            <a:picLocks noGrp="1" noChangeAspect="1"/>
          </p:cNvPicPr>
          <p:nvPr>
            <p:ph idx="1"/>
          </p:nvPr>
        </p:nvPicPr>
        <p:blipFill>
          <a:blip r:embed="rId2"/>
          <a:stretch>
            <a:fillRect/>
          </a:stretch>
        </p:blipFill>
        <p:spPr>
          <a:xfrm>
            <a:off x="182880" y="1417320"/>
            <a:ext cx="8732520" cy="2743200"/>
          </a:xfrm>
          <a:prstGeom prst="rect">
            <a:avLst/>
          </a:prstGeom>
        </p:spPr>
      </p:pic>
      <p:sp>
        <p:nvSpPr>
          <p:cNvPr id="6" name="TextBox 5"/>
          <p:cNvSpPr txBox="1"/>
          <p:nvPr/>
        </p:nvSpPr>
        <p:spPr>
          <a:xfrm>
            <a:off x="182880" y="4251960"/>
            <a:ext cx="8732520" cy="594360"/>
          </a:xfrm>
          <a:prstGeom prst="rect">
            <a:avLst/>
          </a:prstGeom>
          <a:noFill/>
        </p:spPr>
        <p:txBody>
          <a:bodyPr wrap="square">
            <a:spAutoFit/>
          </a:bodyPr>
          <a:lstStyle/>
          <a:p>
            <a:pPr algn="ctr"/>
            <a:r>
              <a:rPr sz="1100" b="0" i="1">
                <a:solidFill>
                  <a:srgbClr val="444444"/>
                </a:solidFill>
              </a:rPr>
              <a:t>Fig 4: Wireshark packet view — packet 5163 shows a DNS Standard Query for p27dokhpz2n7nvgr.1jw2lx.top (highlighted row), immediately followed by resolution to 198.105.121.50. This confirms the ransomware payment portal lookup after successful infection. Also visible: prior DNS queries to all malicious domains in sequence.</a:t>
            </a:r>
          </a:p>
        </p:txBody>
      </p:sp>
      <p:sp>
        <p:nvSpPr>
          <p:cNvPr id="7" name="Rectangle 6"/>
          <p:cNvSpPr/>
          <p:nvPr/>
        </p:nvSpPr>
        <p:spPr>
          <a:xfrm>
            <a:off x="182880" y="4937760"/>
            <a:ext cx="8732520" cy="56692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82880" y="4937760"/>
            <a:ext cx="54864" cy="56692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4974336"/>
            <a:ext cx="8503920" cy="502920"/>
          </a:xfrm>
          <a:prstGeom prst="rect">
            <a:avLst/>
          </a:prstGeom>
          <a:noFill/>
        </p:spPr>
        <p:txBody>
          <a:bodyPr wrap="square">
            <a:spAutoFit/>
          </a:bodyPr>
          <a:lstStyle/>
          <a:p>
            <a:pPr algn="l"/>
            <a:r>
              <a:rPr sz="1050" b="0" i="0">
                <a:solidFill>
                  <a:srgbClr val="5D4E00"/>
                </a:solidFill>
              </a:rPr>
              <a:t>Key Finding: The DNS sequence (homeimprovement.com → visionurbana → tyu.benme.com → spotsbill.com → api.blockcypher.com → p27dokhpz2n7nvgr.1jw2lx.top) maps the complete 6-stage attack chain directly from packet timestamps.</a:t>
            </a:r>
          </a:p>
        </p:txBody>
      </p:sp>
      <p:sp>
        <p:nvSpPr>
          <p:cNvPr id="10" name="TextBox 9"/>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2538033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Malware Executable Download</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Stage 3: application/x-msdownload payload from tyu.benme.com</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Content Placeholder 3">
            <a:extLst>
              <a:ext uri="{FF2B5EF4-FFF2-40B4-BE49-F238E27FC236}">
                <a16:creationId xmlns:a16="http://schemas.microsoft.com/office/drawing/2014/main" id="{9DDE3935-4E6B-F859-5379-B45F388A0789}"/>
              </a:ext>
            </a:extLst>
          </p:cNvPr>
          <p:cNvPicPr>
            <a:picLocks noGrp="1" noChangeAspect="1"/>
          </p:cNvPicPr>
          <p:nvPr>
            <p:ph idx="1"/>
          </p:nvPr>
        </p:nvPicPr>
        <p:blipFill>
          <a:blip r:embed="rId2"/>
          <a:stretch>
            <a:fillRect/>
          </a:stretch>
        </p:blipFill>
        <p:spPr>
          <a:xfrm>
            <a:off x="182880" y="1371600"/>
            <a:ext cx="5029200" cy="3383280"/>
          </a:xfrm>
          <a:prstGeom prst="rect">
            <a:avLst/>
          </a:prstGeom>
        </p:spPr>
      </p:pic>
      <p:pic>
        <p:nvPicPr>
          <p:cNvPr id="10" name="Picture 4">
            <a:extLst>
              <a:ext uri="{FF2B5EF4-FFF2-40B4-BE49-F238E27FC236}">
                <a16:creationId xmlns:a16="http://schemas.microsoft.com/office/drawing/2014/main" id="{61D47208-D0E1-9CAB-2996-EE84905038B4}"/>
              </a:ext>
            </a:extLst>
          </p:cNvPr>
          <p:cNvPicPr>
            <a:picLocks noChangeAspect="1"/>
          </p:cNvPicPr>
          <p:nvPr/>
        </p:nvPicPr>
        <p:blipFill>
          <a:blip r:embed="rId3"/>
          <a:stretch>
            <a:fillRect/>
          </a:stretch>
        </p:blipFill>
        <p:spPr>
          <a:xfrm>
            <a:off x="5349240" y="1371600"/>
            <a:ext cx="5029200" cy="3383280"/>
          </a:xfrm>
          <a:prstGeom prst="rect">
            <a:avLst/>
          </a:prstGeom>
        </p:spPr>
      </p:pic>
      <p:sp>
        <p:nvSpPr>
          <p:cNvPr id="6" name="TextBox 5"/>
          <p:cNvSpPr txBox="1"/>
          <p:nvPr/>
        </p:nvSpPr>
        <p:spPr>
          <a:xfrm>
            <a:off x="182880" y="4828032"/>
            <a:ext cx="5029200" cy="548640"/>
          </a:xfrm>
          <a:prstGeom prst="rect">
            <a:avLst/>
          </a:prstGeom>
          <a:noFill/>
        </p:spPr>
        <p:txBody>
          <a:bodyPr wrap="square">
            <a:spAutoFit/>
          </a:bodyPr>
          <a:lstStyle/>
          <a:p>
            <a:pPr algn="ctr"/>
            <a:r>
              <a:rPr sz="950" b="0" i="1">
                <a:solidFill>
                  <a:srgbClr val="555555"/>
                </a:solidFill>
              </a:rPr>
              <a:t>Fig 5: HTTP stream (tcp.stream eq 52) — tyu.benme.com response with Content-Type: application/x-msdownload (166kB). The binary payload (obfuscated .exe) confirms the malware executable was successfully delivered to STEWIE-PC.</a:t>
            </a:r>
          </a:p>
        </p:txBody>
      </p:sp>
      <p:sp>
        <p:nvSpPr>
          <p:cNvPr id="7" name="TextBox 6"/>
          <p:cNvSpPr txBox="1"/>
          <p:nvPr/>
        </p:nvSpPr>
        <p:spPr>
          <a:xfrm>
            <a:off x="5349240" y="4828032"/>
            <a:ext cx="3749039" cy="548640"/>
          </a:xfrm>
          <a:prstGeom prst="rect">
            <a:avLst/>
          </a:prstGeom>
          <a:noFill/>
        </p:spPr>
        <p:txBody>
          <a:bodyPr wrap="square">
            <a:spAutoFit/>
          </a:bodyPr>
          <a:lstStyle/>
          <a:p>
            <a:pPr algn="ctr"/>
            <a:r>
              <a:rPr sz="950" b="0" i="1">
                <a:solidFill>
                  <a:srgbClr val="555555"/>
                </a:solidFill>
              </a:rPr>
              <a:t>Fig 6: Wireshark HTTP Export Objects — tyu.benme.com listed as source for application/x-msdownload (highlighted). spotsbill.com also visible, serving text/html (secondary dropper). Both confirmed malicious by VirusTotal.</a:t>
            </a:r>
          </a:p>
        </p:txBody>
      </p:sp>
      <p:sp>
        <p:nvSpPr>
          <p:cNvPr id="8" name="TextBox 7"/>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27635145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Suricata IDS Alerts</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Security Onion confirming RIG EK and Cerber Ransomware signatures</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4" descr="A screenshot of a computer&#10;&#10;AI-generated content may be incorrect.">
            <a:extLst>
              <a:ext uri="{FF2B5EF4-FFF2-40B4-BE49-F238E27FC236}">
                <a16:creationId xmlns:a16="http://schemas.microsoft.com/office/drawing/2014/main" id="{9B60738A-9BFC-A385-56D9-AB11509A8180}"/>
              </a:ext>
            </a:extLst>
          </p:cNvPr>
          <p:cNvPicPr>
            <a:picLocks noChangeAspect="1"/>
          </p:cNvPicPr>
          <p:nvPr/>
        </p:nvPicPr>
        <p:blipFill>
          <a:blip r:embed="rId2"/>
          <a:stretch>
            <a:fillRect/>
          </a:stretch>
        </p:blipFill>
        <p:spPr>
          <a:xfrm>
            <a:off x="182880" y="1371600"/>
            <a:ext cx="5029200" cy="3200400"/>
          </a:xfrm>
          <a:prstGeom prst="rect">
            <a:avLst/>
          </a:prstGeom>
        </p:spPr>
      </p:pic>
      <p:pic>
        <p:nvPicPr>
          <p:cNvPr id="8" name="Content Placeholder 7" descr="A screenshot of a computer&#10;&#10;AI-generated content may be incorrect.">
            <a:extLst>
              <a:ext uri="{FF2B5EF4-FFF2-40B4-BE49-F238E27FC236}">
                <a16:creationId xmlns:a16="http://schemas.microsoft.com/office/drawing/2014/main" id="{2C2B0878-DF89-B0FF-D1FF-6D900FD662C5}"/>
              </a:ext>
            </a:extLst>
          </p:cNvPr>
          <p:cNvPicPr>
            <a:picLocks noGrp="1" noChangeAspect="1"/>
          </p:cNvPicPr>
          <p:nvPr>
            <p:ph idx="1"/>
          </p:nvPr>
        </p:nvPicPr>
        <p:blipFill>
          <a:blip r:embed="rId3"/>
          <a:stretch>
            <a:fillRect/>
          </a:stretch>
        </p:blipFill>
        <p:spPr>
          <a:xfrm>
            <a:off x="5349240" y="1371600"/>
            <a:ext cx="4796246" cy="3200400"/>
          </a:xfrm>
          <a:prstGeom prst="rect">
            <a:avLst/>
          </a:prstGeom>
        </p:spPr>
      </p:pic>
      <p:sp>
        <p:nvSpPr>
          <p:cNvPr id="9" name="TextBox 8"/>
          <p:cNvSpPr txBox="1"/>
          <p:nvPr/>
        </p:nvSpPr>
        <p:spPr>
          <a:xfrm>
            <a:off x="182880" y="4645152"/>
            <a:ext cx="5029200" cy="548640"/>
          </a:xfrm>
          <a:prstGeom prst="rect">
            <a:avLst/>
          </a:prstGeom>
          <a:noFill/>
        </p:spPr>
        <p:txBody>
          <a:bodyPr wrap="square">
            <a:spAutoFit/>
          </a:bodyPr>
          <a:lstStyle/>
          <a:p>
            <a:pPr algn="ctr"/>
            <a:r>
              <a:rPr sz="950" b="0" i="1">
                <a:solidFill>
                  <a:srgbClr val="555555"/>
                </a:solidFill>
              </a:rPr>
              <a:t>Fig 7: Security Onion Suricata alert metadata — showing RIG EK alert triggered by traffic from 139.59.160.143 (evil redirector). High severity, Client_Endpoint category. Confirms Stage 1 → Stage 2 redirect.</a:t>
            </a:r>
          </a:p>
        </p:txBody>
      </p:sp>
      <p:sp>
        <p:nvSpPr>
          <p:cNvPr id="10" name="TextBox 9"/>
          <p:cNvSpPr txBox="1"/>
          <p:nvPr/>
        </p:nvSpPr>
        <p:spPr>
          <a:xfrm>
            <a:off x="5349240" y="4645152"/>
            <a:ext cx="3749039" cy="548640"/>
          </a:xfrm>
          <a:prstGeom prst="rect">
            <a:avLst/>
          </a:prstGeom>
          <a:noFill/>
        </p:spPr>
        <p:txBody>
          <a:bodyPr wrap="square">
            <a:spAutoFit/>
          </a:bodyPr>
          <a:lstStyle/>
          <a:p>
            <a:pPr algn="ctr"/>
            <a:r>
              <a:rPr sz="950" b="0" i="1">
                <a:solidFill>
                  <a:srgbClr val="555555"/>
                </a:solidFill>
              </a:rPr>
              <a:t>Fig 8: Security Onion — ET MALWARE Ransomware/Cerber alert. DNS_Onion_Query tag confirms ransomware domain lookup. Malware family: Ransomware_Cerber. MITRE ATT&amp;CK: T1486 (Data Encrypted for Impact), TA0040 Impact.</a:t>
            </a:r>
          </a:p>
        </p:txBody>
      </p:sp>
      <p:sp>
        <p:nvSpPr>
          <p:cNvPr id="11" name="TextBox 10"/>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2426367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Complete DNS Query Sequence</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All outbound DNS requests from STEWIE-PC confirming the attack chain order</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Content Placeholder 3" descr="A screenshot of a computer&#10;&#10;AI-generated content may be incorrect.">
            <a:extLst>
              <a:ext uri="{FF2B5EF4-FFF2-40B4-BE49-F238E27FC236}">
                <a16:creationId xmlns:a16="http://schemas.microsoft.com/office/drawing/2014/main" id="{5B12D4B9-CF11-505C-ECC0-57E151831F2E}"/>
              </a:ext>
            </a:extLst>
          </p:cNvPr>
          <p:cNvPicPr>
            <a:picLocks noGrp="1" noChangeAspect="1"/>
          </p:cNvPicPr>
          <p:nvPr>
            <p:ph idx="1"/>
          </p:nvPr>
        </p:nvPicPr>
        <p:blipFill>
          <a:blip r:embed="rId2"/>
          <a:stretch>
            <a:fillRect/>
          </a:stretch>
        </p:blipFill>
        <p:spPr>
          <a:xfrm>
            <a:off x="182880" y="1371600"/>
            <a:ext cx="8732520" cy="3383280"/>
          </a:xfrm>
          <a:prstGeom prst="rect">
            <a:avLst/>
          </a:prstGeom>
        </p:spPr>
      </p:pic>
      <p:sp>
        <p:nvSpPr>
          <p:cNvPr id="6" name="TextBox 5"/>
          <p:cNvSpPr txBox="1"/>
          <p:nvPr/>
        </p:nvSpPr>
        <p:spPr>
          <a:xfrm>
            <a:off x="182880" y="4846320"/>
            <a:ext cx="8732520" cy="640080"/>
          </a:xfrm>
          <a:prstGeom prst="rect">
            <a:avLst/>
          </a:prstGeom>
          <a:noFill/>
        </p:spPr>
        <p:txBody>
          <a:bodyPr wrap="square">
            <a:spAutoFit/>
          </a:bodyPr>
          <a:lstStyle/>
          <a:p>
            <a:pPr algn="ctr"/>
            <a:r>
              <a:rPr sz="1050" b="0" i="1">
                <a:solidFill>
                  <a:srgbClr val="444444"/>
                </a:solidFill>
              </a:rPr>
              <a:t>Fig 9: Wireshark DNS filter (dns &amp;&amp; ip.src == 172.16.4.193) — showing the complete query timeline. Highlighted rows confirm all 6 malicious domains queried in sequence: homeimprovement.com → retrotip.visionurbana.com.ve → tyu.benme.com → spotsbill.com → api.blockcypher.com → p27dokhpz2n7nvgr.1jw2lx.top. This single view proves the full attack chain.</a:t>
            </a:r>
          </a:p>
        </p:txBody>
      </p:sp>
      <p:sp>
        <p:nvSpPr>
          <p:cNvPr id="7" name="TextBox 6"/>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3420620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spotsbill.com: Staging Server</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Stage 4: Base64-encoded payload response confirms secondary dropper role</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Content Placeholder 3" descr="A screenshot of a computer&#10;&#10;AI-generated content may be incorrect.">
            <a:extLst>
              <a:ext uri="{FF2B5EF4-FFF2-40B4-BE49-F238E27FC236}">
                <a16:creationId xmlns:a16="http://schemas.microsoft.com/office/drawing/2014/main" id="{7486C803-093A-7D8F-A216-60D21D81754E}"/>
              </a:ext>
            </a:extLst>
          </p:cNvPr>
          <p:cNvPicPr>
            <a:picLocks noGrp="1" noChangeAspect="1"/>
          </p:cNvPicPr>
          <p:nvPr>
            <p:ph idx="1"/>
          </p:nvPr>
        </p:nvPicPr>
        <p:blipFill>
          <a:blip r:embed="rId2"/>
          <a:stretch>
            <a:fillRect/>
          </a:stretch>
        </p:blipFill>
        <p:spPr>
          <a:xfrm>
            <a:off x="274320" y="1371600"/>
            <a:ext cx="6217920" cy="2743200"/>
          </a:xfrm>
          <a:prstGeom prst="rect">
            <a:avLst/>
          </a:prstGeom>
        </p:spPr>
      </p:pic>
      <p:sp>
        <p:nvSpPr>
          <p:cNvPr id="6" name="Rectangle 5"/>
          <p:cNvSpPr/>
          <p:nvPr/>
        </p:nvSpPr>
        <p:spPr>
          <a:xfrm>
            <a:off x="6675120" y="1371600"/>
            <a:ext cx="2423160" cy="2743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675120" y="1371600"/>
            <a:ext cx="2423160" cy="320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0" y="1426464"/>
            <a:ext cx="2240280" cy="228600"/>
          </a:xfrm>
          <a:prstGeom prst="rect">
            <a:avLst/>
          </a:prstGeom>
          <a:noFill/>
        </p:spPr>
        <p:txBody>
          <a:bodyPr wrap="square">
            <a:spAutoFit/>
          </a:bodyPr>
          <a:lstStyle/>
          <a:p>
            <a:pPr algn="l"/>
            <a:r>
              <a:rPr sz="1200" b="1" i="0">
                <a:solidFill>
                  <a:srgbClr val="FFFFFF"/>
                </a:solidFill>
              </a:rPr>
              <a:t>Analysis</a:t>
            </a:r>
          </a:p>
        </p:txBody>
      </p:sp>
      <p:sp>
        <p:nvSpPr>
          <p:cNvPr id="9" name="TextBox 8"/>
          <p:cNvSpPr txBox="1"/>
          <p:nvPr/>
        </p:nvSpPr>
        <p:spPr>
          <a:xfrm>
            <a:off x="6766560" y="1773936"/>
            <a:ext cx="2240280" cy="2240280"/>
          </a:xfrm>
          <a:prstGeom prst="rect">
            <a:avLst/>
          </a:prstGeom>
          <a:noFill/>
        </p:spPr>
        <p:txBody>
          <a:bodyPr wrap="square">
            <a:spAutoFit/>
          </a:bodyPr>
          <a:lstStyle/>
          <a:p>
            <a:pPr algn="l"/>
            <a:r>
              <a:rPr sz="1000" b="0" i="0">
                <a:solidFill>
                  <a:srgbClr val="404040"/>
                </a:solidFill>
              </a:rPr>
              <a:t>spotsbill.com returned a &lt;div&gt; element containing a large Base64-encoded string — characteristics: A–Z, a–z, 0–9, +, / with no spaces or HTML structure.
This is NOT user-facing content. This is machine-to-machine communication — a payload chunk or configuration data retrieved by the ransomware after initial execution.
Role: Secondary staging server. Returns encoded payload data, not C2 commands. Confirmed malicious: 11/94 VirusTotal vendors (Kaspersky, BitDefender, Fortinet).</a:t>
            </a:r>
          </a:p>
        </p:txBody>
      </p:sp>
      <p:sp>
        <p:nvSpPr>
          <p:cNvPr id="10" name="TextBox 9"/>
          <p:cNvSpPr txBox="1"/>
          <p:nvPr/>
        </p:nvSpPr>
        <p:spPr>
          <a:xfrm>
            <a:off x="274320" y="4224528"/>
            <a:ext cx="6217920" cy="502920"/>
          </a:xfrm>
          <a:prstGeom prst="rect">
            <a:avLst/>
          </a:prstGeom>
          <a:noFill/>
        </p:spPr>
        <p:txBody>
          <a:bodyPr wrap="square">
            <a:spAutoFit/>
          </a:bodyPr>
          <a:lstStyle/>
          <a:p>
            <a:pPr algn="ctr"/>
            <a:r>
              <a:rPr sz="950" b="0" i="1">
                <a:solidFill>
                  <a:srgbClr val="555555"/>
                </a:solidFill>
              </a:rPr>
              <a:t>Fig 10: Decoded HTTP response from spotsbill.com — a Base64-encoded blob inside a &lt;div id='s'&gt; tag. No HTML structure, images, or scripts. Confirms machine-to-machine payload retrieval, not normal web content.</a:t>
            </a:r>
          </a:p>
        </p:txBody>
      </p:sp>
      <p:sp>
        <p:nvSpPr>
          <p:cNvPr id="11" name="TextBox 10"/>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3265989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85730-3966-3EED-F16C-01518F7643C2}"/>
            </a:ext>
          </a:extLst>
        </p:cNvPr>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044E2300-7079-258E-FBF2-9E8309737895}"/>
              </a:ext>
            </a:extLst>
          </p:cNvPr>
          <p:cNvPicPr>
            <a:picLocks noGrp="1" noChangeAspect="1"/>
          </p:cNvPicPr>
          <p:nvPr>
            <p:ph idx="1"/>
          </p:nvPr>
        </p:nvPicPr>
        <p:blipFill>
          <a:blip r:embed="rId2"/>
          <a:stretch>
            <a:fillRect/>
          </a:stretch>
        </p:blipFill>
        <p:spPr>
          <a:xfrm>
            <a:off x="182880" y="1371600"/>
            <a:ext cx="8732520" cy="3383280"/>
          </a:xfrm>
          <a:prstGeom prst="rect">
            <a:avLst/>
          </a:prstGeom>
        </p:spPr>
      </p:pic>
      <p:sp>
        <p:nvSpPr>
          <p:cNvPr id="5" name="Rectangle 4"/>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Evil Redirector IP Validation</a:t>
            </a:r>
          </a:p>
        </p:txBody>
      </p:sp>
      <p:sp>
        <p:nvSpPr>
          <p:cNvPr id="8" name="TextBox 7"/>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VirusTotal confirms 139.59.160.143 as malicious — evil redirector (Stage 2)</a:t>
            </a:r>
          </a:p>
        </p:txBody>
      </p:sp>
      <p:sp>
        <p:nvSpPr>
          <p:cNvPr id="9" name="Rectangle 8"/>
          <p:cNvSpPr/>
          <p:nvPr/>
        </p:nvSpPr>
        <p:spPr>
          <a:xfrm>
            <a:off x="7315200" y="1371600"/>
            <a:ext cx="1737360" cy="33832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0" y="1371600"/>
            <a:ext cx="1737360" cy="3200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06640" y="1426464"/>
            <a:ext cx="1554480" cy="228600"/>
          </a:xfrm>
          <a:prstGeom prst="rect">
            <a:avLst/>
          </a:prstGeom>
          <a:noFill/>
        </p:spPr>
        <p:txBody>
          <a:bodyPr wrap="square">
            <a:spAutoFit/>
          </a:bodyPr>
          <a:lstStyle/>
          <a:p>
            <a:pPr algn="l"/>
            <a:r>
              <a:rPr sz="1100" b="1" i="0">
                <a:solidFill>
                  <a:srgbClr val="FFFFFF"/>
                </a:solidFill>
              </a:rPr>
              <a:t>Finding</a:t>
            </a:r>
          </a:p>
        </p:txBody>
      </p:sp>
      <p:sp>
        <p:nvSpPr>
          <p:cNvPr id="12" name="TextBox 11"/>
          <p:cNvSpPr txBox="1"/>
          <p:nvPr/>
        </p:nvSpPr>
        <p:spPr>
          <a:xfrm>
            <a:off x="7406640" y="1773936"/>
            <a:ext cx="1554480" cy="2743200"/>
          </a:xfrm>
          <a:prstGeom prst="rect">
            <a:avLst/>
          </a:prstGeom>
          <a:noFill/>
        </p:spPr>
        <p:txBody>
          <a:bodyPr wrap="square">
            <a:spAutoFit/>
          </a:bodyPr>
          <a:lstStyle/>
          <a:p>
            <a:pPr algn="l"/>
            <a:r>
              <a:rPr sz="950" b="0" i="0">
                <a:solidFill>
                  <a:srgbClr val="404040"/>
                </a:solidFill>
              </a:rPr>
              <a:t>139.59.160.143 flagged by 5/94 VirusTotal vendors (Criminal IP: Malicious, Cyble: Malicious, GreyNoise: Malicious, MalwareURL: Malware). Hosted by DigitalOcean, GB (AS 14061). This is the evil redirector that delivered the RIG EK landing page — Stage 2 of the attack chain. Corroborated by Suricata ET EXPLOIT_KIT Evil Redirector alert.</a:t>
            </a:r>
          </a:p>
        </p:txBody>
      </p:sp>
      <p:sp>
        <p:nvSpPr>
          <p:cNvPr id="13" name="TextBox 12"/>
          <p:cNvSpPr txBox="1"/>
          <p:nvPr/>
        </p:nvSpPr>
        <p:spPr>
          <a:xfrm>
            <a:off x="182880" y="4828032"/>
            <a:ext cx="7040880" cy="548640"/>
          </a:xfrm>
          <a:prstGeom prst="rect">
            <a:avLst/>
          </a:prstGeom>
          <a:noFill/>
        </p:spPr>
        <p:txBody>
          <a:bodyPr wrap="square">
            <a:spAutoFit/>
          </a:bodyPr>
          <a:lstStyle/>
          <a:p>
            <a:pPr algn="ctr"/>
            <a:r>
              <a:rPr sz="1000" b="0" i="1">
                <a:solidFill>
                  <a:srgbClr val="444444"/>
                </a:solidFill>
              </a:rPr>
              <a:t>Fig 11: VirusTotal report for 139.59.160.143 (retrotip.visionurbana.com.ve) — 5/94 vendors flagged malicious. Confirms this IP as the evil redirector (Stage 2). Suricata independently triggered ET EXPLOIT_KIT Evil Redirector Leading to EK alert at High severity.</a:t>
            </a:r>
          </a:p>
        </p:txBody>
      </p:sp>
      <p:sp>
        <p:nvSpPr>
          <p:cNvPr id="14" name="TextBox 13"/>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1456422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VirusTotal: Ransom Portal Domain</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p27dokhpz2n7nvgr.1jw2lx.top — 13/94 vendors flagged malicious</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Content Placeholder 3" descr="A screenshot of a computer&#10;&#10;AI-generated content may be incorrect.">
            <a:extLst>
              <a:ext uri="{FF2B5EF4-FFF2-40B4-BE49-F238E27FC236}">
                <a16:creationId xmlns:a16="http://schemas.microsoft.com/office/drawing/2014/main" id="{7C24680E-C54E-6630-8123-ECBF3C7FF24C}"/>
              </a:ext>
            </a:extLst>
          </p:cNvPr>
          <p:cNvPicPr>
            <a:picLocks noGrp="1" noChangeAspect="1"/>
          </p:cNvPicPr>
          <p:nvPr>
            <p:ph idx="1"/>
          </p:nvPr>
        </p:nvPicPr>
        <p:blipFill>
          <a:blip r:embed="rId2"/>
          <a:stretch>
            <a:fillRect/>
          </a:stretch>
        </p:blipFill>
        <p:spPr>
          <a:xfrm>
            <a:off x="182880" y="1371600"/>
            <a:ext cx="9711978" cy="3762756"/>
          </a:xfrm>
          <a:prstGeom prst="rect">
            <a:avLst/>
          </a:prstGeom>
        </p:spPr>
      </p:pic>
      <p:sp>
        <p:nvSpPr>
          <p:cNvPr id="6" name="Rectangle 5"/>
          <p:cNvSpPr/>
          <p:nvPr/>
        </p:nvSpPr>
        <p:spPr>
          <a:xfrm>
            <a:off x="258371" y="5285232"/>
            <a:ext cx="8732520" cy="56692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97340" y="5285232"/>
            <a:ext cx="54864" cy="56692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45824" y="5285232"/>
            <a:ext cx="8503920" cy="502920"/>
          </a:xfrm>
          <a:prstGeom prst="rect">
            <a:avLst/>
          </a:prstGeom>
          <a:noFill/>
        </p:spPr>
        <p:txBody>
          <a:bodyPr wrap="square">
            <a:spAutoFit/>
          </a:bodyPr>
          <a:lstStyle/>
          <a:p>
            <a:pPr algn="l"/>
            <a:r>
              <a:rPr sz="1000" b="0" i="0">
                <a:solidFill>
                  <a:srgbClr val="5D4E00"/>
                </a:solidFill>
              </a:rPr>
              <a:t>Fig 12: </a:t>
            </a:r>
            <a:r>
              <a:rPr sz="1000" b="0" i="0" err="1">
                <a:solidFill>
                  <a:srgbClr val="5D4E00"/>
                </a:solidFill>
              </a:rPr>
              <a:t>VirusTotal</a:t>
            </a:r>
            <a:r>
              <a:rPr sz="1000" b="0" i="0">
                <a:solidFill>
                  <a:srgbClr val="5D4E00"/>
                </a:solidFill>
              </a:rPr>
              <a:t> for p27dokhpz2n7nvgr.1jw2lx.top — 13/94 vendors flagged (</a:t>
            </a:r>
            <a:r>
              <a:rPr sz="1000" b="0" i="0" err="1">
                <a:solidFill>
                  <a:srgbClr val="5D4E00"/>
                </a:solidFill>
              </a:rPr>
              <a:t>ADMINUSLabs</a:t>
            </a:r>
            <a:r>
              <a:rPr sz="1000" b="0" i="0">
                <a:solidFill>
                  <a:srgbClr val="5D4E00"/>
                </a:solidFill>
              </a:rPr>
              <a:t>: Malicious, </a:t>
            </a:r>
            <a:r>
              <a:rPr sz="1000" b="0" i="0" err="1">
                <a:solidFill>
                  <a:srgbClr val="5D4E00"/>
                </a:solidFill>
              </a:rPr>
              <a:t>alphaMountain.ai</a:t>
            </a:r>
            <a:r>
              <a:rPr sz="1000" b="0" i="0">
                <a:solidFill>
                  <a:srgbClr val="5D4E00"/>
                </a:solidFill>
              </a:rPr>
              <a:t>: Phishing, </a:t>
            </a:r>
            <a:r>
              <a:rPr sz="1000" b="0" i="0" err="1">
                <a:solidFill>
                  <a:srgbClr val="5D4E00"/>
                </a:solidFill>
              </a:rPr>
              <a:t>BitDefender</a:t>
            </a:r>
            <a:r>
              <a:rPr sz="1000" b="0" i="0">
                <a:solidFill>
                  <a:srgbClr val="5D4E00"/>
                </a:solidFill>
              </a:rPr>
              <a:t>: Phishing, Chong Lua Dao: Malicious). Tagged: phishing and other frauds, DGA. Registered via </a:t>
            </a:r>
            <a:r>
              <a:rPr sz="1000" b="0" i="0" err="1">
                <a:solidFill>
                  <a:srgbClr val="5D4E00"/>
                </a:solidFill>
              </a:rPr>
              <a:t>Dynadot</a:t>
            </a:r>
            <a:r>
              <a:rPr sz="1000" b="0" i="0">
                <a:solidFill>
                  <a:srgbClr val="5D4E00"/>
                </a:solidFill>
              </a:rPr>
              <a:t> LLC. This is the </a:t>
            </a:r>
            <a:r>
              <a:rPr sz="1000" b="0" i="0" err="1">
                <a:solidFill>
                  <a:srgbClr val="5D4E00"/>
                </a:solidFill>
              </a:rPr>
              <a:t>Cerber</a:t>
            </a:r>
            <a:r>
              <a:rPr sz="1000" b="0" i="0">
                <a:solidFill>
                  <a:srgbClr val="5D4E00"/>
                </a:solidFill>
              </a:rPr>
              <a:t> ransomware payment portal — confirms Stage 5 of the attack.</a:t>
            </a:r>
          </a:p>
        </p:txBody>
      </p:sp>
      <p:sp>
        <p:nvSpPr>
          <p:cNvPr id="9" name="TextBox 8"/>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3280293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Evidence — Compromised HTML Payload Rendered</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Stage 1: homeimprovement.com local copy shows injected 'bnoic' tag</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Content Placeholder 3">
            <a:extLst>
              <a:ext uri="{FF2B5EF4-FFF2-40B4-BE49-F238E27FC236}">
                <a16:creationId xmlns:a16="http://schemas.microsoft.com/office/drawing/2014/main" id="{990BE96C-D58F-F1B4-4E08-66C5070B5395}"/>
              </a:ext>
            </a:extLst>
          </p:cNvPr>
          <p:cNvPicPr>
            <a:picLocks noGrp="1" noChangeAspect="1"/>
          </p:cNvPicPr>
          <p:nvPr>
            <p:ph idx="1"/>
          </p:nvPr>
        </p:nvPicPr>
        <p:blipFill>
          <a:blip r:embed="rId2"/>
          <a:stretch>
            <a:fillRect/>
          </a:stretch>
        </p:blipFill>
        <p:spPr>
          <a:xfrm>
            <a:off x="274320" y="1371600"/>
            <a:ext cx="6217920" cy="2743200"/>
          </a:xfrm>
          <a:prstGeom prst="rect">
            <a:avLst/>
          </a:prstGeom>
        </p:spPr>
      </p:pic>
      <p:sp>
        <p:nvSpPr>
          <p:cNvPr id="6" name="Rectangle 5"/>
          <p:cNvSpPr/>
          <p:nvPr/>
        </p:nvSpPr>
        <p:spPr>
          <a:xfrm>
            <a:off x="6675120" y="1371600"/>
            <a:ext cx="2423160" cy="2743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675120" y="1371600"/>
            <a:ext cx="2423160" cy="32004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0" y="1426464"/>
            <a:ext cx="2240280" cy="228600"/>
          </a:xfrm>
          <a:prstGeom prst="rect">
            <a:avLst/>
          </a:prstGeom>
          <a:noFill/>
        </p:spPr>
        <p:txBody>
          <a:bodyPr wrap="square">
            <a:spAutoFit/>
          </a:bodyPr>
          <a:lstStyle/>
          <a:p>
            <a:pPr algn="l"/>
            <a:r>
              <a:rPr sz="1200" b="1" i="0">
                <a:solidFill>
                  <a:srgbClr val="FFFFFF"/>
                </a:solidFill>
              </a:rPr>
              <a:t>Significance</a:t>
            </a:r>
          </a:p>
        </p:txBody>
      </p:sp>
      <p:sp>
        <p:nvSpPr>
          <p:cNvPr id="9" name="TextBox 8"/>
          <p:cNvSpPr txBox="1"/>
          <p:nvPr/>
        </p:nvSpPr>
        <p:spPr>
          <a:xfrm>
            <a:off x="6766560" y="1773936"/>
            <a:ext cx="2240280" cy="2240280"/>
          </a:xfrm>
          <a:prstGeom prst="rect">
            <a:avLst/>
          </a:prstGeom>
          <a:noFill/>
        </p:spPr>
        <p:txBody>
          <a:bodyPr wrap="square">
            <a:spAutoFit/>
          </a:bodyPr>
          <a:lstStyle/>
          <a:p>
            <a:pPr algn="l"/>
            <a:r>
              <a:rPr sz="1000" b="0" i="0">
                <a:solidFill>
                  <a:srgbClr val="404040"/>
                </a:solidFill>
              </a:rPr>
              <a:t>The remodeling-your-kitchen-cabinets.html file was extracted from the PCAP and rendered locally. It shows an almost-blank page with only 'bnoic' visible — a non-standard tag injected by the attacker.
This confirms the WordPress site's content was maliciously modified. The visible page contains no legitimate content; the injected code only executes the redirect to tyu.benme.com via the hidden iframe.
This is direct proof of Stage 1: the compromised entry point.</a:t>
            </a:r>
          </a:p>
        </p:txBody>
      </p:sp>
      <p:sp>
        <p:nvSpPr>
          <p:cNvPr id="10" name="TextBox 9"/>
          <p:cNvSpPr txBox="1"/>
          <p:nvPr/>
        </p:nvSpPr>
        <p:spPr>
          <a:xfrm>
            <a:off x="274320" y="4224528"/>
            <a:ext cx="6217920" cy="548640"/>
          </a:xfrm>
          <a:prstGeom prst="rect">
            <a:avLst/>
          </a:prstGeom>
          <a:noFill/>
        </p:spPr>
        <p:txBody>
          <a:bodyPr wrap="square">
            <a:spAutoFit/>
          </a:bodyPr>
          <a:lstStyle/>
          <a:p>
            <a:pPr algn="ctr"/>
            <a:r>
              <a:rPr sz="950" b="0" i="1">
                <a:solidFill>
                  <a:srgbClr val="555555"/>
                </a:solidFill>
              </a:rPr>
              <a:t>Fig 13: Rendered HTML from homeimprovement.com (saved locally from PCAP). The page shows only 'bnoic' — an injected non-standard tag. Legitimate content stripped by attacker; only the redirect iframe executes. Confirms the website was actively compromised (Stage 1).</a:t>
            </a:r>
          </a:p>
        </p:txBody>
      </p:sp>
      <p:sp>
        <p:nvSpPr>
          <p:cNvPr id="11" name="TextBox 10"/>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extLst>
      <p:ext uri="{BB962C8B-B14F-4D97-AF65-F5344CB8AC3E}">
        <p14:creationId xmlns:p14="http://schemas.microsoft.com/office/powerpoint/2010/main" val="1770325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Non-Technical Summary</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Plain-language explanation for non-forensic readers</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417320"/>
            <a:ext cx="8732520" cy="105156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8912" y="1490472"/>
            <a:ext cx="8458200" cy="292608"/>
          </a:xfrm>
          <a:prstGeom prst="rect">
            <a:avLst/>
          </a:prstGeom>
          <a:noFill/>
        </p:spPr>
        <p:txBody>
          <a:bodyPr wrap="square">
            <a:spAutoFit/>
          </a:bodyPr>
          <a:lstStyle/>
          <a:p>
            <a:pPr algn="l"/>
            <a:r>
              <a:rPr sz="1300" b="1" i="0">
                <a:solidFill>
                  <a:srgbClr val="FFFFFF"/>
                </a:solidFill>
              </a:rPr>
              <a:t>What happened?</a:t>
            </a:r>
          </a:p>
        </p:txBody>
      </p:sp>
      <p:sp>
        <p:nvSpPr>
          <p:cNvPr id="8" name="TextBox 7"/>
          <p:cNvSpPr txBox="1"/>
          <p:nvPr/>
        </p:nvSpPr>
        <p:spPr>
          <a:xfrm>
            <a:off x="438912" y="1755648"/>
            <a:ext cx="8458200" cy="640080"/>
          </a:xfrm>
          <a:prstGeom prst="rect">
            <a:avLst/>
          </a:prstGeom>
          <a:noFill/>
        </p:spPr>
        <p:txBody>
          <a:bodyPr wrap="square">
            <a:spAutoFit/>
          </a:bodyPr>
          <a:lstStyle/>
          <a:p>
            <a:pPr algn="l"/>
            <a:r>
              <a:rPr sz="1100" b="0" i="0">
                <a:solidFill>
                  <a:srgbClr val="CADCFC"/>
                </a:solidFill>
              </a:rPr>
              <a:t>A staff member's computer (STEWIE-PC) was infected with ransomware after visiting a home improvement website that had been secretly hacked by attackers.</a:t>
            </a:r>
          </a:p>
        </p:txBody>
      </p:sp>
      <p:sp>
        <p:nvSpPr>
          <p:cNvPr id="9" name="Rectangle 8"/>
          <p:cNvSpPr/>
          <p:nvPr/>
        </p:nvSpPr>
        <p:spPr>
          <a:xfrm>
            <a:off x="274320" y="2542032"/>
            <a:ext cx="8732520" cy="105156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2615184"/>
            <a:ext cx="8458200" cy="292608"/>
          </a:xfrm>
          <a:prstGeom prst="rect">
            <a:avLst/>
          </a:prstGeom>
          <a:noFill/>
        </p:spPr>
        <p:txBody>
          <a:bodyPr wrap="square">
            <a:spAutoFit/>
          </a:bodyPr>
          <a:lstStyle/>
          <a:p>
            <a:pPr algn="l"/>
            <a:r>
              <a:rPr sz="1300" b="1" i="0">
                <a:solidFill>
                  <a:srgbClr val="FFFFFF"/>
                </a:solidFill>
              </a:rPr>
              <a:t>How did it happen?</a:t>
            </a:r>
          </a:p>
        </p:txBody>
      </p:sp>
      <p:sp>
        <p:nvSpPr>
          <p:cNvPr id="11" name="TextBox 10"/>
          <p:cNvSpPr txBox="1"/>
          <p:nvPr/>
        </p:nvSpPr>
        <p:spPr>
          <a:xfrm>
            <a:off x="438912" y="2880360"/>
            <a:ext cx="8458200" cy="640080"/>
          </a:xfrm>
          <a:prstGeom prst="rect">
            <a:avLst/>
          </a:prstGeom>
          <a:noFill/>
        </p:spPr>
        <p:txBody>
          <a:bodyPr wrap="square">
            <a:spAutoFit/>
          </a:bodyPr>
          <a:lstStyle/>
          <a:p>
            <a:pPr algn="l"/>
            <a:r>
              <a:rPr sz="1100" b="0" i="0">
                <a:solidFill>
                  <a:srgbClr val="CADCFC"/>
                </a:solidFill>
              </a:rPr>
              <a:t>The hacked website silently redirected the browser to a malicious server, which exploited Adobe Flash Player to automatically install the Cerber ransomware — without the user clicking anything suspicious.</a:t>
            </a:r>
          </a:p>
        </p:txBody>
      </p:sp>
      <p:sp>
        <p:nvSpPr>
          <p:cNvPr id="12" name="Rectangle 11"/>
          <p:cNvSpPr/>
          <p:nvPr/>
        </p:nvSpPr>
        <p:spPr>
          <a:xfrm>
            <a:off x="274320" y="3666744"/>
            <a:ext cx="8732520" cy="105156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 y="3739896"/>
            <a:ext cx="8458200" cy="292608"/>
          </a:xfrm>
          <a:prstGeom prst="rect">
            <a:avLst/>
          </a:prstGeom>
          <a:noFill/>
        </p:spPr>
        <p:txBody>
          <a:bodyPr wrap="square">
            <a:spAutoFit/>
          </a:bodyPr>
          <a:lstStyle/>
          <a:p>
            <a:pPr algn="l"/>
            <a:r>
              <a:rPr sz="1300" b="1" i="0">
                <a:solidFill>
                  <a:srgbClr val="FFFFFF"/>
                </a:solidFill>
              </a:rPr>
              <a:t>What did the ransomware do?</a:t>
            </a:r>
          </a:p>
        </p:txBody>
      </p:sp>
      <p:sp>
        <p:nvSpPr>
          <p:cNvPr id="14" name="TextBox 13"/>
          <p:cNvSpPr txBox="1"/>
          <p:nvPr/>
        </p:nvSpPr>
        <p:spPr>
          <a:xfrm>
            <a:off x="438912" y="4005072"/>
            <a:ext cx="8458200" cy="640080"/>
          </a:xfrm>
          <a:prstGeom prst="rect">
            <a:avLst/>
          </a:prstGeom>
          <a:noFill/>
        </p:spPr>
        <p:txBody>
          <a:bodyPr wrap="square">
            <a:spAutoFit/>
          </a:bodyPr>
          <a:lstStyle/>
          <a:p>
            <a:pPr algn="l"/>
            <a:r>
              <a:rPr sz="1100" b="0" i="0">
                <a:solidFill>
                  <a:srgbClr val="CADCFC"/>
                </a:solidFill>
              </a:rPr>
              <a:t>The ransomware encrypted the victim's files and displayed a payment page demanding cryptocurrency in exchange for the decryption key. It also sent information about the infected computer back to the attacker's servers.</a:t>
            </a:r>
          </a:p>
        </p:txBody>
      </p:sp>
      <p:sp>
        <p:nvSpPr>
          <p:cNvPr id="15" name="Rectangle 14"/>
          <p:cNvSpPr/>
          <p:nvPr/>
        </p:nvSpPr>
        <p:spPr>
          <a:xfrm>
            <a:off x="274320" y="4791456"/>
            <a:ext cx="8732520" cy="105156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 y="4864608"/>
            <a:ext cx="8458200" cy="292608"/>
          </a:xfrm>
          <a:prstGeom prst="rect">
            <a:avLst/>
          </a:prstGeom>
          <a:noFill/>
        </p:spPr>
        <p:txBody>
          <a:bodyPr wrap="square">
            <a:spAutoFit/>
          </a:bodyPr>
          <a:lstStyle/>
          <a:p>
            <a:pPr algn="l"/>
            <a:r>
              <a:rPr sz="1300" b="1" i="0">
                <a:solidFill>
                  <a:srgbClr val="FFFFFF"/>
                </a:solidFill>
              </a:rPr>
              <a:t>Was it contained?</a:t>
            </a:r>
          </a:p>
        </p:txBody>
      </p:sp>
      <p:sp>
        <p:nvSpPr>
          <p:cNvPr id="17" name="TextBox 16"/>
          <p:cNvSpPr txBox="1"/>
          <p:nvPr/>
        </p:nvSpPr>
        <p:spPr>
          <a:xfrm>
            <a:off x="438912" y="5129784"/>
            <a:ext cx="8458200" cy="640080"/>
          </a:xfrm>
          <a:prstGeom prst="rect">
            <a:avLst/>
          </a:prstGeom>
          <a:noFill/>
        </p:spPr>
        <p:txBody>
          <a:bodyPr wrap="square">
            <a:spAutoFit/>
          </a:bodyPr>
          <a:lstStyle/>
          <a:p>
            <a:pPr algn="l"/>
            <a:r>
              <a:rPr sz="1100" b="0" i="0">
                <a:solidFill>
                  <a:srgbClr val="CADCFC"/>
                </a:solidFill>
              </a:rPr>
              <a:t>Yes. No other computers on the internal network were affected. The infection was isolated to STEWIE-PC. However, the encrypted files may be unrecoverable without a clean backup.</a:t>
            </a:r>
          </a:p>
        </p:txBody>
      </p:sp>
      <p:sp>
        <p:nvSpPr>
          <p:cNvPr id="18" name="TextBox 17"/>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Conclusions</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Key findings proven through forensic analysis</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417320"/>
            <a:ext cx="54864" cy="64008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417320"/>
            <a:ext cx="86868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490472"/>
            <a:ext cx="8503920" cy="530352"/>
          </a:xfrm>
          <a:prstGeom prst="rect">
            <a:avLst/>
          </a:prstGeom>
          <a:noFill/>
        </p:spPr>
        <p:txBody>
          <a:bodyPr wrap="square">
            <a:spAutoFit/>
          </a:bodyPr>
          <a:lstStyle/>
          <a:p>
            <a:pPr algn="l"/>
            <a:r>
              <a:rPr sz="1100" b="0" i="0">
                <a:solidFill>
                  <a:srgbClr val="404040"/>
                </a:solidFill>
              </a:rPr>
              <a:t>✓  STEWIE-PC (172.16.4.193) was infected with Cerber ransomware on 2017-01-27 via a drive-by download attack, confirmed by Suricata, Wireshark, NetworkMiner, and VirusTotal.</a:t>
            </a:r>
          </a:p>
        </p:txBody>
      </p:sp>
      <p:sp>
        <p:nvSpPr>
          <p:cNvPr id="9" name="Rectangle 8"/>
          <p:cNvSpPr/>
          <p:nvPr/>
        </p:nvSpPr>
        <p:spPr>
          <a:xfrm>
            <a:off x="274320" y="2130552"/>
            <a:ext cx="54864" cy="64008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11480" y="2130552"/>
            <a:ext cx="86868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203704"/>
            <a:ext cx="8503920" cy="530352"/>
          </a:xfrm>
          <a:prstGeom prst="rect">
            <a:avLst/>
          </a:prstGeom>
          <a:noFill/>
        </p:spPr>
        <p:txBody>
          <a:bodyPr wrap="square">
            <a:spAutoFit/>
          </a:bodyPr>
          <a:lstStyle/>
          <a:p>
            <a:pPr algn="l"/>
            <a:r>
              <a:rPr sz="1100" b="0" i="0">
                <a:solidFill>
                  <a:srgbClr val="404040"/>
                </a:solidFill>
              </a:rPr>
              <a:t>✓  The infection vector was the RIG Exploit Kit delivered through a compromised WordPress site (homeimprovement.com) and an evil redirector (retrotip.visionurbana.com.ve).</a:t>
            </a:r>
          </a:p>
        </p:txBody>
      </p:sp>
      <p:sp>
        <p:nvSpPr>
          <p:cNvPr id="12" name="Rectangle 11"/>
          <p:cNvSpPr/>
          <p:nvPr/>
        </p:nvSpPr>
        <p:spPr>
          <a:xfrm>
            <a:off x="274320" y="2843784"/>
            <a:ext cx="54864" cy="64008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11480" y="2843784"/>
            <a:ext cx="86868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2916936"/>
            <a:ext cx="8503920" cy="530352"/>
          </a:xfrm>
          <a:prstGeom prst="rect">
            <a:avLst/>
          </a:prstGeom>
          <a:noFill/>
        </p:spPr>
        <p:txBody>
          <a:bodyPr wrap="square">
            <a:spAutoFit/>
          </a:bodyPr>
          <a:lstStyle/>
          <a:p>
            <a:pPr algn="l"/>
            <a:r>
              <a:rPr sz="1100" b="0" i="0">
                <a:solidFill>
                  <a:srgbClr val="404040"/>
                </a:solidFill>
              </a:rPr>
              <a:t>✓  Malicious files downloaded via HTTP: Windows executables (165kB ×2, 500kB) and Flash exploits (16kB ×3) from tyu.benme.com (194.87.234.129) — confirmed RIG EK C2 server.</a:t>
            </a:r>
          </a:p>
        </p:txBody>
      </p:sp>
      <p:sp>
        <p:nvSpPr>
          <p:cNvPr id="15" name="Rectangle 14"/>
          <p:cNvSpPr/>
          <p:nvPr/>
        </p:nvSpPr>
        <p:spPr>
          <a:xfrm>
            <a:off x="274320" y="3557016"/>
            <a:ext cx="54864" cy="64008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11480" y="3557016"/>
            <a:ext cx="86868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3630168"/>
            <a:ext cx="8503920" cy="530352"/>
          </a:xfrm>
          <a:prstGeom prst="rect">
            <a:avLst/>
          </a:prstGeom>
          <a:noFill/>
        </p:spPr>
        <p:txBody>
          <a:bodyPr wrap="square">
            <a:spAutoFit/>
          </a:bodyPr>
          <a:lstStyle/>
          <a:p>
            <a:pPr algn="l"/>
            <a:r>
              <a:rPr sz="1100" b="0" i="0">
                <a:solidFill>
                  <a:srgbClr val="404040"/>
                </a:solidFill>
              </a:rPr>
              <a:t>✓  The Cerber payment portal at p27dokhpz2n7nvgr.1jw2lx.top was fully loaded. Victim GUID EE7E-AD39-7D8C-080C-18BF was assigned and Bitcoin wallet 17gd1msp5FnMcEMF1Mit... was presented.</a:t>
            </a:r>
          </a:p>
        </p:txBody>
      </p:sp>
      <p:sp>
        <p:nvSpPr>
          <p:cNvPr id="18" name="Rectangle 17"/>
          <p:cNvSpPr/>
          <p:nvPr/>
        </p:nvSpPr>
        <p:spPr>
          <a:xfrm>
            <a:off x="274320" y="4270248"/>
            <a:ext cx="54864" cy="64008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11480" y="4270248"/>
            <a:ext cx="86868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4343400"/>
            <a:ext cx="8503920" cy="530352"/>
          </a:xfrm>
          <a:prstGeom prst="rect">
            <a:avLst/>
          </a:prstGeom>
          <a:noFill/>
        </p:spPr>
        <p:txBody>
          <a:bodyPr wrap="square">
            <a:spAutoFit/>
          </a:bodyPr>
          <a:lstStyle/>
          <a:p>
            <a:pPr algn="l"/>
            <a:r>
              <a:rPr sz="1100" b="0" i="0">
                <a:solidFill>
                  <a:srgbClr val="404040"/>
                </a:solidFill>
              </a:rPr>
              <a:t>✓  Browser fingerprint and system info were exfiltrated to the C2 server via encoded GET parameters. External IP identified via msftncsi.com (Windows auto-check).</a:t>
            </a:r>
          </a:p>
        </p:txBody>
      </p:sp>
      <p:sp>
        <p:nvSpPr>
          <p:cNvPr id="21" name="Rectangle 20"/>
          <p:cNvSpPr/>
          <p:nvPr/>
        </p:nvSpPr>
        <p:spPr>
          <a:xfrm>
            <a:off x="274320" y="4983480"/>
            <a:ext cx="54864" cy="64008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11480" y="4983480"/>
            <a:ext cx="8686800" cy="640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5056632"/>
            <a:ext cx="8503920" cy="530352"/>
          </a:xfrm>
          <a:prstGeom prst="rect">
            <a:avLst/>
          </a:prstGeom>
          <a:noFill/>
        </p:spPr>
        <p:txBody>
          <a:bodyPr wrap="square">
            <a:spAutoFit/>
          </a:bodyPr>
          <a:lstStyle/>
          <a:p>
            <a:pPr algn="l"/>
            <a:r>
              <a:rPr sz="1100" b="0" i="0">
                <a:solidFill>
                  <a:srgbClr val="404040"/>
                </a:solidFill>
              </a:rPr>
              <a:t>✓  No lateral movement detected. Infection contained to a single machine on the 172.16.4.0/24 network. False positive probability: extremely low — multiple independent signatures corroborate.</a:t>
            </a:r>
          </a:p>
        </p:txBody>
      </p:sp>
      <p:sp>
        <p:nvSpPr>
          <p:cNvPr id="24" name="TextBox 23"/>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Recommendations</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Remediation steps tied to specific findings</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417320"/>
            <a:ext cx="4297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28600" y="1417320"/>
            <a:ext cx="36576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 y="1801368"/>
            <a:ext cx="365760" cy="411480"/>
          </a:xfrm>
          <a:prstGeom prst="rect">
            <a:avLst/>
          </a:prstGeom>
          <a:noFill/>
        </p:spPr>
        <p:txBody>
          <a:bodyPr wrap="square">
            <a:spAutoFit/>
          </a:bodyPr>
          <a:lstStyle/>
          <a:p>
            <a:pPr algn="ctr"/>
            <a:r>
              <a:rPr sz="1800" b="1" i="0">
                <a:solidFill>
                  <a:srgbClr val="FFFFFF"/>
                </a:solidFill>
              </a:rPr>
              <a:t>1</a:t>
            </a:r>
          </a:p>
        </p:txBody>
      </p:sp>
      <p:sp>
        <p:nvSpPr>
          <p:cNvPr id="9" name="TextBox 8"/>
          <p:cNvSpPr txBox="1"/>
          <p:nvPr/>
        </p:nvSpPr>
        <p:spPr>
          <a:xfrm>
            <a:off x="685800" y="1490472"/>
            <a:ext cx="3749040" cy="320040"/>
          </a:xfrm>
          <a:prstGeom prst="rect">
            <a:avLst/>
          </a:prstGeom>
          <a:noFill/>
        </p:spPr>
        <p:txBody>
          <a:bodyPr wrap="square">
            <a:spAutoFit/>
          </a:bodyPr>
          <a:lstStyle/>
          <a:p>
            <a:pPr algn="l"/>
            <a:r>
              <a:rPr sz="1200" b="1" i="0">
                <a:solidFill>
                  <a:srgbClr val="0E2841"/>
                </a:solidFill>
              </a:rPr>
              <a:t>Isolate &amp; Reimage STEWIE-PC</a:t>
            </a:r>
          </a:p>
        </p:txBody>
      </p:sp>
      <p:sp>
        <p:nvSpPr>
          <p:cNvPr id="10" name="TextBox 9"/>
          <p:cNvSpPr txBox="1"/>
          <p:nvPr/>
        </p:nvSpPr>
        <p:spPr>
          <a:xfrm>
            <a:off x="685800" y="1801368"/>
            <a:ext cx="3749040" cy="758952"/>
          </a:xfrm>
          <a:prstGeom prst="rect">
            <a:avLst/>
          </a:prstGeom>
          <a:noFill/>
        </p:spPr>
        <p:txBody>
          <a:bodyPr wrap="square">
            <a:spAutoFit/>
          </a:bodyPr>
          <a:lstStyle/>
          <a:p>
            <a:pPr algn="l"/>
            <a:r>
              <a:rPr sz="950" b="0" i="0">
                <a:solidFill>
                  <a:srgbClr val="404040"/>
                </a:solidFill>
              </a:rPr>
              <a:t>Finding: Cerber confirmed. Immediately isolate 172.16.4.193 from the network. Wipe and reimage — do not attempt decryption without validated backups.</a:t>
            </a:r>
          </a:p>
        </p:txBody>
      </p:sp>
      <p:sp>
        <p:nvSpPr>
          <p:cNvPr id="11" name="Rectangle 10"/>
          <p:cNvSpPr/>
          <p:nvPr/>
        </p:nvSpPr>
        <p:spPr>
          <a:xfrm>
            <a:off x="4709160" y="1417320"/>
            <a:ext cx="4297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709160" y="1417320"/>
            <a:ext cx="36576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09160" y="1801368"/>
            <a:ext cx="365760" cy="411480"/>
          </a:xfrm>
          <a:prstGeom prst="rect">
            <a:avLst/>
          </a:prstGeom>
          <a:noFill/>
        </p:spPr>
        <p:txBody>
          <a:bodyPr wrap="square">
            <a:spAutoFit/>
          </a:bodyPr>
          <a:lstStyle/>
          <a:p>
            <a:pPr algn="ctr"/>
            <a:r>
              <a:rPr sz="1800" b="1" i="0">
                <a:solidFill>
                  <a:srgbClr val="FFFFFF"/>
                </a:solidFill>
              </a:rPr>
              <a:t>2</a:t>
            </a:r>
          </a:p>
        </p:txBody>
      </p:sp>
      <p:sp>
        <p:nvSpPr>
          <p:cNvPr id="14" name="TextBox 13"/>
          <p:cNvSpPr txBox="1"/>
          <p:nvPr/>
        </p:nvSpPr>
        <p:spPr>
          <a:xfrm>
            <a:off x="5166360" y="1490472"/>
            <a:ext cx="3749040" cy="320040"/>
          </a:xfrm>
          <a:prstGeom prst="rect">
            <a:avLst/>
          </a:prstGeom>
          <a:noFill/>
        </p:spPr>
        <p:txBody>
          <a:bodyPr wrap="square">
            <a:spAutoFit/>
          </a:bodyPr>
          <a:lstStyle/>
          <a:p>
            <a:pPr algn="l"/>
            <a:r>
              <a:rPr sz="1200" b="1" i="0">
                <a:solidFill>
                  <a:srgbClr val="0E2841"/>
                </a:solidFill>
              </a:rPr>
              <a:t>Block Malicious IPs &amp; Domains</a:t>
            </a:r>
          </a:p>
        </p:txBody>
      </p:sp>
      <p:sp>
        <p:nvSpPr>
          <p:cNvPr id="15" name="TextBox 14"/>
          <p:cNvSpPr txBox="1"/>
          <p:nvPr/>
        </p:nvSpPr>
        <p:spPr>
          <a:xfrm>
            <a:off x="5166360" y="1801368"/>
            <a:ext cx="3749040" cy="758952"/>
          </a:xfrm>
          <a:prstGeom prst="rect">
            <a:avLst/>
          </a:prstGeom>
          <a:noFill/>
        </p:spPr>
        <p:txBody>
          <a:bodyPr wrap="square">
            <a:spAutoFit/>
          </a:bodyPr>
          <a:lstStyle/>
          <a:p>
            <a:pPr algn="l"/>
            <a:r>
              <a:rPr sz="950" b="0" i="0">
                <a:solidFill>
                  <a:srgbClr val="404040"/>
                </a:solidFill>
              </a:rPr>
              <a:t>Finding: Multiple C2 servers identified. Block 194.87.234.129, 198.105.121.50, 139.59.160.143 and domains spotsbill.com, tyu.benme.com at perimeter firewall and DNS.</a:t>
            </a:r>
          </a:p>
        </p:txBody>
      </p:sp>
      <p:sp>
        <p:nvSpPr>
          <p:cNvPr id="16" name="Rectangle 15"/>
          <p:cNvSpPr/>
          <p:nvPr/>
        </p:nvSpPr>
        <p:spPr>
          <a:xfrm>
            <a:off x="228600" y="2743200"/>
            <a:ext cx="4297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28600" y="2743200"/>
            <a:ext cx="36576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28600" y="3127248"/>
            <a:ext cx="365760" cy="411480"/>
          </a:xfrm>
          <a:prstGeom prst="rect">
            <a:avLst/>
          </a:prstGeom>
          <a:noFill/>
        </p:spPr>
        <p:txBody>
          <a:bodyPr wrap="square">
            <a:spAutoFit/>
          </a:bodyPr>
          <a:lstStyle/>
          <a:p>
            <a:pPr algn="ctr"/>
            <a:r>
              <a:rPr sz="1800" b="1" i="0">
                <a:solidFill>
                  <a:srgbClr val="FFFFFF"/>
                </a:solidFill>
              </a:rPr>
              <a:t>3</a:t>
            </a:r>
          </a:p>
        </p:txBody>
      </p:sp>
      <p:sp>
        <p:nvSpPr>
          <p:cNvPr id="19" name="TextBox 18"/>
          <p:cNvSpPr txBox="1"/>
          <p:nvPr/>
        </p:nvSpPr>
        <p:spPr>
          <a:xfrm>
            <a:off x="685800" y="2816352"/>
            <a:ext cx="3749040" cy="320040"/>
          </a:xfrm>
          <a:prstGeom prst="rect">
            <a:avLst/>
          </a:prstGeom>
          <a:noFill/>
        </p:spPr>
        <p:txBody>
          <a:bodyPr wrap="square">
            <a:spAutoFit/>
          </a:bodyPr>
          <a:lstStyle/>
          <a:p>
            <a:pPr algn="l"/>
            <a:r>
              <a:rPr sz="1200" b="1" i="0">
                <a:solidFill>
                  <a:srgbClr val="0E2841"/>
                </a:solidFill>
              </a:rPr>
              <a:t>Disable Adobe Flash Player</a:t>
            </a:r>
          </a:p>
        </p:txBody>
      </p:sp>
      <p:sp>
        <p:nvSpPr>
          <p:cNvPr id="20" name="TextBox 19"/>
          <p:cNvSpPr txBox="1"/>
          <p:nvPr/>
        </p:nvSpPr>
        <p:spPr>
          <a:xfrm>
            <a:off x="685800" y="3127248"/>
            <a:ext cx="3749040" cy="758952"/>
          </a:xfrm>
          <a:prstGeom prst="rect">
            <a:avLst/>
          </a:prstGeom>
          <a:noFill/>
        </p:spPr>
        <p:txBody>
          <a:bodyPr wrap="square">
            <a:spAutoFit/>
          </a:bodyPr>
          <a:lstStyle/>
          <a:p>
            <a:pPr algn="l"/>
            <a:r>
              <a:rPr sz="950" b="0" i="0">
                <a:solidFill>
                  <a:srgbClr val="404040"/>
                </a:solidFill>
              </a:rPr>
              <a:t>Finding: Flash exploit used by RIG EK. Flash is the primary attack vector. Disable or remove Flash Player across all endpoints — it reached end-of-life in December 2020.</a:t>
            </a:r>
          </a:p>
        </p:txBody>
      </p:sp>
      <p:sp>
        <p:nvSpPr>
          <p:cNvPr id="21" name="Rectangle 20"/>
          <p:cNvSpPr/>
          <p:nvPr/>
        </p:nvSpPr>
        <p:spPr>
          <a:xfrm>
            <a:off x="4709160" y="2743200"/>
            <a:ext cx="4297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09160" y="2743200"/>
            <a:ext cx="36576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09160" y="3127248"/>
            <a:ext cx="365760" cy="411480"/>
          </a:xfrm>
          <a:prstGeom prst="rect">
            <a:avLst/>
          </a:prstGeom>
          <a:noFill/>
        </p:spPr>
        <p:txBody>
          <a:bodyPr wrap="square">
            <a:spAutoFit/>
          </a:bodyPr>
          <a:lstStyle/>
          <a:p>
            <a:pPr algn="ctr"/>
            <a:r>
              <a:rPr sz="1800" b="1" i="0">
                <a:solidFill>
                  <a:srgbClr val="FFFFFF"/>
                </a:solidFill>
              </a:rPr>
              <a:t>4</a:t>
            </a:r>
          </a:p>
        </p:txBody>
      </p:sp>
      <p:sp>
        <p:nvSpPr>
          <p:cNvPr id="24" name="TextBox 23"/>
          <p:cNvSpPr txBox="1"/>
          <p:nvPr/>
        </p:nvSpPr>
        <p:spPr>
          <a:xfrm>
            <a:off x="5166360" y="2816352"/>
            <a:ext cx="3749040" cy="320040"/>
          </a:xfrm>
          <a:prstGeom prst="rect">
            <a:avLst/>
          </a:prstGeom>
          <a:noFill/>
        </p:spPr>
        <p:txBody>
          <a:bodyPr wrap="square">
            <a:spAutoFit/>
          </a:bodyPr>
          <a:lstStyle/>
          <a:p>
            <a:pPr algn="l"/>
            <a:r>
              <a:rPr sz="1200" b="1" i="0">
                <a:solidFill>
                  <a:srgbClr val="0E2841"/>
                </a:solidFill>
              </a:rPr>
              <a:t>Block .exe Downloads via HTTP</a:t>
            </a:r>
          </a:p>
        </p:txBody>
      </p:sp>
      <p:sp>
        <p:nvSpPr>
          <p:cNvPr id="25" name="TextBox 24"/>
          <p:cNvSpPr txBox="1"/>
          <p:nvPr/>
        </p:nvSpPr>
        <p:spPr>
          <a:xfrm>
            <a:off x="5166360" y="3127248"/>
            <a:ext cx="3749040" cy="758952"/>
          </a:xfrm>
          <a:prstGeom prst="rect">
            <a:avLst/>
          </a:prstGeom>
          <a:noFill/>
        </p:spPr>
        <p:txBody>
          <a:bodyPr wrap="square">
            <a:spAutoFit/>
          </a:bodyPr>
          <a:lstStyle/>
          <a:p>
            <a:pPr algn="l"/>
            <a:r>
              <a:rPr sz="950" b="0" i="0">
                <a:solidFill>
                  <a:srgbClr val="404040"/>
                </a:solidFill>
              </a:rPr>
              <a:t>Finding: Malware delivered unencrypted. Implement HTTP content inspection to block application/x-msdownload transfers. Enforce HTTPS-only browsing policies.</a:t>
            </a:r>
          </a:p>
        </p:txBody>
      </p:sp>
      <p:sp>
        <p:nvSpPr>
          <p:cNvPr id="26" name="Rectangle 25"/>
          <p:cNvSpPr/>
          <p:nvPr/>
        </p:nvSpPr>
        <p:spPr>
          <a:xfrm>
            <a:off x="228600" y="4069080"/>
            <a:ext cx="4297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28600" y="4069080"/>
            <a:ext cx="36576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28600" y="4453128"/>
            <a:ext cx="365760" cy="411480"/>
          </a:xfrm>
          <a:prstGeom prst="rect">
            <a:avLst/>
          </a:prstGeom>
          <a:noFill/>
        </p:spPr>
        <p:txBody>
          <a:bodyPr wrap="square">
            <a:spAutoFit/>
          </a:bodyPr>
          <a:lstStyle/>
          <a:p>
            <a:pPr algn="ctr"/>
            <a:r>
              <a:rPr sz="1800" b="1" i="0">
                <a:solidFill>
                  <a:srgbClr val="FFFFFF"/>
                </a:solidFill>
              </a:rPr>
              <a:t>5</a:t>
            </a:r>
          </a:p>
        </p:txBody>
      </p:sp>
      <p:sp>
        <p:nvSpPr>
          <p:cNvPr id="29" name="TextBox 28"/>
          <p:cNvSpPr txBox="1"/>
          <p:nvPr/>
        </p:nvSpPr>
        <p:spPr>
          <a:xfrm>
            <a:off x="685800" y="4142232"/>
            <a:ext cx="3749040" cy="320040"/>
          </a:xfrm>
          <a:prstGeom prst="rect">
            <a:avLst/>
          </a:prstGeom>
          <a:noFill/>
        </p:spPr>
        <p:txBody>
          <a:bodyPr wrap="square">
            <a:spAutoFit/>
          </a:bodyPr>
          <a:lstStyle/>
          <a:p>
            <a:pPr algn="l"/>
            <a:r>
              <a:rPr sz="1200" b="1" i="0">
                <a:solidFill>
                  <a:srgbClr val="0E2841"/>
                </a:solidFill>
              </a:rPr>
              <a:t>Enable DNS Filtering for .top TLD</a:t>
            </a:r>
          </a:p>
        </p:txBody>
      </p:sp>
      <p:sp>
        <p:nvSpPr>
          <p:cNvPr id="30" name="TextBox 29"/>
          <p:cNvSpPr txBox="1"/>
          <p:nvPr/>
        </p:nvSpPr>
        <p:spPr>
          <a:xfrm>
            <a:off x="685800" y="4453128"/>
            <a:ext cx="3749040" cy="758952"/>
          </a:xfrm>
          <a:prstGeom prst="rect">
            <a:avLst/>
          </a:prstGeom>
          <a:noFill/>
        </p:spPr>
        <p:txBody>
          <a:bodyPr wrap="square">
            <a:spAutoFit/>
          </a:bodyPr>
          <a:lstStyle/>
          <a:p>
            <a:pPr algn="l"/>
            <a:r>
              <a:rPr sz="950" b="0" i="0">
                <a:solidFill>
                  <a:srgbClr val="404040"/>
                </a:solidFill>
              </a:rPr>
              <a:t>Finding: Ransomware used .top domain. Alert on or block first-seen .top domain queries. The .top TLD is heavily abused and rarely required by legitimate end users.</a:t>
            </a:r>
          </a:p>
        </p:txBody>
      </p:sp>
      <p:sp>
        <p:nvSpPr>
          <p:cNvPr id="31" name="Rectangle 30"/>
          <p:cNvSpPr/>
          <p:nvPr/>
        </p:nvSpPr>
        <p:spPr>
          <a:xfrm>
            <a:off x="4709160" y="4069080"/>
            <a:ext cx="4297680" cy="12344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709160" y="4069080"/>
            <a:ext cx="36576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09160" y="4453128"/>
            <a:ext cx="365760" cy="411480"/>
          </a:xfrm>
          <a:prstGeom prst="rect">
            <a:avLst/>
          </a:prstGeom>
          <a:noFill/>
        </p:spPr>
        <p:txBody>
          <a:bodyPr wrap="square">
            <a:spAutoFit/>
          </a:bodyPr>
          <a:lstStyle/>
          <a:p>
            <a:pPr algn="ctr"/>
            <a:r>
              <a:rPr sz="1800" b="1" i="0">
                <a:solidFill>
                  <a:srgbClr val="FFFFFF"/>
                </a:solidFill>
              </a:rPr>
              <a:t>6</a:t>
            </a:r>
          </a:p>
        </p:txBody>
      </p:sp>
      <p:sp>
        <p:nvSpPr>
          <p:cNvPr id="34" name="TextBox 33"/>
          <p:cNvSpPr txBox="1"/>
          <p:nvPr/>
        </p:nvSpPr>
        <p:spPr>
          <a:xfrm>
            <a:off x="5166360" y="4142232"/>
            <a:ext cx="3749040" cy="320040"/>
          </a:xfrm>
          <a:prstGeom prst="rect">
            <a:avLst/>
          </a:prstGeom>
          <a:noFill/>
        </p:spPr>
        <p:txBody>
          <a:bodyPr wrap="square">
            <a:spAutoFit/>
          </a:bodyPr>
          <a:lstStyle/>
          <a:p>
            <a:pPr algn="l"/>
            <a:r>
              <a:rPr sz="1200" b="1" i="0">
                <a:solidFill>
                  <a:srgbClr val="0E2841"/>
                </a:solidFill>
              </a:rPr>
              <a:t>Conduct Enterprise-Wide IOC Sweep</a:t>
            </a:r>
          </a:p>
        </p:txBody>
      </p:sp>
      <p:sp>
        <p:nvSpPr>
          <p:cNvPr id="35" name="TextBox 34"/>
          <p:cNvSpPr txBox="1"/>
          <p:nvPr/>
        </p:nvSpPr>
        <p:spPr>
          <a:xfrm>
            <a:off x="5166360" y="4453128"/>
            <a:ext cx="3749040" cy="758952"/>
          </a:xfrm>
          <a:prstGeom prst="rect">
            <a:avLst/>
          </a:prstGeom>
          <a:noFill/>
        </p:spPr>
        <p:txBody>
          <a:bodyPr wrap="square">
            <a:spAutoFit/>
          </a:bodyPr>
          <a:lstStyle/>
          <a:p>
            <a:pPr algn="l"/>
            <a:r>
              <a:rPr sz="950" b="0" i="0">
                <a:solidFill>
                  <a:srgbClr val="404040"/>
                </a:solidFill>
              </a:rPr>
              <a:t>Finding: Cerber may have spread via shared drives. Search all endpoints for Cerber artifacts (encrypted file extensions, registry persistence keys) using extracted IOCs.</a:t>
            </a:r>
          </a:p>
        </p:txBody>
      </p:sp>
      <p:sp>
        <p:nvSpPr>
          <p:cNvPr id="36" name="TextBox 35"/>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234440"/>
          </a:xfrm>
          <a:prstGeom prst="rect">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11460480" cy="640080"/>
          </a:xfrm>
          <a:prstGeom prst="rect">
            <a:avLst/>
          </a:prstGeom>
          <a:noFill/>
        </p:spPr>
        <p:txBody>
          <a:bodyPr wrap="square">
            <a:spAutoFit/>
          </a:bodyPr>
          <a:lstStyle/>
          <a:p>
            <a:pPr algn="l"/>
            <a:r>
              <a:rPr sz="3200" b="1" i="0">
                <a:solidFill>
                  <a:srgbClr val="FFFFFF"/>
                </a:solidFill>
              </a:rPr>
              <a:t>References</a:t>
            </a:r>
          </a:p>
        </p:txBody>
      </p:sp>
      <p:sp>
        <p:nvSpPr>
          <p:cNvPr id="4" name="TextBox 3"/>
          <p:cNvSpPr txBox="1"/>
          <p:nvPr/>
        </p:nvSpPr>
        <p:spPr>
          <a:xfrm>
            <a:off x="365760" y="713232"/>
            <a:ext cx="11460480" cy="411480"/>
          </a:xfrm>
          <a:prstGeom prst="rect">
            <a:avLst/>
          </a:prstGeom>
          <a:noFill/>
        </p:spPr>
        <p:txBody>
          <a:bodyPr wrap="square">
            <a:spAutoFit/>
          </a:bodyPr>
          <a:lstStyle/>
          <a:p>
            <a:pPr algn="l"/>
            <a:r>
              <a:rPr sz="1400" b="0" i="0">
                <a:solidFill>
                  <a:srgbClr val="CADCFC"/>
                </a:solidFill>
              </a:rPr>
              <a:t>Tools, documentation, and authoritative sources</a:t>
            </a:r>
          </a:p>
        </p:txBody>
      </p:sp>
      <p:sp>
        <p:nvSpPr>
          <p:cNvPr id="5" name="Rectangle 4"/>
          <p:cNvSpPr/>
          <p:nvPr/>
        </p:nvSpPr>
        <p:spPr>
          <a:xfrm>
            <a:off x="0" y="1234440"/>
            <a:ext cx="12192000" cy="4114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389888"/>
            <a:ext cx="54864"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0624" y="1389888"/>
            <a:ext cx="8641080" cy="237744"/>
          </a:xfrm>
          <a:prstGeom prst="rect">
            <a:avLst/>
          </a:prstGeom>
          <a:noFill/>
        </p:spPr>
        <p:txBody>
          <a:bodyPr wrap="square">
            <a:spAutoFit/>
          </a:bodyPr>
          <a:lstStyle/>
          <a:p>
            <a:pPr algn="l"/>
            <a:r>
              <a:rPr sz="1100" b="1" i="0">
                <a:solidFill>
                  <a:srgbClr val="0E2841"/>
                </a:solidFill>
              </a:rPr>
              <a:t>Emerging Threats Ruleset (2025)</a:t>
            </a:r>
          </a:p>
        </p:txBody>
      </p:sp>
      <p:sp>
        <p:nvSpPr>
          <p:cNvPr id="8" name="TextBox 7"/>
          <p:cNvSpPr txBox="1"/>
          <p:nvPr/>
        </p:nvSpPr>
        <p:spPr>
          <a:xfrm>
            <a:off x="420624" y="1627632"/>
            <a:ext cx="8641080" cy="274320"/>
          </a:xfrm>
          <a:prstGeom prst="rect">
            <a:avLst/>
          </a:prstGeom>
          <a:noFill/>
        </p:spPr>
        <p:txBody>
          <a:bodyPr wrap="square">
            <a:spAutoFit/>
          </a:bodyPr>
          <a:lstStyle/>
          <a:p>
            <a:pPr algn="l"/>
            <a:r>
              <a:rPr sz="1000" b="0" i="0">
                <a:solidFill>
                  <a:srgbClr val="404040"/>
                </a:solidFill>
              </a:rPr>
              <a:t>ET EXPLOIT_KIT RIG EK URI Struct / ET MALWARE Ransomware/Cerber / ET MALWARE DNS Domain Lookup — Suricata IDS signatures used for alert triage.</a:t>
            </a:r>
          </a:p>
        </p:txBody>
      </p:sp>
      <p:sp>
        <p:nvSpPr>
          <p:cNvPr id="9" name="Rectangle 8"/>
          <p:cNvSpPr/>
          <p:nvPr/>
        </p:nvSpPr>
        <p:spPr>
          <a:xfrm>
            <a:off x="274320" y="1956816"/>
            <a:ext cx="54864"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0624" y="1956816"/>
            <a:ext cx="8641080" cy="237744"/>
          </a:xfrm>
          <a:prstGeom prst="rect">
            <a:avLst/>
          </a:prstGeom>
          <a:noFill/>
        </p:spPr>
        <p:txBody>
          <a:bodyPr wrap="square">
            <a:spAutoFit/>
          </a:bodyPr>
          <a:lstStyle/>
          <a:p>
            <a:pPr algn="l"/>
            <a:r>
              <a:rPr sz="1100" b="1" i="0">
                <a:solidFill>
                  <a:srgbClr val="0E2841"/>
                </a:solidFill>
              </a:rPr>
              <a:t>VirusTotal (2025)</a:t>
            </a:r>
          </a:p>
        </p:txBody>
      </p:sp>
      <p:sp>
        <p:nvSpPr>
          <p:cNvPr id="11" name="TextBox 10"/>
          <p:cNvSpPr txBox="1"/>
          <p:nvPr/>
        </p:nvSpPr>
        <p:spPr>
          <a:xfrm>
            <a:off x="420624" y="2194560"/>
            <a:ext cx="8641080" cy="274320"/>
          </a:xfrm>
          <a:prstGeom prst="rect">
            <a:avLst/>
          </a:prstGeom>
          <a:noFill/>
        </p:spPr>
        <p:txBody>
          <a:bodyPr wrap="square">
            <a:spAutoFit/>
          </a:bodyPr>
          <a:lstStyle/>
          <a:p>
            <a:pPr algn="l"/>
            <a:r>
              <a:rPr sz="1000" b="0" i="0">
                <a:solidFill>
                  <a:srgbClr val="404040"/>
                </a:solidFill>
              </a:rPr>
              <a:t>IP and domain analysis reports for: 194.87.234.129, 139.59.160.143, 5.188.223.104, 198.105.121.50, p27dokhpz2n7nvgr.1jw2lx.top, benme.com, spotsbill.com.</a:t>
            </a:r>
          </a:p>
        </p:txBody>
      </p:sp>
      <p:sp>
        <p:nvSpPr>
          <p:cNvPr id="12" name="Rectangle 11"/>
          <p:cNvSpPr/>
          <p:nvPr/>
        </p:nvSpPr>
        <p:spPr>
          <a:xfrm>
            <a:off x="274320" y="2523744"/>
            <a:ext cx="54864"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0624" y="2523744"/>
            <a:ext cx="8641080" cy="237744"/>
          </a:xfrm>
          <a:prstGeom prst="rect">
            <a:avLst/>
          </a:prstGeom>
          <a:noFill/>
        </p:spPr>
        <p:txBody>
          <a:bodyPr wrap="square">
            <a:spAutoFit/>
          </a:bodyPr>
          <a:lstStyle/>
          <a:p>
            <a:pPr algn="l"/>
            <a:r>
              <a:rPr sz="1100" b="1" i="0">
                <a:solidFill>
                  <a:srgbClr val="0E2841"/>
                </a:solidFill>
              </a:rPr>
              <a:t>MITRE ATT&amp;CK Framework (2025)</a:t>
            </a:r>
          </a:p>
        </p:txBody>
      </p:sp>
      <p:sp>
        <p:nvSpPr>
          <p:cNvPr id="14" name="TextBox 13"/>
          <p:cNvSpPr txBox="1"/>
          <p:nvPr/>
        </p:nvSpPr>
        <p:spPr>
          <a:xfrm>
            <a:off x="420624" y="2761488"/>
            <a:ext cx="8641080" cy="274320"/>
          </a:xfrm>
          <a:prstGeom prst="rect">
            <a:avLst/>
          </a:prstGeom>
          <a:noFill/>
        </p:spPr>
        <p:txBody>
          <a:bodyPr wrap="square">
            <a:spAutoFit/>
          </a:bodyPr>
          <a:lstStyle/>
          <a:p>
            <a:pPr algn="l"/>
            <a:r>
              <a:rPr sz="1000" b="0" i="0">
                <a:solidFill>
                  <a:srgbClr val="404040"/>
                </a:solidFill>
              </a:rPr>
              <a:t>T1189: Drive-by Compromise; T1203: Exploitation for Client Execution; T1071: Application Layer Protocol; T1486: Data Encrypted for Impact; TA0040: Impact.</a:t>
            </a:r>
          </a:p>
        </p:txBody>
      </p:sp>
      <p:sp>
        <p:nvSpPr>
          <p:cNvPr id="15" name="Rectangle 14"/>
          <p:cNvSpPr/>
          <p:nvPr/>
        </p:nvSpPr>
        <p:spPr>
          <a:xfrm>
            <a:off x="274320" y="3090672"/>
            <a:ext cx="54864"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0624" y="3090672"/>
            <a:ext cx="8641080" cy="237744"/>
          </a:xfrm>
          <a:prstGeom prst="rect">
            <a:avLst/>
          </a:prstGeom>
          <a:noFill/>
        </p:spPr>
        <p:txBody>
          <a:bodyPr wrap="square">
            <a:spAutoFit/>
          </a:bodyPr>
          <a:lstStyle/>
          <a:p>
            <a:pPr algn="l"/>
            <a:r>
              <a:rPr sz="1100" b="1" i="0">
                <a:solidFill>
                  <a:srgbClr val="0E2841"/>
                </a:solidFill>
              </a:rPr>
              <a:t>Cisco Talos Intelligence Group</a:t>
            </a:r>
          </a:p>
        </p:txBody>
      </p:sp>
      <p:sp>
        <p:nvSpPr>
          <p:cNvPr id="17" name="TextBox 16"/>
          <p:cNvSpPr txBox="1"/>
          <p:nvPr/>
        </p:nvSpPr>
        <p:spPr>
          <a:xfrm>
            <a:off x="420624" y="3328416"/>
            <a:ext cx="8641080" cy="274320"/>
          </a:xfrm>
          <a:prstGeom prst="rect">
            <a:avLst/>
          </a:prstGeom>
          <a:noFill/>
        </p:spPr>
        <p:txBody>
          <a:bodyPr wrap="square">
            <a:spAutoFit/>
          </a:bodyPr>
          <a:lstStyle/>
          <a:p>
            <a:pPr algn="l"/>
            <a:r>
              <a:rPr sz="1000" b="0" i="0">
                <a:solidFill>
                  <a:srgbClr val="404040"/>
                </a:solidFill>
              </a:rPr>
              <a:t>RIG Exploit Kit — threat summary, indicators, and C2 infrastructure documentation. Available at: talosintelligence.com</a:t>
            </a:r>
          </a:p>
        </p:txBody>
      </p:sp>
      <p:sp>
        <p:nvSpPr>
          <p:cNvPr id="18" name="Rectangle 17"/>
          <p:cNvSpPr/>
          <p:nvPr/>
        </p:nvSpPr>
        <p:spPr>
          <a:xfrm>
            <a:off x="274320" y="3657600"/>
            <a:ext cx="54864"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0624" y="3657600"/>
            <a:ext cx="8641080" cy="237744"/>
          </a:xfrm>
          <a:prstGeom prst="rect">
            <a:avLst/>
          </a:prstGeom>
          <a:noFill/>
        </p:spPr>
        <p:txBody>
          <a:bodyPr wrap="square">
            <a:spAutoFit/>
          </a:bodyPr>
          <a:lstStyle/>
          <a:p>
            <a:pPr algn="l"/>
            <a:r>
              <a:rPr sz="1100" b="1" i="0">
                <a:solidFill>
                  <a:srgbClr val="0E2841"/>
                </a:solidFill>
              </a:rPr>
              <a:t>Wireshark Foundation (2025)</a:t>
            </a:r>
          </a:p>
        </p:txBody>
      </p:sp>
      <p:sp>
        <p:nvSpPr>
          <p:cNvPr id="20" name="TextBox 19"/>
          <p:cNvSpPr txBox="1"/>
          <p:nvPr/>
        </p:nvSpPr>
        <p:spPr>
          <a:xfrm>
            <a:off x="420624" y="3895344"/>
            <a:ext cx="8641080" cy="274320"/>
          </a:xfrm>
          <a:prstGeom prst="rect">
            <a:avLst/>
          </a:prstGeom>
          <a:noFill/>
        </p:spPr>
        <p:txBody>
          <a:bodyPr wrap="square">
            <a:spAutoFit/>
          </a:bodyPr>
          <a:lstStyle/>
          <a:p>
            <a:pPr algn="l"/>
            <a:r>
              <a:rPr sz="1000" b="0" i="0">
                <a:solidFill>
                  <a:srgbClr val="404040"/>
                </a:solidFill>
              </a:rPr>
              <a:t>Wireshark Display Filter Reference and HTTP Object Export documentation. Available at: wireshark.org</a:t>
            </a:r>
          </a:p>
        </p:txBody>
      </p:sp>
      <p:sp>
        <p:nvSpPr>
          <p:cNvPr id="21" name="Rectangle 20"/>
          <p:cNvSpPr/>
          <p:nvPr/>
        </p:nvSpPr>
        <p:spPr>
          <a:xfrm>
            <a:off x="274320" y="4224528"/>
            <a:ext cx="54864"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0624" y="4224528"/>
            <a:ext cx="8641080" cy="237744"/>
          </a:xfrm>
          <a:prstGeom prst="rect">
            <a:avLst/>
          </a:prstGeom>
          <a:noFill/>
        </p:spPr>
        <p:txBody>
          <a:bodyPr wrap="square">
            <a:spAutoFit/>
          </a:bodyPr>
          <a:lstStyle/>
          <a:p>
            <a:pPr algn="l"/>
            <a:r>
              <a:rPr sz="1100" b="1" i="0">
                <a:solidFill>
                  <a:srgbClr val="0E2841"/>
                </a:solidFill>
              </a:rPr>
              <a:t>BlockCypher Blockchain API (2025)</a:t>
            </a:r>
          </a:p>
        </p:txBody>
      </p:sp>
      <p:sp>
        <p:nvSpPr>
          <p:cNvPr id="23" name="TextBox 22"/>
          <p:cNvSpPr txBox="1"/>
          <p:nvPr/>
        </p:nvSpPr>
        <p:spPr>
          <a:xfrm>
            <a:off x="420624" y="4462272"/>
            <a:ext cx="8641080" cy="274320"/>
          </a:xfrm>
          <a:prstGeom prst="rect">
            <a:avLst/>
          </a:prstGeom>
          <a:noFill/>
        </p:spPr>
        <p:txBody>
          <a:bodyPr wrap="square">
            <a:spAutoFit/>
          </a:bodyPr>
          <a:lstStyle/>
          <a:p>
            <a:pPr algn="l"/>
            <a:r>
              <a:rPr sz="1000" b="0" i="0">
                <a:solidFill>
                  <a:srgbClr val="404040"/>
                </a:solidFill>
              </a:rPr>
              <a:t>Bitcoin address and transaction lookup for wallet 17gd1msp5FnMcEMF1MitTNSsYs7w7AQyCt. Available at: api.blockcypher.com</a:t>
            </a:r>
          </a:p>
        </p:txBody>
      </p:sp>
      <p:sp>
        <p:nvSpPr>
          <p:cNvPr id="24" name="Rectangle 23"/>
          <p:cNvSpPr/>
          <p:nvPr/>
        </p:nvSpPr>
        <p:spPr>
          <a:xfrm>
            <a:off x="274320" y="4791456"/>
            <a:ext cx="54864"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0624" y="4791456"/>
            <a:ext cx="8641080" cy="237744"/>
          </a:xfrm>
          <a:prstGeom prst="rect">
            <a:avLst/>
          </a:prstGeom>
          <a:noFill/>
        </p:spPr>
        <p:txBody>
          <a:bodyPr wrap="square">
            <a:spAutoFit/>
          </a:bodyPr>
          <a:lstStyle/>
          <a:p>
            <a:pPr algn="l"/>
            <a:r>
              <a:rPr sz="1100" b="1" i="0">
                <a:solidFill>
                  <a:srgbClr val="0E2841"/>
                </a:solidFill>
              </a:rPr>
              <a:t>Security Onion Solutions (2025)</a:t>
            </a:r>
          </a:p>
        </p:txBody>
      </p:sp>
      <p:sp>
        <p:nvSpPr>
          <p:cNvPr id="26" name="TextBox 25"/>
          <p:cNvSpPr txBox="1"/>
          <p:nvPr/>
        </p:nvSpPr>
        <p:spPr>
          <a:xfrm>
            <a:off x="420624" y="5029200"/>
            <a:ext cx="8641080" cy="274320"/>
          </a:xfrm>
          <a:prstGeom prst="rect">
            <a:avLst/>
          </a:prstGeom>
          <a:noFill/>
        </p:spPr>
        <p:txBody>
          <a:bodyPr wrap="square">
            <a:spAutoFit/>
          </a:bodyPr>
          <a:lstStyle/>
          <a:p>
            <a:pPr algn="l"/>
            <a:r>
              <a:rPr sz="1000" b="0" i="0">
                <a:solidFill>
                  <a:srgbClr val="404040"/>
                </a:solidFill>
              </a:rPr>
              <a:t>Security Onion 2.4 documentation — Alerts, Hunt, and PCAP analysis modules. Available at: securityonionsolutions.com</a:t>
            </a:r>
          </a:p>
        </p:txBody>
      </p:sp>
      <p:sp>
        <p:nvSpPr>
          <p:cNvPr id="27" name="Rectangle 26"/>
          <p:cNvSpPr/>
          <p:nvPr/>
        </p:nvSpPr>
        <p:spPr>
          <a:xfrm>
            <a:off x="274320" y="5358384"/>
            <a:ext cx="54864" cy="5029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0624" y="5358384"/>
            <a:ext cx="8641080" cy="237744"/>
          </a:xfrm>
          <a:prstGeom prst="rect">
            <a:avLst/>
          </a:prstGeom>
          <a:noFill/>
        </p:spPr>
        <p:txBody>
          <a:bodyPr wrap="square">
            <a:spAutoFit/>
          </a:bodyPr>
          <a:lstStyle/>
          <a:p>
            <a:pPr algn="l"/>
            <a:r>
              <a:rPr sz="1100" b="1" i="0">
                <a:solidFill>
                  <a:srgbClr val="0E2841"/>
                </a:solidFill>
              </a:rPr>
              <a:t>NetworkMiner — Netresec (2025)</a:t>
            </a:r>
          </a:p>
        </p:txBody>
      </p:sp>
      <p:sp>
        <p:nvSpPr>
          <p:cNvPr id="29" name="TextBox 28"/>
          <p:cNvSpPr txBox="1"/>
          <p:nvPr/>
        </p:nvSpPr>
        <p:spPr>
          <a:xfrm>
            <a:off x="420624" y="5596128"/>
            <a:ext cx="8641080" cy="274320"/>
          </a:xfrm>
          <a:prstGeom prst="rect">
            <a:avLst/>
          </a:prstGeom>
          <a:noFill/>
        </p:spPr>
        <p:txBody>
          <a:bodyPr wrap="square">
            <a:spAutoFit/>
          </a:bodyPr>
          <a:lstStyle/>
          <a:p>
            <a:pPr algn="l"/>
            <a:r>
              <a:rPr sz="1000" b="0" i="0">
                <a:solidFill>
                  <a:srgbClr val="404040"/>
                </a:solidFill>
              </a:rPr>
              <a:t>Network Forensic Analysis Tool — host enumeration, file extraction, and OS fingerprinting. Available at: netresec.com</a:t>
            </a:r>
          </a:p>
        </p:txBody>
      </p:sp>
      <p:sp>
        <p:nvSpPr>
          <p:cNvPr id="30" name="TextBox 29"/>
          <p:cNvSpPr txBox="1"/>
          <p:nvPr/>
        </p:nvSpPr>
        <p:spPr>
          <a:xfrm>
            <a:off x="182880" y="6510528"/>
            <a:ext cx="11826240" cy="320040"/>
          </a:xfrm>
          <a:prstGeom prst="rect">
            <a:avLst/>
          </a:prstGeom>
          <a:noFill/>
        </p:spPr>
        <p:txBody>
          <a:bodyPr wrap="square">
            <a:spAutoFit/>
          </a:bodyPr>
          <a:lstStyle/>
          <a:p>
            <a:pPr algn="ctr"/>
            <a:r>
              <a:rPr sz="900" b="0" i="0">
                <a:solidFill>
                  <a:srgbClr val="888888"/>
                </a:solidFill>
              </a:rPr>
              <a:t>Week 9 PCAP Analysis  |  Cerber Ransomware / RIG Exploit Kit  |  Network Forensics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3414</Words>
  <Application>Microsoft Macintosh PowerPoint</Application>
  <PresentationFormat>Widescreen</PresentationFormat>
  <Paragraphs>277</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Drive-By Attack to Ransomware Sequence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Bhuiyan, Jobayer A</dc:creator>
  <cp:lastModifiedBy>Bhuiyan, Jobayer A</cp:lastModifiedBy>
  <cp:revision>1</cp:revision>
  <dcterms:created xsi:type="dcterms:W3CDTF">2026-04-01T17:18:54Z</dcterms:created>
  <dcterms:modified xsi:type="dcterms:W3CDTF">2026-04-03T23:42:05Z</dcterms:modified>
</cp:coreProperties>
</file>