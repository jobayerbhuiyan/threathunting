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6B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8" d="100"/>
          <a:sy n="148" d="100"/>
        </p:scale>
        <p:origin x="5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293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109728" cy="23774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685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PCAP ANALYSIS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Attack Chain Investigation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CARLFORCE.COM  ·  Subnet 172.16.1.0/24  ·  2017-12-23</a:t>
            </a:r>
          </a:p>
          <a:p>
            <a:r>
              <a:rPr lang="en-US" sz="1200" b="1" dirty="0">
                <a:solidFill>
                  <a:srgbClr val="AAC4E0"/>
                </a:solidFill>
                <a:latin typeface="Consolas" panose="020B0609020204030204" pitchFamily="49" charset="0"/>
                <a:ea typeface="Arial" pitchFamily="34" charset="-122"/>
                <a:cs typeface="Arial"/>
              </a:rPr>
              <a:t>Team Members: 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  <a:ea typeface="Arial" pitchFamily="34" charset="-122"/>
                <a:cs typeface="Arial"/>
              </a:rPr>
              <a:t>Jay-Byrd Mystic, </a:t>
            </a:r>
            <a:r>
              <a:rPr lang="it-IT" sz="1200" b="1" dirty="0">
                <a:solidFill>
                  <a:srgbClr val="00B0F0"/>
                </a:solidFill>
                <a:latin typeface="Consolas" panose="020B0609020204030204" pitchFamily="49" charset="0"/>
                <a:ea typeface="Arial" pitchFamily="34" charset="-122"/>
                <a:cs typeface="Arial"/>
              </a:rPr>
              <a:t>Joseph D Scalissi</a:t>
            </a:r>
            <a:r>
              <a:rPr lang="it-IT" sz="1200" b="1" dirty="0">
                <a:solidFill>
                  <a:srgbClr val="7030A0"/>
                </a:solidFill>
                <a:latin typeface="Consolas" panose="020B0609020204030204" pitchFamily="49" charset="0"/>
                <a:ea typeface="Arial" pitchFamily="34" charset="-122"/>
                <a:cs typeface="Arial"/>
              </a:rPr>
              <a:t>, </a:t>
            </a:r>
            <a:r>
              <a:rPr lang="it-IT" sz="1200" b="1" dirty="0">
                <a:solidFill>
                  <a:srgbClr val="00B050"/>
                </a:solidFill>
                <a:latin typeface="Consolas" panose="020B0609020204030204" pitchFamily="49" charset="0"/>
                <a:ea typeface="Arial" pitchFamily="34" charset="-122"/>
                <a:cs typeface="Arial"/>
              </a:rPr>
              <a:t>Brian Olson</a:t>
            </a:r>
            <a:r>
              <a:rPr lang="it-IT" sz="1200" b="1" dirty="0">
                <a:solidFill>
                  <a:srgbClr val="7030A0"/>
                </a:solidFill>
                <a:latin typeface="Consolas" panose="020B0609020204030204" pitchFamily="49" charset="0"/>
                <a:ea typeface="Arial" pitchFamily="34" charset="-122"/>
                <a:cs typeface="Arial"/>
              </a:rPr>
              <a:t>, </a:t>
            </a:r>
            <a:r>
              <a:rPr lang="it-IT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Arial" pitchFamily="34" charset="-122"/>
                <a:cs typeface="Arial"/>
              </a:rPr>
              <a:t>Daniel A Garcia-Rivera</a:t>
            </a:r>
          </a:p>
          <a:p>
            <a:r>
              <a:rPr lang="en-US" sz="1200" b="1" dirty="0">
                <a:solidFill>
                  <a:srgbClr val="AAC4E0"/>
                </a:solidFill>
                <a:latin typeface="Consolas" panose="020B0609020204030204" pitchFamily="49" charset="0"/>
                <a:ea typeface="Arial" pitchFamily="34" charset="-122"/>
                <a:cs typeface="Arial"/>
              </a:rPr>
              <a:t>Date: 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  <a:ea typeface="Arial" pitchFamily="34" charset="-122"/>
                <a:cs typeface="Arial"/>
              </a:rPr>
              <a:t>04/01/2026</a:t>
            </a:r>
            <a:r>
              <a:rPr lang="en-US" sz="1200" dirty="0">
                <a:solidFill>
                  <a:srgbClr val="8899AA"/>
                </a:solidFill>
                <a:latin typeface="Consolas" panose="020B0609020204030204" pitchFamily="49" charset="0"/>
                <a:ea typeface="Arial" pitchFamily="34" charset="-122"/>
                <a:cs typeface="Arial"/>
              </a:rPr>
              <a:t>   |   </a:t>
            </a:r>
            <a:r>
              <a:rPr lang="en-US" sz="1200" b="1" dirty="0">
                <a:solidFill>
                  <a:srgbClr val="AAC4E0"/>
                </a:solidFill>
                <a:latin typeface="Consolas" panose="020B0609020204030204" pitchFamily="49" charset="0"/>
                <a:ea typeface="Arial" pitchFamily="34" charset="-122"/>
                <a:cs typeface="Arial"/>
              </a:rPr>
              <a:t>Course: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  <a:ea typeface="Arial" pitchFamily="34" charset="-122"/>
                <a:cs typeface="Arial"/>
              </a:rPr>
              <a:t>Network Forensics</a:t>
            </a:r>
            <a:endParaRPr lang="en-US" sz="1200" dirty="0">
              <a:solidFill>
                <a:srgbClr val="7030A0"/>
              </a:solidFill>
              <a:latin typeface="Consolas" panose="020B0609020204030204" pitchFamily="49" charset="0"/>
              <a:cs typeface="Arial"/>
            </a:endParaRPr>
          </a:p>
          <a:p>
            <a:pPr marL="0" indent="0">
              <a:buNone/>
            </a:pPr>
            <a:endParaRPr lang="en-US" sz="1200" dirty="0">
              <a:solidFill>
                <a:srgbClr val="8B949E"/>
              </a:solidFill>
              <a:latin typeface="Consolas" pitchFamily="34" charset="0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1920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0906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PCAP FILE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334670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Week10.pcap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14600" y="3063240"/>
            <a:ext cx="1920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30906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06040" y="334670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2017-12-23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3063240"/>
            <a:ext cx="1920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30906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334670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min 49 sec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29400" y="3063240"/>
            <a:ext cx="1920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20840" y="30906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PACKETS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20840" y="334670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8,159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005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Zero  ·  Drive-by Download  ·  RIG Exploit Kit  ·  DynDNS C2  ·  Ransomware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CARLFORCE.COM  |  Week 10 Network Forensics  |  </a:t>
            </a:r>
            <a:r>
              <a:rPr lang="en-US" sz="900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Slide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of the Investigation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4864" cy="320040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presents a forensic analysis of a ransomware attack against </a:t>
            </a: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CARLFORCE.COM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captured on December 23, 2017. Network traffic analysis of Week10.pcap (8,159 packets over approximately 38 minutes) reveals a multi-stage infection chain originating from internal host </a:t>
            </a:r>
            <a:r>
              <a:rPr lang="en-US" sz="1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172.16.1.67 (JERSEY-SHORE-1A)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identified as Patient Zero.
The infection began with a </a:t>
            </a: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drive-by download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 malicious Word document (Invoice[1].doc) from fundtel.es, followed by exploit kit payload delivery (2042[1].exe) from enjoyveganrecipes.com via the </a:t>
            </a: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Exploit Kit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Command-and-control infrastructure leveraged </a:t>
            </a:r>
            <a:r>
              <a:rPr lang="en-US" sz="1200" b="1" dirty="0">
                <a:solidFill>
                  <a:srgbClr val="F0E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DNS providers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including DynDNS and No-IP (gabby4u.linkpc.net), triggering ET_DYN_DNS Suricata alerts.
Ransomware indicators including Tor-based payment pages (</a:t>
            </a:r>
            <a:r>
              <a:rPr lang="en-US" sz="1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topyzscsu5poprxy.onion.link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Bitcoin redirect services (coinurl.com) were observed. A total of </a:t>
            </a: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internal hosts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showed indicators of compromise across the 38-minute capture window.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CARLFORCE.COM  |  Week 10 Network Forensics  |  </a:t>
            </a:r>
            <a:r>
              <a:rPr lang="en-US" sz="900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Scope &amp; Tools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CARLFORCE.COM is a fictional organization operating on subnet </a:t>
            </a: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172.16.1.0/24</a:t>
            </a: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domain controller </a:t>
            </a: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172.16.1.4 (CARLFORCE-DC1)</a:t>
            </a: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December 23, 2017, a ransomware attack was launched via a drive-by download targeting internal workstations. The attack resulted in multiple hosts becoming compromised, with ransomware indicators observed across the network within 38 minutes of initial infection.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0789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00600" y="1371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Week10.pcap  ·  8,159 packets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Capture: 2017-12-23  01:05–01:43 UTC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Subnet: 172.16.1.0/24  ·  4 hosts affected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514600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25877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USED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288036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— packet filtering &amp; HTTP analysis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NetworkMiner — host &amp; file extraction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Onion — IDS alert investigation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— IOC reputation lookup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tshark — command-line PCAP parsing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CARLFORCE.COM  |  Week 10 Network Forensics  |  </a:t>
            </a:r>
            <a:r>
              <a:rPr lang="en-US" sz="900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Investigation Workflow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02920" cy="107899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325880"/>
            <a:ext cx="466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0789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Identification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35331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Week10.pcap into NetworkMiner. Examined the Hosts tab to identify all internal machines, their hostnames, OS, and traffic volume. Filtered on 172.16.1.0/24 to isolate CARLFORCE hosts.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502920" cy="107899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3168" y="1325880"/>
            <a:ext cx="466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10789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Triage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9240" y="135331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tshark to extract DNS queries, HTTP requests, and IP conversations. Sorted by volume to identify high-traffic suspicious external IPs and anomalous outbound connections.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411480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502920" cy="107899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2560320"/>
            <a:ext cx="466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31343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Deep Dive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58775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Wireshark filters (http.host, http.request.method) to isolate drive-by download traffic (fundtel.es), exploit kit delivery (enjoyveganrecipes.com), and C2 beaconing (POST to :8080/:7080).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411480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240280"/>
            <a:ext cx="502920" cy="107899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73168" y="2560320"/>
            <a:ext cx="466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231343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Alert 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258775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PCAP into Security Onion. Reviewed Suricata alerts for ET_DYN_DNS, ET EXPLOIT_KIT RIG EK, and onion.link indicators. Correlated alerts to specific source IPs and timestamps.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411480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474720"/>
            <a:ext cx="502920" cy="107899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" y="3794760"/>
            <a:ext cx="466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354787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Corroboration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382219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key domains and IPs to VirusTotal (fundtel.es, 62.210.253.72). Confirmed malicious reputation to support findings and provide external validation.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474720"/>
            <a:ext cx="411480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474720"/>
            <a:ext cx="502920" cy="107899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73168" y="3794760"/>
            <a:ext cx="466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354787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 Assembly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382219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all findings chronologically to reconstruct the full kill chain: Initial Access → Exploit Kit → C2 Beacon → Ransomware → Lateral Movement.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CARLFORCE.COM  |  Week 10 Network Forensics  |  </a:t>
            </a:r>
            <a:r>
              <a:rPr lang="en-US" sz="900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DIAGRAM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CARLFORCE.COM  —  172.16.1.0/24  —  2017-12-23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389120" cy="3566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8755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— 172.16.1.0/24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0" y="960120"/>
            <a:ext cx="3886200" cy="3566160"/>
          </a:xfrm>
          <a:prstGeom prst="rect">
            <a:avLst/>
          </a:prstGeom>
          <a:solidFill>
            <a:srgbClr val="1A0A0A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83480" y="9875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 — MALICIOUS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325880"/>
            <a:ext cx="4114800" cy="54864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325880"/>
            <a:ext cx="54864" cy="54864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3624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172.16.1.4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5636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CARLFORCE-DC1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156362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Controller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011680"/>
            <a:ext cx="4114800" cy="548640"/>
          </a:xfrm>
          <a:prstGeom prst="rect">
            <a:avLst/>
          </a:prstGeom>
          <a:solidFill>
            <a:srgbClr val="161B22"/>
          </a:solidFill>
          <a:ln w="1905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011680"/>
            <a:ext cx="54864" cy="5486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0482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172.16.1.67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249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JERSEY-SHORE-1A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24942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PATIENT ZERO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697480"/>
            <a:ext cx="4114800" cy="548640"/>
          </a:xfrm>
          <a:prstGeom prst="rect">
            <a:avLst/>
          </a:prstGeom>
          <a:solidFill>
            <a:srgbClr val="161B22"/>
          </a:solidFill>
          <a:ln w="1905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697480"/>
            <a:ext cx="54864" cy="5486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7340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172.16.1.89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29352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JERSEY-SHORE-2C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293522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Secondary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383280"/>
            <a:ext cx="4114800" cy="548640"/>
          </a:xfrm>
          <a:prstGeom prst="rect">
            <a:avLst/>
          </a:prstGeom>
          <a:solidFill>
            <a:srgbClr val="161B22"/>
          </a:solidFill>
          <a:ln w="1905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3383280"/>
            <a:ext cx="54864" cy="5486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4198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172.16.1.141 / .201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6210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JERSEY-1F / NEWARK-1A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362102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Lateral Movement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1325880"/>
            <a:ext cx="3657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20640" y="13533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www.fundtel.es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0640" y="157276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185.2.4.53  ·  ① Drive-by / Word Doc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0" y="1920240"/>
            <a:ext cx="3657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20640" y="19476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enjoyveganrecipes.com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20640" y="216712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78.46.96.236  ·  ② RIG Exploit Kit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0" y="2514600"/>
            <a:ext cx="3657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20640" y="2542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62.210.253.72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20640" y="276148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  ·  ③ C2 Beacon (POST)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029200" y="3108960"/>
            <a:ext cx="3657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F0E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20640" y="31363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E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gabby4u.linkpc.net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20640" y="335584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174.127.99.158  ·  ④ ET_DYN_DNS C2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29200" y="3703320"/>
            <a:ext cx="36576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20640" y="37307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topyzscsu5poprxy.onion.link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20640" y="39502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coinurl.com  ·  ⑤ Ransom Payment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CARLFORCE.COM  |  Week 10 Network Forensics  |  </a:t>
            </a:r>
            <a:r>
              <a:rPr lang="en-US" sz="900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Diagram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TIMELINE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2017-12-23  |  01:05 – 01:43 UTC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68680" cy="54864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33272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01:06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2940" y="1508760"/>
            <a:ext cx="27432" cy="11887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34440" y="960120"/>
            <a:ext cx="758952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34440" y="960120"/>
            <a:ext cx="54864" cy="54864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9966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99669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172.16.1.201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12161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NCSI &amp; Office connectivity checks — hosts come online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627632"/>
            <a:ext cx="868680" cy="5486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700784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01:08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" y="2176272"/>
            <a:ext cx="27432" cy="11887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34440" y="1627632"/>
            <a:ext cx="758952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34440" y="1627632"/>
            <a:ext cx="54864" cy="5486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1600" y="16642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 ACCESS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16642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172.16.1.67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18836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/Purchases-2017/ from fundtel.es → Invoice[1].doc dropped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/j7iHZm/ from enjoyveganrecipes.com → 2042[1].exe delivered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295144"/>
            <a:ext cx="868680" cy="5486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368296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01:12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2940" y="2843784"/>
            <a:ext cx="27432" cy="11887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234440" y="2295144"/>
            <a:ext cx="758952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234440" y="2295144"/>
            <a:ext cx="54864" cy="5486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71600" y="2331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 BEACON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23317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172.16.1.89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71600" y="255117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to checkip.dyndns.org — malware probes external IP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 to 62.210.253.72:8080 — Dridex-style C2 beaconing begins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962656"/>
            <a:ext cx="868680" cy="5486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3035808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01:16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2940" y="3511296"/>
            <a:ext cx="27432" cy="11887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234440" y="2962656"/>
            <a:ext cx="758952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234440" y="2962656"/>
            <a:ext cx="54864" cy="5486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371600" y="29992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91840" y="29992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172.16.1.201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71600" y="32186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to bodyclassics.org (encoded params, 155KB payload)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to psoeiras.net /js/count.php — payload tracking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630168"/>
            <a:ext cx="868680" cy="5486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3703320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01:17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62940" y="4178808"/>
            <a:ext cx="27432" cy="11887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234440" y="3630168"/>
            <a:ext cx="758952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234440" y="3630168"/>
            <a:ext cx="54864" cy="54864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371600" y="36667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RANSOMWARE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91840" y="36667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172.16.1.201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371600" y="38862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to topyzscsu5poprxy.onion.link — Tor ransom payment page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DNS/HTTP to coinurl.com — Bitcoin payment redirect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4297680"/>
            <a:ext cx="868680" cy="548640"/>
          </a:xfrm>
          <a:prstGeom prst="rect">
            <a:avLst/>
          </a:prstGeom>
          <a:solidFill>
            <a:srgbClr val="F0E040"/>
          </a:solidFill>
          <a:ln w="12700">
            <a:solidFill>
              <a:srgbClr val="F0E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4370832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01:42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234440" y="4297680"/>
            <a:ext cx="758952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234440" y="4297680"/>
            <a:ext cx="54864" cy="548640"/>
          </a:xfrm>
          <a:prstGeom prst="rect">
            <a:avLst/>
          </a:prstGeom>
          <a:solidFill>
            <a:srgbClr val="F0E040"/>
          </a:solidFill>
          <a:ln w="12700">
            <a:solidFill>
              <a:srgbClr val="F0E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371600" y="43342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E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LATERAL MOVE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91840" y="43342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172.16.1.141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371600" y="45537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to gabby4u.linkpc.net — new host infected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ET_DYN_DNS Suricata alert triggered on No-IP domain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CARLFORCE.COM  |  Week 10 Network Forensics  |  </a:t>
            </a:r>
            <a:r>
              <a:rPr lang="en-US" sz="900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Timeline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ET_DYN_DNS — WHAT IS IT?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Threats Suricata Signature Category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ET_DYN_DNS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alerts fire when a host makes DNS queries to free dynamic DNS providers (DynDNS, No-IP, LinkPC, etc.). Attackers use these because the domain is free/anonymous, the IP behind it can change at any time, and they help hide C2 servers from static blocklists. Suricata rule category: </a:t>
            </a: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POLICY DNS Query to a *.dyndns.org Domain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classic trigger.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1965960" cy="2240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1965960" cy="38404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20756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07568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Agility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523744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changes C2 server IP at will — domain stays the same, blocklists lag behind.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87168" y="2057400"/>
            <a:ext cx="1965960" cy="2240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87168" y="2057400"/>
            <a:ext cx="1965960" cy="38404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20" y="20756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90088" y="207568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Anonymous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96896" y="2523744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No-cost registration with minimal identity verification — low barrier for threat actors.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08576" y="2057400"/>
            <a:ext cx="1965960" cy="2240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81728" y="20756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11496" y="207568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18304" y="2523744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tools (webcams, remote access) also use DynDNS — adds noise to detection.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9984" y="2057400"/>
            <a:ext cx="1965960" cy="2240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29984" y="2057400"/>
            <a:ext cx="1965960" cy="384048"/>
          </a:xfrm>
          <a:prstGeom prst="rect">
            <a:avLst/>
          </a:prstGeom>
          <a:solidFill>
            <a:srgbClr val="F0E040"/>
          </a:solidFill>
          <a:ln w="12700">
            <a:solidFill>
              <a:srgbClr val="F0E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03136" y="20756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32904" y="207568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39712" y="2523744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one IP is blocked, attacker simply updates the DNS record — resilient infrastructure.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CARLFORCE.COM  |  Week 10 Network Forensics  |  </a:t>
            </a:r>
            <a:r>
              <a:rPr lang="en-US" sz="900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ET_DYN_DNS Explainer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ET_DYN_DNS — FINDINGS IN WEEK10.PCAP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DNS &amp; Suspicious Domain Queries Detected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34747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10058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 HOST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0" y="100584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 QUERIED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10058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0" y="1005840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371600"/>
            <a:ext cx="841248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4264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01:08:21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17320" y="1426464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172.16.1.67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0" y="142646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www.fundtel.es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142646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Drive-by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89520" y="1426464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847088"/>
            <a:ext cx="841248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190195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01:12:34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190195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172.16.1.89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0" y="190195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checkip.dyndns.org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0" y="190195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DynDNS Recon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89520" y="190195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322576"/>
            <a:ext cx="841248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237744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01:12:05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17320" y="237744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172.16.1.89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0" y="237744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temizlikhizmetleri.net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2377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Beacon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89520" y="2377440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798064"/>
            <a:ext cx="841248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285292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01:17:24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17320" y="285292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172.16.1.201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926080" y="285292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topyzscsu5poprxy.onion.link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0" y="285292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Proxy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89520" y="2852928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273552"/>
            <a:ext cx="841248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332841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01:17:54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17320" y="332841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172.16.1.201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926080" y="332841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onion.link / coinurl.com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0" y="332841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C2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89520" y="3328416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749040"/>
            <a:ext cx="841248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11480" y="380390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01:42:24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417320" y="3803904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172.16.1.141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926080" y="380390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gabby4u.linkpc.net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3600" y="380390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No-IP DynDNS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89520" y="3803904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E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4261104"/>
            <a:ext cx="841248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65760" y="4261104"/>
            <a:ext cx="54864" cy="411480"/>
          </a:xfrm>
          <a:prstGeom prst="rect">
            <a:avLst/>
          </a:prstGeom>
          <a:solidFill>
            <a:srgbClr val="F0E040"/>
          </a:solidFill>
          <a:ln w="12700">
            <a:solidFill>
              <a:srgbClr val="F0E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12064" y="4288536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gabby4u.linkpc.net is the classic ET_DYN_DNS trigger — No-IP domain used as C2 hop confirming lateral movement to 172.16.1.141 (Jersey-Shore-1f)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CARLFORCE.COM  |  Week 10 Network Forensics  |  </a:t>
            </a:r>
            <a:r>
              <a:rPr lang="en-US" sz="900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ET_DYN_DNS Findings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Chain Mapping — Drive-by → Exploit Kit → Ransomware → Lateral Movement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508760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1024128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00784"/>
            <a:ext cx="150876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132588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172.16.1.67 visits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fundtel.es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/Purchases-2017/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Invoice[1].doc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01368" y="1261872"/>
            <a:ext cx="182880" cy="14630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0" y="1005840"/>
            <a:ext cx="1508760" cy="65836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0" y="1024128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395728" y="1024128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1700784"/>
            <a:ext cx="150876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03120" y="1783080"/>
            <a:ext cx="132588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enjoyveganrecipes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/j7iHZm/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2042[1].exe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38728" y="1261872"/>
            <a:ext cx="182880" cy="14630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49040" y="1005840"/>
            <a:ext cx="1508760" cy="65836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49040" y="1024128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133088" y="1024128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1700784"/>
            <a:ext cx="150876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0" y="1783080"/>
            <a:ext cx="132588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checkip.dyndns.org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:8080/:7080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bodyclassics.org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temizlikhizmetleri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76088" y="1261872"/>
            <a:ext cx="182880" cy="14630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0" y="1005840"/>
            <a:ext cx="1508760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0" y="1024128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70448" y="1024128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0" y="1700784"/>
            <a:ext cx="150876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77840" y="1783080"/>
            <a:ext cx="132588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onion.link Tor page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coinurl.com Bitcoin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demanded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hosts affected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13448" y="1261872"/>
            <a:ext cx="182880" cy="14630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23760" y="1005840"/>
            <a:ext cx="1508760" cy="658368"/>
          </a:xfrm>
          <a:prstGeom prst="rect">
            <a:avLst/>
          </a:prstGeom>
          <a:solidFill>
            <a:srgbClr val="F0E040"/>
          </a:solidFill>
          <a:ln w="12700">
            <a:solidFill>
              <a:srgbClr val="F0E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23760" y="1024128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607808" y="1024128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23760" y="1700784"/>
            <a:ext cx="150876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15200" y="1783080"/>
            <a:ext cx="132588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172.16.1.141 infected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gabby4u.linkpc.net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ET_DYN_DNS alert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by Suricata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913632"/>
            <a:ext cx="85953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3950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IOCs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4169664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185.2.4.53 (fundtel.es)  ·  78.46.96.236 (enjoyveganrecipes.com)  ·  62.210.253.72:8080 (C2)  ·  topyzscsu5poprxy.onion.link  ·  coinurl.com  ·  gabby4u.linkpc.net  ·  checkip.dyndns.org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CARLFORCE.COM  |  Week 10 Network Forensics  |  </a:t>
            </a:r>
            <a:r>
              <a:rPr lang="en-US" sz="900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Chain Summary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HOST IDENTIFICATION &amp; INITIAL ACCESS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1 &amp; 5: NetworkMiner Hosts Tab + Wireshark fundtel.es GET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1 — Patient Zero: NetworkMiner Hosts Tab</a:t>
            </a:r>
            <a:endParaRPr lang="en-US" sz="900" dirty="0"/>
          </a:p>
        </p:txBody>
      </p:sp>
      <p:pic>
        <p:nvPicPr>
          <p:cNvPr id="7" name="Image 0" descr="/home/claude/fig1_hos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280160"/>
            <a:ext cx="489204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0" y="960120"/>
            <a:ext cx="338328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577840" y="1005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5 — Wireshark: GET /Purchases-2017/ (fundtel.es)</a:t>
            </a:r>
            <a:endParaRPr lang="en-US" sz="900" dirty="0"/>
          </a:p>
        </p:txBody>
      </p:sp>
      <p:pic>
        <p:nvPicPr>
          <p:cNvPr id="10" name="Image 1" descr="/home/claude/fig5_fundtel_w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32120" y="1280160"/>
            <a:ext cx="3291840" cy="2743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172.16.1.67 (JERSEY-SHORE-1A) is Patient Zero. Dual user-agents (IE11 + spoofed IE7 Dridex UA) and JA3=Tofsee confirm compromise. Host GETs Invoice[1].doc from fundtel.es — social engineering lure.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CARLFORCE.COM  |  Week 10 Network Forensics  |  </a:t>
            </a:r>
            <a:r>
              <a:rPr lang="en-US" sz="900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— Patient Zero &amp; Initial Access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EXPLOIT KIT DELIVERY &amp; FILE EXTRACTION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4 &amp; 6: Wireshark enjoyveganrecipes + NetworkMiner Files Tab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4 — Wireshark: GET /j7iHZm/ (enjoyveganrecipes.com)</a:t>
            </a:r>
            <a:endParaRPr lang="en-US" sz="900" dirty="0"/>
          </a:p>
        </p:txBody>
      </p:sp>
      <p:pic>
        <p:nvPicPr>
          <p:cNvPr id="7" name="Image 0" descr="/home/claude/fig4_e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280160"/>
            <a:ext cx="489204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0" y="960120"/>
            <a:ext cx="338328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577840" y="1005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6 — NetworkMiner Files Tab: Extracted Malicious Files</a:t>
            </a:r>
            <a:endParaRPr lang="en-US" sz="900" dirty="0"/>
          </a:p>
        </p:txBody>
      </p:sp>
      <p:pic>
        <p:nvPicPr>
          <p:cNvPr id="10" name="Image 1" descr="/home/claude/fig6_nm_file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32120" y="1280160"/>
            <a:ext cx="3291840" cy="2743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Exploit Kit delivers 2042[1].exe (101KB) to 172.16.1.67 from enjoyveganrecipes.com. NetworkMiner extracts both malicious files: Invoice[1].doc (204KB dropper) and 2042[1].exe (binary payload).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CARLFORCE.COM  |  Week 10 Network Forensics  |  </a:t>
            </a:r>
            <a:r>
              <a:rPr lang="en-US" sz="900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— Exploit Kit &amp; Files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C2 BEACONING &amp; IDS ALERTS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2 &amp; Security Onion: POST Requests + ET_DYN_DNS Alert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2 — Wireshark: C2 POST to 62.210.253.72:8080</a:t>
            </a:r>
            <a:endParaRPr lang="en-US" sz="900" dirty="0"/>
          </a:p>
        </p:txBody>
      </p:sp>
      <p:pic>
        <p:nvPicPr>
          <p:cNvPr id="7" name="Image 0" descr="/home/claude/fig2_c2po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280160"/>
            <a:ext cx="489204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0" y="960120"/>
            <a:ext cx="338328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577840" y="1005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Onion: ET_DYN_DNS gabby4u.linkpc.net Alert</a:t>
            </a:r>
            <a:endParaRPr lang="en-US" sz="900" dirty="0"/>
          </a:p>
        </p:txBody>
      </p:sp>
      <p:pic>
        <p:nvPicPr>
          <p:cNvPr id="10" name="Image 1" descr="/home/claude/fig_so_dyndn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32120" y="1280160"/>
            <a:ext cx="3291840" cy="2743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172.16.1.67 sends 4 repeated POST requests to 62.210.253.72:8080 using spoofed IE7 UA — classic Dridex C2 beaconing pattern. Suricata fires ET_DYN_DNS on gabby4u.linkpc.net confirming lateral C2 hop.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CARLFORCE.COM  |  Week 10 Network Forensics  |  </a:t>
            </a:r>
            <a:r>
              <a:rPr lang="en-US" sz="900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— C2 &amp; IDS Alerts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Lessons from This Investigation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475488" cy="67665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105156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Drive-by download was the entry 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298448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on .67 browsed fundtel.es → RIG EK on enjoyveganrecipes.com delivered Invoice[1].doc + 2042[1].exe. Web filtering and macro policy enforcement would have blocked this chain entirely.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841248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755648"/>
            <a:ext cx="475488" cy="676656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883664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1819656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DynDNS = red flag in enterprise traffic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066544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legitimate internal application should query checkip.dyndns.org or gabby4u.linkpc.net. Block DynDNS/No-IP categories at the DNS resolver.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841248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523744"/>
            <a:ext cx="475488" cy="67665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651760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" y="2587752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.onion.link confirms ransomware deployment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2834640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topyzscsu5poprxy.onion.link is a Tor2Web proxy for a ransomware payment page. This DNS query is a definitive ransomware IOC — detect and alert immediately.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841248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475488" cy="676656"/>
          </a:xfrm>
          <a:prstGeom prst="rect">
            <a:avLst/>
          </a:prstGeom>
          <a:solidFill>
            <a:srgbClr val="F0E040"/>
          </a:solidFill>
          <a:ln w="12700">
            <a:solidFill>
              <a:srgbClr val="F0E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419856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688" y="335584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 via ET_DYN_DNS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3602736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gabby4u.linkpc.net queried by 172.16.1.141 (Jersey-Shore-1f) — a new host not previously involved. Infection spread confirms network segmentation was absent.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059936"/>
            <a:ext cx="841248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4059936"/>
            <a:ext cx="475488" cy="676656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187952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2688" y="412394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C2 infrastructure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2688" y="4370832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bodyclassics.org, psoeiras.net, 62.210.253.72:8080, and coinurl.com — resilient multi-server C2. Blocking one IP alone is insufficient; domain category blocking is required.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CARLFORCE.COM  |  Week 10 Network Forensics  |  </a:t>
            </a:r>
            <a:r>
              <a:rPr lang="en-US" sz="900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4864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CONCLUSIONS, RECOMMENDATIONS &amp; 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Network Forensics Investigation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86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Zero confirmed: 172.16.1.67 (JERSEY-SHORE-1A)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chain: fundtel.es → Invoice[1].doc → 2042[1].exe via RIG EK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established via Dridex-style POST to 62.210.253.72:8080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confirmed: onion.link + coinurl.com indicators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internal hosts showed IoCs within 38 minutes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ET_DYN_DNS lateral movement confirmed on .141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960120"/>
            <a:ext cx="416052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4160520" cy="34747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98755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DynDNS / No-IP categories at DNS resolver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web content filtering to block EK domains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Office macro execution via Group Policy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network to prevent lateral movement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.onion.link and coinurl.com DNS queries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endpoint detection for Dridex UA patterns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401568"/>
            <a:ext cx="850392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3401568"/>
            <a:ext cx="850392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4290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730752"/>
            <a:ext cx="8229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Threats — ET_DYN_DNS Ruleset: https://community.emergingthreats.net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Rule SID 2034458 — ET DYN_DNS Observed DNS Query to DynDNS Domain (linkpc.net)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Rule SID 2024048 — ET EXPLOIT_KIT RIG EK URI Struct Mar 13 2017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IOC Reports — fundtel.es (Fortinet: Malware) | 62.210.253.72 (MalwareURL: Malware)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ATT&amp;CK: T1566.002 (Spearphishing Link), T1204.002 (Malicious File), T1071.001 (Web Protocols C2)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CARLFORCE.COM  |  Week 10 Network Forensics  |  </a:t>
            </a:r>
            <a:r>
              <a:rPr lang="en-US" sz="900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Conclusions · Recommendations · References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56032"/>
            <a:ext cx="54864" cy="5486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0F6FC"/>
                </a:solidFill>
                <a:latin typeface="Calibri"/>
              </a:rPr>
              <a:t>ANALYSIS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8000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Calibri"/>
              </a:rPr>
              <a:t>False Positive Assessment &amp; VirusTotal Corroboration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0000"/>
            <a:ext cx="4160520" cy="7000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00000"/>
            <a:ext cx="54864" cy="700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0760" y="1040000"/>
            <a:ext cx="40705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4444"/>
                </a:solidFill>
                <a:latin typeface="Consolas"/>
              </a:rPr>
              <a:t>CORROBORATING SIGNATURES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760" y="1265000"/>
            <a:ext cx="40705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F0F6FC"/>
                </a:solidFill>
                <a:latin typeface="Calibri"/>
              </a:rPr>
              <a:t>RIG EK URI Struct fired 15x, ET_DYN_DNS on 2 separate hosts, onion.link on .201 -- independent corroboration across different rule sets eliminates coincidental triggering.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320" y="1000000"/>
            <a:ext cx="4160520" cy="7000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320" y="1000000"/>
            <a:ext cx="54864" cy="700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28320" y="1040000"/>
            <a:ext cx="40705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8C00"/>
                </a:solidFill>
                <a:latin typeface="Consolas"/>
              </a:rPr>
              <a:t>HIGH CONFIDENCE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8320" y="1265000"/>
            <a:ext cx="40705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F0F6FC"/>
                </a:solidFill>
                <a:latin typeface="Calibri"/>
              </a:rPr>
              <a:t>All critical Suricata rules carry confidence: High and signature_severity: Major -- well-established, low false-positive signatures from the Emerging Threats ruleset.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37040"/>
            <a:ext cx="4160520" cy="7000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1837040"/>
            <a:ext cx="54864" cy="700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0760" y="1877040"/>
            <a:ext cx="40705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BFFF"/>
                </a:solidFill>
                <a:latin typeface="Consolas"/>
              </a:rPr>
              <a:t>FILE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760" y="2102040"/>
            <a:ext cx="40705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F0F6FC"/>
                </a:solidFill>
                <a:latin typeface="Calibri"/>
              </a:rPr>
              <a:t>NetworkMiner physically extracted Invoice[1].doc (204KB) and 2042[1].exe (101KB) from the PCAP -- binary-level confirmation of payload delivery, not just alert-based.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320" y="1837040"/>
            <a:ext cx="4160520" cy="7000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320" y="1837040"/>
            <a:ext cx="54864" cy="700000"/>
          </a:xfrm>
          <a:prstGeom prst="rect">
            <a:avLst/>
          </a:prstGeom>
          <a:solidFill>
            <a:srgbClr val="F0E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28320" y="1877040"/>
            <a:ext cx="40705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040"/>
                </a:solidFill>
                <a:latin typeface="Consolas"/>
              </a:rPr>
              <a:t>VIRUSTOTAL + DUAL USER-AGENT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8320" y="2102040"/>
            <a:ext cx="40705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F0F6FC"/>
                </a:solidFill>
                <a:latin typeface="Calibri"/>
              </a:rPr>
              <a:t>fundtel.es: Malware (Fortinet). 62.210.253.72: Malware (MalwareURL). Spoofed IE7 UA alongside real IE11 on the same host is a definitive Dridex infection indicator.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48864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B949E"/>
                </a:solidFill>
                <a:latin typeface="Consolas"/>
              </a:rPr>
              <a:t>CARLFORCE.COM  |  Week 10 Network Forensics  |  </a:t>
            </a:r>
            <a:r>
              <a:rPr sz="900">
                <a:solidFill>
                  <a:srgbClr val="00BFFF"/>
                </a:solidFill>
                <a:latin typeface="Consolas"/>
              </a:rPr>
              <a:t>Analysis &amp; Interpretation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56032"/>
            <a:ext cx="54864" cy="5486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0F6FC"/>
                </a:solidFill>
                <a:latin typeface="Calibri"/>
              </a:rPr>
              <a:t>INDICATORS OF COMPROMISE -- FULL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8000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Calibri"/>
              </a:rPr>
              <a:t>All IOCs identified across Week10.pcap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50000"/>
            <a:ext cx="8640000" cy="260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0000" y="958000"/>
            <a:ext cx="18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D1117"/>
                </a:solidFill>
                <a:latin typeface="Consolas"/>
              </a:rPr>
              <a:t>IOC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0000" y="958000"/>
            <a:ext cx="28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D1117"/>
                </a:solidFill>
                <a:latin typeface="Consolas"/>
              </a:rPr>
              <a:t>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0000" y="958000"/>
            <a:ext cx="14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D1117"/>
                </a:solidFill>
                <a:latin typeface="Consolas"/>
              </a:rPr>
              <a:t>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958000"/>
            <a:ext cx="2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D1117"/>
                </a:solidFill>
                <a:latin typeface="Consolas"/>
              </a:rPr>
              <a:t>Verdict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15000"/>
            <a:ext cx="8640000" cy="19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000" y="1245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Patient 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0000" y="1245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172.16.1.67 (JERSEY-SHORE-1A)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0000" y="1245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Internal 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1245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E040"/>
                </a:solidFill>
                <a:latin typeface="Calibri"/>
              </a:rPr>
              <a:t>Confirmed infected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411000"/>
            <a:ext cx="8640000" cy="196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0000" y="1441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Dropper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0000" y="1441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185.2.4.53 (fundtel.es)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0000" y="1441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External 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1441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4444"/>
                </a:solidFill>
                <a:latin typeface="Calibri"/>
              </a:rPr>
              <a:t>Malicious (Fortinet)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607000"/>
            <a:ext cx="8640000" cy="19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0000" y="1637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Dropper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00000" y="1637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Invoice[1].doc  204 KB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0000" y="1637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1637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4444"/>
                </a:solidFill>
                <a:latin typeface="Calibri"/>
              </a:rPr>
              <a:t>Malicious Word macro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803000"/>
            <a:ext cx="8640000" cy="196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0000" y="1833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EK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00000" y="1833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78.46.96.236 (enjoyveganrecipes)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0000" y="1833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External 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0000" y="1833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4444"/>
                </a:solidFill>
                <a:latin typeface="Calibri"/>
              </a:rPr>
              <a:t>RIG Exploit Kit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999000"/>
            <a:ext cx="8640000" cy="19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0000" y="2029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Payload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00000" y="2029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2042[1].exe  101 KB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0000" y="2029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0000" y="2029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4444"/>
                </a:solidFill>
                <a:latin typeface="Calibri"/>
              </a:rPr>
              <a:t>Ransomware binary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195000"/>
            <a:ext cx="8640000" cy="196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0000" y="2225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Primary C2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00000" y="2225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62.210.253.72:8080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00000" y="2225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IP:Port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0000" y="2225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4444"/>
                </a:solidFill>
                <a:latin typeface="Calibri"/>
              </a:rPr>
              <a:t>Malware (MalwareURL)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391000"/>
            <a:ext cx="8640000" cy="19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10000" y="2421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Secondary C2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00000" y="2421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220.227.247.35/39:7080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00000" y="2421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IP:Port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0000" y="2421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4444"/>
                </a:solidFill>
                <a:latin typeface="Calibri"/>
              </a:rPr>
              <a:t>Malicious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587000"/>
            <a:ext cx="8640000" cy="196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10000" y="2617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Tertiary C2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00000" y="2617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153.149.153.41:8080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00000" y="2617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IP:Port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0000" y="2617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4444"/>
                </a:solidFill>
                <a:latin typeface="Calibri"/>
              </a:rPr>
              <a:t>Malicious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2783000"/>
            <a:ext cx="8640000" cy="19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0000" y="2813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DynDNS Recon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00000" y="2813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checkip.dyndns.org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00000" y="2813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Domain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0000" y="2813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alibri"/>
              </a:rPr>
              <a:t>ET_DYN_DNS alert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2979000"/>
            <a:ext cx="8640000" cy="196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10000" y="3009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Lateral C2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00000" y="3009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gabby4u.linkpc.net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00000" y="3009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Domain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00000" y="3009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alibri"/>
              </a:rPr>
              <a:t>ET_DYN_DNS alert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3175000"/>
            <a:ext cx="8640000" cy="19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10000" y="3205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Ransom Page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00000" y="3205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topyzscsu5poprxy.onion.link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00000" y="3205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Domain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00000" y="3205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alibri"/>
              </a:rPr>
              <a:t>Tor2Web ransomware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371000"/>
            <a:ext cx="8640000" cy="196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10000" y="3401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Bitcoin Redirect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00000" y="3401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coinurl.com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00000" y="3401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Domain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00000" y="3401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alibri"/>
              </a:rPr>
              <a:t>Ransom payment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3567000"/>
            <a:ext cx="8640000" cy="19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10000" y="3597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C2 Callback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00000" y="3597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bodyclassics.org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00000" y="3597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Domain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00000" y="3597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alibri"/>
              </a:rPr>
              <a:t>Payload delivery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3763000"/>
            <a:ext cx="8640000" cy="196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10000" y="3793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Dridex UA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00000" y="3793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Spoofed MSIE 7.0 string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00000" y="3793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User-Agent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00000" y="3793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4444"/>
                </a:solidFill>
                <a:latin typeface="Calibri"/>
              </a:rPr>
              <a:t>Dridex signature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3959000"/>
            <a:ext cx="8640000" cy="19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10000" y="3989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JA3 Hash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00000" y="3989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4d7a28d6...011e3 = Tofsee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00000" y="3989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TLS Hash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00000" y="3989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4444"/>
                </a:solidFill>
                <a:latin typeface="Calibri"/>
              </a:rPr>
              <a:t>Malware fingerprint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4155000"/>
            <a:ext cx="8640000" cy="196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10000" y="4185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MITRE T1566.002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00000" y="4185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Spearphishing Link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00000" y="4185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ATT&amp;CK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00000" y="4185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E040"/>
                </a:solidFill>
                <a:latin typeface="Calibri"/>
              </a:rPr>
              <a:t>Confirmed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4351000"/>
            <a:ext cx="8640000" cy="19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10000" y="4381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MITRE T1204.002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00000" y="4381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User Execution: Malicious File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00000" y="4381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ATT&amp;CK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00000" y="4381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E040"/>
                </a:solidFill>
                <a:latin typeface="Calibri"/>
              </a:rPr>
              <a:t>Confirmed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4547000"/>
            <a:ext cx="8640000" cy="196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10000" y="4577000"/>
            <a:ext cx="1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BFFF"/>
                </a:solidFill>
                <a:latin typeface="Consolas"/>
              </a:rPr>
              <a:t>MITRE T1071.001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00000" y="4577000"/>
            <a:ext cx="28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F6FC"/>
                </a:solidFill>
                <a:latin typeface="Consolas"/>
              </a:rPr>
              <a:t>Web Protocol C2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00000" y="4577000"/>
            <a:ext cx="14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B949E"/>
                </a:solidFill>
                <a:latin typeface="Calibri"/>
              </a:rPr>
              <a:t>ATT&amp;CK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00000" y="4577000"/>
            <a:ext cx="2200000" cy="1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0E040"/>
                </a:solidFill>
                <a:latin typeface="Calibri"/>
              </a:rPr>
              <a:t>Confirmed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74320" y="48864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B949E"/>
                </a:solidFill>
                <a:latin typeface="Consolas"/>
              </a:rPr>
              <a:t>CARLFORCE.COM  |  Week 10 Network Forensics  |  </a:t>
            </a:r>
            <a:r>
              <a:rPr sz="900">
                <a:solidFill>
                  <a:srgbClr val="00BFFF"/>
                </a:solidFill>
                <a:latin typeface="Consolas"/>
              </a:rPr>
              <a:t>Indicators of Compromise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56032"/>
            <a:ext cx="54864" cy="5486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0F6FC"/>
                </a:solidFill>
                <a:latin typeface="Calibri"/>
              </a:rPr>
              <a:t>NON-TECHNICAL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8000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B949E"/>
                </a:solidFill>
                <a:latin typeface="Calibri"/>
              </a:rPr>
              <a:t>What Happened -- Plain Language Explanation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0000"/>
            <a:ext cx="4160520" cy="8700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00000"/>
            <a:ext cx="54864" cy="8700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0760" y="1040000"/>
            <a:ext cx="40705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BFFF"/>
                </a:solidFill>
                <a:latin typeface="Consolas"/>
              </a:rPr>
              <a:t>WHAT HAPPENED?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760" y="1265000"/>
            <a:ext cx="407052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F0F6FC"/>
                </a:solidFill>
                <a:latin typeface="Calibri"/>
              </a:rPr>
              <a:t>A staff member's computer at CARLFORCE.COM was infected with ransomware after a malicious Word document disguised as an invoice was downloaded from a compromised website. When the document was opened and macros were enabled, it silently installed ransomware.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320" y="1000000"/>
            <a:ext cx="4160520" cy="8700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320" y="1000000"/>
            <a:ext cx="54864" cy="870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28320" y="1040000"/>
            <a:ext cx="40705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8C00"/>
                </a:solidFill>
                <a:latin typeface="Consolas"/>
              </a:rPr>
              <a:t>WHAT DID THE RANSOMWARE 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8320" y="1265000"/>
            <a:ext cx="407052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F0F6FC"/>
                </a:solidFill>
                <a:latin typeface="Calibri"/>
              </a:rPr>
              <a:t>Once installed, the ransomware communicated with attacker-controlled servers and displayed payment pages demanding Bitcoin in exchange for a decryption key. Security monitoring detected the attack in real time through multiple automated alerts.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50000"/>
            <a:ext cx="4160520" cy="8700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1950000"/>
            <a:ext cx="54864" cy="870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0760" y="1990000"/>
            <a:ext cx="40705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4444"/>
                </a:solidFill>
                <a:latin typeface="Consolas"/>
              </a:rPr>
              <a:t>HOW FAR DID IT SPREAD?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760" y="2215000"/>
            <a:ext cx="407052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F0F6FC"/>
                </a:solidFill>
                <a:latin typeface="Calibri"/>
              </a:rPr>
              <a:t>The infection spread indicators to three additional computers on the same internal network within 38 minutes. A total of four internal hosts showed signs of compromise during the capture window. No external spread was observed.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320" y="1950000"/>
            <a:ext cx="4160520" cy="87000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320" y="1950000"/>
            <a:ext cx="54864" cy="870000"/>
          </a:xfrm>
          <a:prstGeom prst="rect">
            <a:avLst/>
          </a:prstGeom>
          <a:solidFill>
            <a:srgbClr val="F0E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28320" y="1990000"/>
            <a:ext cx="40705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040"/>
                </a:solidFill>
                <a:latin typeface="Consolas"/>
              </a:rPr>
              <a:t>WHAT SHOULD BE DONE?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8320" y="2215000"/>
            <a:ext cx="407052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F0F6FC"/>
                </a:solidFill>
                <a:latin typeface="Calibri"/>
              </a:rPr>
              <a:t>All four affected computers should be wiped and rebuilt immediately. Staff should not enable macros in Office documents from unknown sources. Web filtering and Dynamic DNS blocking should be deployed -- no legitimate CARLFORCE.COM application requires them.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48864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B949E"/>
                </a:solidFill>
                <a:latin typeface="Consolas"/>
              </a:rPr>
              <a:t>CARLFORCE.COM  |  Week 10 Network Forensics  |  </a:t>
            </a:r>
            <a:r>
              <a:rPr sz="900">
                <a:solidFill>
                  <a:srgbClr val="00BFFF"/>
                </a:solidFill>
                <a:latin typeface="Consolas"/>
              </a:rPr>
              <a:t>Non-Technical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2681</Words>
  <Application>Microsoft Office PowerPoint</Application>
  <PresentationFormat>On-screen Show (16:9)</PresentationFormat>
  <Paragraphs>385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 PCAP Analysis – CARLFORCE.COM Ransomware Investigation</dc:title>
  <dc:subject>PptxGenJS Presentation</dc:subject>
  <dc:creator>jmystic</dc:creator>
  <cp:lastModifiedBy>Jay-Byrd Mystic</cp:lastModifiedBy>
  <cp:revision>2</cp:revision>
  <dcterms:created xsi:type="dcterms:W3CDTF">2026-04-06T11:36:18Z</dcterms:created>
  <dcterms:modified xsi:type="dcterms:W3CDTF">2026-04-06T13:02:37Z</dcterms:modified>
</cp:coreProperties>
</file>